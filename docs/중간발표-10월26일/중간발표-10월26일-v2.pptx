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6" Type="http://schemas.openxmlformats.org/officeDocument/2006/relationships/tableStyles" Target="tableStyles.xml" /><Relationship Id="rId15" Type="http://schemas.openxmlformats.org/officeDocument/2006/relationships/presProps" Target="presProps.xml" /><Relationship Id="rId14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7" Type="http://schemas.openxmlformats.org/officeDocument/2006/relationships/viewProps" Target="viewProps.xml" /><Relationship Id="rId6" Type="http://schemas.openxmlformats.org/officeDocument/2006/relationships/slide" Target="slides/slide6.xml" /><Relationship Id="rId12" Type="http://schemas.openxmlformats.org/officeDocument/2006/relationships/slide" Target="slides/slide12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Text style={{ fontSize:16, color:'#64748B', letterSpacing:0.8 }}&gt;㈜도로 × 한양대 ERICA IC-PBL 2026-2학기 · 중간발표&lt;/Text&gt;&#10;  &lt;Text style={{ fontSize:80, fontWeight:'bold', color:'#0B2136', marginTop:40, lineHeight:1.05 }}&gt;루미 &lt;span style={{ color:'#185FA5' }}&gt;RooMi&lt;/span&gt;&lt;/Text&gt;&#10;  &lt;Text style={{ fontSize:26, color:'#33475B', marginTop:24 }}&gt;색칠한 로봇이 마이룸에 살면서,&lt;/Text&gt;&#10;  &lt;Text style={{ fontSize:26, color:'#33475B', marginTop:6 }}&gt;매일 돌아올 이유를 만든다&lt;/Text&gt;&#10;  &lt;Text style={{ fontSize:16, color:'#64748B', marginTop:20 }}&gt;2026. 10. 26 (월)&lt;/Text&gt;&#10;&#10;  &lt;Box style={{ width:'100%', height:'176px', marginTop:48, flexDirection:'row', gap:16 }}&gt;&#10;    &lt;Box style={{ flex:1, background:'#EDF4FC', borderRadius:16, padding:'24px' }}&gt;&#10;        &lt;Text style={{ fontSize:15, fontWeight:'bold', color:'#185FA5' }}&gt;01&lt;/Text&gt;&#10;        &lt;Text style={{ fontSize:30, fontWeight:'bold', color:'#0B2136', marginTop:8 }}&gt;기획&lt;/Text&gt;&#10;        &lt;Text style={{ fontSize:16, fontWeight:'bold', color:'#185FA5', marginTop:14 }}&gt;p.2 – 6&lt;/Text&gt;&#10;      &lt;/Box&gt;&lt;Box style={{ flex:1, background:'#E9F5F0', borderRadius:16, padding:'24px' }}&gt;&#10;        &lt;Text style={{ fontSize:15, fontWeight:'bold', color:'#0F6E56' }}&gt;02&lt;/Text&gt;&#10;        &lt;Text style={{ fontSize:30, fontWeight:'bold', color:'#0B2136', marginTop:8 }}&gt;DB 설계&lt;/Text&gt;&#10;        &lt;Text style={{ fontSize:16, fontWeight:'bold', color:'#0F6E56', marginTop:14 }}&gt;p.7 – 8&lt;/Text&gt;&#10;      &lt;/Box&gt;&lt;Box style={{ flex:1, background:'#FBF3E5', borderRadius:16, padding:'24px' }}&gt;&#10;        &lt;Text style={{ fontSize:15, fontWeight:'bold', color:'#A06A00' }}&gt;03&lt;/Text&gt;&#10;        &lt;Text style={{ fontSize:30, fontWeight:'bold', color:'#0B2136', marginTop:8 }}&gt;구현 화면&lt;/Text&gt;&#10;        &lt;Text style={{ fontSize:16, fontWeight:'bold', color:'#A06A00', marginTop:14 }}&gt;p.9 – 10&lt;/Text&gt;&#10;      &lt;/Box&gt;&#10;  &lt;/Box&gt;&#10;  &lt;Box style={{ width:'100%', height:'28px', marginTop:40, flexDirection:'row', justifyContent:'space-between' }}&gt;&#10;    &lt;Text style={{ fontSize:12, color:'#94A3B8' }}&gt;한양대학교 ERICA · 인공지능학과&lt;/Text&gt;&#10;    &lt;Text style={{ fontSize:12, color:'#94A3B8' }}&gt;1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1181100"/>
            <a:ext cx="10972800" cy="9620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00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600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37172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7336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sans-serif"/>
                <a:ea typeface="sans-serif"/>
              </a:rPr>
              <a:t>2026. 10. 26 (월)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3876675"/>
            <a:ext cx="3552825" cy="16764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4105275"/>
            <a:ext cx="3095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4352925"/>
            <a:ext cx="30956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38200" y="4829175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>p.2 – 6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314825" y="3876675"/>
            <a:ext cx="3562350" cy="1676400"/>
          </a:xfrm>
          <a:prstGeom prst="roundRect">
            <a:avLst>
              <a:gd name="adj" fmla="val 909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43425" y="4105275"/>
            <a:ext cx="310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543425" y="4352925"/>
            <a:ext cx="3105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543425" y="4829175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6E56"/>
                </a:solidFill>
                <a:latin typeface="sans-serif"/>
                <a:ea typeface="sans-serif"/>
              </a:rPr>
              <a:t>p.7 – 8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8029575" y="3876675"/>
            <a:ext cx="3552825" cy="1676400"/>
          </a:xfrm>
          <a:prstGeom prst="roundRect">
            <a:avLst>
              <a:gd name="adj" fmla="val 9091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258175" y="4105275"/>
            <a:ext cx="3095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258175" y="4352925"/>
            <a:ext cx="30956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B2136"/>
                </a:solidFill>
                <a:latin typeface="sans-serif"/>
                <a:ea typeface="sans-serif"/>
              </a:rPr>
              <a:t>구현 화면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258175" y="4829175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A06A00"/>
                </a:solidFill>
                <a:latin typeface="sans-serif"/>
                <a:ea typeface="sans-serif"/>
              </a:rPr>
              <a:t>p.9 – 10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287125" y="5934075"/>
            <a:ext cx="2952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0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1 · 기획&lt;/Text&gt;&#10;    &lt;Text style={{ fontSize:40, fontWeight:'bold', color:'#0B2136', marginTop:10, lineHeight:1.1 }}&gt;수업은 주 1회, 그런데 아이는 매일 오지 않는다&lt;/Text&gt;&#10;    &lt;Text style={{ fontSize:18, color:'#64748B', marginTop:8 }}&gt;기업이 제시한 문제&lt;/Text&gt;&#10;  &lt;/Box&gt;&#10;  &lt;Box style={{ width:'100%', height:'1px', background:'#E3EAF2' }} /&gt;&#10;  &lt;Box style={{ width:'100%', height:'456px', marginTop:'18px' }}&gt;&#10;&#10;    &lt;Box style={{ width:'100%', height:'168px', background:'#0E2438', borderRadius:18, padding:'28px 34px', justifyContent:'center' }}&gt;&#10;      &lt;Text style={{ fontSize:27, fontWeight:'bold', color:'#FFFFFF', lineHeight:1.45 }}&gt;&quot;수업이 없는 날에는 아이가&lt;/Text&gt;&#10;      &lt;Text style={{ fontSize:27, fontWeight:'bold', color:'#FFFFFF', lineHeight:1.45 }}&gt;DOROBUS에 들어올 이유가 없습니다.&quot;&lt;/Text&gt;&#10;      &lt;Text style={{ fontSize:15, color:'#9FB6CC', marginTop:10 }}&gt;— 2026. 09. 28 기업 피드백&lt;/Text&gt;&#10;    &lt;/Box&gt;&#10;    &lt;Box style={{ width:'100%', height:'252px', marginTop:20, flexDirection:'row', gap:16 }}&gt;&#10;      &lt;Box style={{ flex:1, background:'#FDF2F2', borderRadius:16, padding:'24px' }}&gt;&#10;          &lt;Text style={{ fontSize:22, fontWeight:'bold', color:'#A32D2D' }}&gt;①&lt;/Text&gt;&#10;          &lt;Text style={{ fontSize:22, fontWeight:'bold', color:'#0B2136', marginTop:8 }}&gt;접속 동기 없음&lt;/Text&gt;&#10;          &lt;Text style={{ fontSize:17, color:'#4A3030', marginTop:12, lineHeight:1.6 }}&gt;수업은 주 1회.&lt;br/&gt;나머지 6일은 이유가 없다.&lt;/Text&gt;&#10;        &lt;/Box&gt;&lt;Box style={{ flex:1, background:'#FDF2F2', borderRadius:16, padding:'24px' }}&gt;&#10;          &lt;Text style={{ fontSize:22, fontWeight:'bold', color:'#A32D2D' }}&gt;②&lt;/Text&gt;&#10;          &lt;Text style={{ fontSize:22, fontWeight:'bold', color:'#0B2136', marginTop:8 }}&gt;셀 획득처 편중&lt;/Text&gt;&#10;          &lt;Text style={{ fontSize:17, color:'#4A3030', marginTop:12, lineHeight:1.6 }}&gt;셀은 수업·과제·타자 1등뿐.&lt;br/&gt;소비처에 비해 좁다.&lt;/Text&gt;&#10;        &lt;/Box&gt;&lt;Box style={{ flex:1, background:'#FDF2F2', borderRadius:16, padding:'24px' }}&gt;&#10;          &lt;Text style={{ fontSize:22, fontWeight:'bold', color:'#A32D2D' }}&gt;③&lt;/Text&gt;&#10;          &lt;Text style={{ fontSize:22, fontWeight:'bold', color:'#0B2136', marginTop:8 }}&gt;성장 실감 부족&lt;/Text&gt;&#10;          &lt;Text style={{ fontSize:17, color:'#4A3030', marginTop:12, lineHeight:1.6 }}&gt;&quot;어제보다 나아졌다&quot;를&lt;br/&gt;눈으로 확인할 장치가 약하다.&lt;/Text&gt;&#10;        &lt;/Box&gt;&#10;    &lt;/Box&gt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2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그런데 아이는 매일 오지 않는다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기업이 제시한 문제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19100" y="1800225"/>
            <a:ext cx="11353800" cy="1600200"/>
          </a:xfrm>
          <a:prstGeom prst="roundRect">
            <a:avLst>
              <a:gd name="adj" fmla="val 10714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42950" y="2019300"/>
            <a:ext cx="10706100" cy="4476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20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2950" y="2466975"/>
            <a:ext cx="10706100" cy="4476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2025" b="1">
                <a:solidFill>
                  <a:srgbClr val="FFFFFF"/>
                </a:solidFill>
                <a:latin typeface="sans-serif"/>
                <a:ea typeface="sans-serif"/>
              </a:rPr>
              <a:t>DOROBUS에 들어올 이유가 없습니다."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2950" y="3009900"/>
            <a:ext cx="1070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19100" y="3590925"/>
            <a:ext cx="3686175" cy="2400300"/>
          </a:xfrm>
          <a:prstGeom prst="roundRect">
            <a:avLst>
              <a:gd name="adj" fmla="val 6349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7700" y="3819525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7700" y="4152900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7700" y="4524375"/>
            <a:ext cx="3228975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A3030"/>
                </a:solidFill>
                <a:latin typeface="sans-serif"/>
                <a:ea typeface="sans-serif"/>
              </a:rPr>
              <a:t>수업은 주 1회.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4A3030"/>
                </a:solidFill>
                <a:latin typeface="sans-serif"/>
                <a:ea typeface="sans-serif"/>
              </a:rPr>
              <a:t>나머지 6일은 이유가 없다.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257675" y="3590925"/>
            <a:ext cx="3676650" cy="2400300"/>
          </a:xfrm>
          <a:prstGeom prst="roundRect">
            <a:avLst>
              <a:gd name="adj" fmla="val 6349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486275" y="3819525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486275" y="4152900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486275" y="4524375"/>
            <a:ext cx="3219450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A3030"/>
                </a:solidFill>
                <a:latin typeface="sans-serif"/>
                <a:ea typeface="sans-serif"/>
              </a:rPr>
              <a:t>셀은 수업·과제·타자 1등뿐.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4A3030"/>
                </a:solidFill>
                <a:latin typeface="sans-serif"/>
                <a:ea typeface="sans-serif"/>
              </a:rPr>
              <a:t>소비처에 비해 좁다.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8086725" y="3590925"/>
            <a:ext cx="3686175" cy="2400300"/>
          </a:xfrm>
          <a:prstGeom prst="roundRect">
            <a:avLst>
              <a:gd name="adj" fmla="val 6349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15325" y="3819525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15325" y="4152900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315325" y="4524375"/>
            <a:ext cx="3228975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A3030"/>
                </a:solidFill>
                <a:latin typeface="sans-serif"/>
                <a:ea typeface="sans-serif"/>
              </a:rPr>
              <a:t>"어제보다 나아졌다"를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4A3030"/>
                </a:solidFill>
                <a:latin typeface="sans-serif"/>
                <a:ea typeface="sans-serif"/>
              </a:rPr>
              <a:t>눈으로 확인할 장치가 약하다.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13</a:t>
            </a:r>
            <a:endParaRPr/>
          </a:p>
        </p:txBody>
      </p:sp>
    </p:spTree>
  </p:cSld>
</p:sld>
</file>

<file path=ppt/slides/slide3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4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1 · 기획&lt;/Text&gt;&#10;    &lt;Text style={{ fontSize:40, fontWeight:'bold', color:'#0B2136', marginTop:10, lineHeight:1.1 }}&gt;아이는 왜 다음 날 다시 여는가&lt;/Text&gt;&#10;    &lt;Text style={{ fontSize:18, color:'#64748B', marginTop:8 }}&gt;이미 검증된 서비스 3개에서 구조를 뽑았습니다&lt;/Text&gt;&#10;  &lt;/Box&gt;&#10;  &lt;Box style={{ width:'100%', height:'1px', background:'#E3EAF2' }} /&gt;&#10;  &lt;Box style={{ width:'100%', height:'456px', marginTop:'18px' }}&gt;&#10;&#10;    &lt;Box style={{ width:'100%', height:'456px', flexDirection:'row', gap:24 }}&gt;&#10;      &lt;Box style={{ width:600 }}&gt;&#10;        &lt;Box style={{ width:600, height:379, background:'#F6F8FB', borderRadius:16, padding:9, alignItems:'center', justifyContent:'center' }}&gt;&#10;          &lt;Image src=&quot;assets/dorobus.png&quot; style={{ width:582, height:368, objectFit:'contain', borderRadius:8 }} /&gt;&#10;        &lt;/Box&gt;&#10;        &lt;Text style={{ fontSize:14, color:'#64748B', marginTop:10 }}&gt;▲ DOROBUS 실제 화면 — 학생 / 강사 로그인 분리&lt;/Text&gt;&#10;      &lt;/Box&gt;&#10;      &lt;Box style={{ flex:1, flexDirection:'column', gap:14, justifyContent:'center' }}&gt;&#10;        &lt;Box style={{ background:'#F6F8FB', borderRadius:14, padding:'18px 20px' }}&gt;&#10;            &lt;Text style={{ fontSize:21, fontWeight:'bold', color:'#0F6E56' }}&gt;Duolingo&lt;/Text&gt;&#10;            &lt;Text style={{ fontSize:16.5, color:'#33475B', marginTop:6 }}&gt;연속 학습 — 하루 빠지면 0&lt;/Text&gt;&#10;          &lt;/Box&gt;&lt;Box style={{ background:'#F6F8FB', borderRadius:14, padding:'18px 20px' }}&gt;&#10;            &lt;Text style={{ fontSize:21, fontWeight:'bold', color:'#534AB7' }}&gt;Roblox · 마인크래프트&lt;/Text&gt;&#10;            &lt;Text style={{ fontSize:16.5, color:'#33475B', marginTop:6 }}&gt;직접 만든 것에 대한 애착&lt;/Text&gt;&#10;          &lt;/Box&gt;&lt;Box style={{ background:'#F6F8FB', borderRadius:14, padding:'18px 20px' }}&gt;&#10;            &lt;Text style={{ fontSize:21, fontWeight:'bold', color:'#A06A00' }}&gt;ZEP · 게더타운&lt;/Text&gt;&#10;            &lt;Text style={{ fontSize:16.5, color:'#33475B', marginTop:6 }}&gt;공간에 머무는 경험&lt;/Text&gt;&#10;          &lt;/Box&gt;&#10;        &lt;Box style={{ background:'#EDF4FC', borderRadius:14, padding:'16px 20px' }}&gt;&#10;          &lt;Text style={{ fontSize:16.5, fontWeight:'bold', color:'#185FA5', lineHeight:1.6 }}&gt;→ 공통점 3개&lt;/Text&gt;&#10;          &lt;Text style={{ fontSize:16.5, color:'#33475B', marginTop:4, lineHeight:1.6 }}&gt;매일 할 작은 과제 · 눈에 보이는 축적 · 내가 만든 것&lt;/Text&gt;&#10;        &lt;/Box&gt;&#10;      &lt;/Box&gt;&#10;    &lt;/Box&gt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3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아이는 왜 다음 날 다시 여는가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이미 검증된 서비스 3개에서 구조를 뽑았습니다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419100" y="1800225"/>
            <a:ext cx="5715000" cy="3609975"/>
          </a:xfrm>
          <a:prstGeom prst="roundRect">
            <a:avLst>
              <a:gd name="adj" fmla="val 4222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 r:embed="rId1"/>
          <a:srcRect l="0" t="3" r="0" b="3"/>
          <a:stretch>
            <a:fillRect/>
          </a:stretch>
        </p:blipFill>
        <p:spPr>
          <a:xfrm rot="0" flipH="0" flipV="0">
            <a:off x="504825" y="1857375"/>
            <a:ext cx="5543550" cy="3505200"/>
          </a:xfrm>
          <a:prstGeom prst="roundRect">
            <a:avLst>
              <a:gd name="adj" fmla="val 2174"/>
            </a:avLst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19100" y="55054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▲ DOROBUS 실제 화면 — 학생 / 강사 로그인 분리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362700" y="2038350"/>
            <a:ext cx="5410200" cy="838200"/>
          </a:xfrm>
          <a:prstGeom prst="roundRect">
            <a:avLst>
              <a:gd name="adj" fmla="val 15909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553200" y="2209800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6E56"/>
                </a:solidFill>
                <a:latin typeface="sans-serif"/>
                <a:ea typeface="sans-serif"/>
              </a:rPr>
              <a:t>Duolingo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553200" y="251460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>연속 학습 — 하루 빠지면 0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362700" y="3009900"/>
            <a:ext cx="5410200" cy="838200"/>
          </a:xfrm>
          <a:prstGeom prst="roundRect">
            <a:avLst>
              <a:gd name="adj" fmla="val 15909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553200" y="3181350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534AB7"/>
                </a:solidFill>
                <a:latin typeface="sans-serif"/>
                <a:ea typeface="sans-serif"/>
              </a:rPr>
              <a:t>Roblox · 마인크래프트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553200" y="348615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>직접 만든 것에 대한 애착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362700" y="3981450"/>
            <a:ext cx="5410200" cy="838200"/>
          </a:xfrm>
          <a:prstGeom prst="roundRect">
            <a:avLst>
              <a:gd name="adj" fmla="val 15909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553200" y="4152900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A06A00"/>
                </a:solidFill>
                <a:latin typeface="sans-serif"/>
                <a:ea typeface="sans-serif"/>
              </a:rPr>
              <a:t>ZEP · 게더타운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553200" y="445770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>공간에 머무는 경험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362700" y="4953000"/>
            <a:ext cx="5410200" cy="952500"/>
          </a:xfrm>
          <a:prstGeom prst="roundRect">
            <a:avLst>
              <a:gd name="adj" fmla="val 1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553200" y="5105400"/>
            <a:ext cx="5029200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38" b="1">
                <a:solidFill>
                  <a:srgbClr val="185FA5"/>
                </a:solidFill>
                <a:latin typeface="sans-serif"/>
                <a:ea typeface="sans-serif"/>
              </a:rPr>
              <a:t>→ 공통점 3개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553200" y="5448300"/>
            <a:ext cx="5029200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>매일 할 작은 과제 · 눈에 보이는 축적 · 내가 만든 것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1 · 기획&lt;/Text&gt;&#10;    &lt;Text style={{ fontSize:40, fontWeight:'bold', color:'#0B2136', marginTop:10, lineHeight:1.1 }}&gt;기대효과 3가지에 이렇게 답한다&lt;/Text&gt;&#10;    &lt;Text style={{ fontSize:18, color:'#64748B', marginTop:8 }}&gt;수업에서만 얻던 셀 → 매일 얻는 6가지 경로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6 }}&gt;&#10;      &lt;Box style={{ height:141, background:'#E9F5F0', borderRadius:16, padding:'0 28px', flexDirection:'row', alignItems:'center', gap:28 }}&gt;&#10;          &lt;Text style={{ fontSize:44, fontWeight:'bold', color:'#0F6E56', width:52 }}&gt;①&lt;/Text&gt;&#10;          &lt;Text style={{ fontSize:25, fontWeight:'bold', color:'#0B2136', width:300 }}&gt;성장 경험&lt;/Text&gt;&#10;          &lt;Text style={{ flex:1, fontSize:18, color:'#33475B', lineHeight:1.5 }}&gt;Lv · 성장 단계 · 7일 순환 스트릭&lt;/Text&gt;&#10;        &lt;/Box&gt;&lt;Box style={{ height:141, background:'#FBF3E5', borderRadius:16, padding:'0 28px', flexDirection:'row', alignItems:'center', gap:28 }}&gt;&#10;          &lt;Text style={{ fontSize:44, fontWeight:'bold', color:'#A06A00', width:52 }}&gt;②&lt;/Text&gt;&#10;          &lt;Text style={{ fontSize:25, fontWeight:'bold', color:'#0B2136', width:300 }}&gt;수업도 콘텐츠&lt;/Text&gt;&#10;          &lt;Text style={{ flex:1, fontSize:18, color:'#33475B', lineHeight:1.5 }}&gt;수업 코드 출석 → +100셀 (과제 +30보다 큼)&lt;/Text&gt;&#10;        &lt;/Box&gt;&lt;Box style={{ height:141, background:'#EFEEFB', borderRadius:16, padding:'0 28px', flexDirection:'row', alignItems:'center', gap:28 }}&gt;&#10;          &lt;Text style={{ fontSize:44, fontWeight:'bold', color:'#534AB7', width:52 }}&gt;③&lt;/Text&gt;&#10;          &lt;Text style={{ fontSize:25, fontWeight:'bold', color:'#0B2136', width:300 }}&gt;수업 없는 날&lt;/Text&gt;&#10;          &lt;Text style={{ flex:1, fontSize:18, color:'#33475B', lineHeight:1.5 }}&gt;매일 AI 과제 · 미니게임 · 공작소 AI · 우편함&lt;/Text&gt;&#10;        &lt;/Box&gt;&#10;    &lt;/Box&gt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4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수업에서만 얻던 셀 → 매일 얻는 6가지 경로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419100" y="1800225"/>
            <a:ext cx="11353800" cy="1343025"/>
          </a:xfrm>
          <a:prstGeom prst="roundRect">
            <a:avLst>
              <a:gd name="adj" fmla="val 11348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2219325"/>
            <a:ext cx="495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30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447800" y="2333625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572000" y="2314575"/>
            <a:ext cx="693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19100" y="3295650"/>
            <a:ext cx="11353800" cy="1343025"/>
          </a:xfrm>
          <a:prstGeom prst="roundRect">
            <a:avLst>
              <a:gd name="adj" fmla="val 11348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3714750"/>
            <a:ext cx="495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30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447800" y="382905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572000" y="3810000"/>
            <a:ext cx="693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19100" y="4791075"/>
            <a:ext cx="11353800" cy="1343025"/>
          </a:xfrm>
          <a:prstGeom prst="roundRect">
            <a:avLst>
              <a:gd name="adj" fmla="val 11348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" y="5210175"/>
            <a:ext cx="495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30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447800" y="5324475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72000" y="5305425"/>
            <a:ext cx="693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13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87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1 · 기획&lt;/Text&gt;&#10;    &lt;Text style={{ fontSize:40, fontWeight:'bold', color:'#0B2136', marginTop:10, lineHeight:1.1 }}&gt;사용 흐름 — 접속 → 사용 → 보상 → 재접속&lt;/Text&gt;&#10;    &lt;Text style={{ fontSize:18, color:'#64748B', marginTop:8 }}&gt;아이가 실제로 도는 순환 구조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4, height:456, background:'#F6F8FB', borderRadius:16, padding:8, alignItems:'center', justifyContent:'center' }}&gt;&#10;        &lt;Image src=&quot;assets/flow.png&quot; style={{ width:748, height:440, objectFit:'contain' }} /&gt;&#10;      &lt;/Box&gt;&#10;      &lt;Box style={{ flex:1, justifyContent:'center', gap:18 }}&gt;&#10;        &lt;Text style={{ fontSize:22, fontWeight:'bold', color:'#0B2136' }}&gt;핵심은 ⑤ → ②&lt;/Text&gt;&#10;        &lt;Text style={{ fontSize:17, color:'#33475B', lineHeight:1.7 }}&gt;부품을 사서 꾸미고 싶어지면 다시 접속합니다. 보상이 소비할 대상을 만들고, 그 소비가 다시 접속 동기가 됩니다.&lt;/Text&gt;&#10;        &lt;Box style={{ height:1, background:'#E3EAF2' }} /&gt;&#10;        &lt;Text style={{ fontSize:22, fontWeight:'bold', color:'#0B2136' }}&gt;반복 피로는 난이도로&lt;/Text&gt;&#10;        &lt;Text style={{ fontSize:17, color:'#33475B', lineHeight:1.7 }}&gt;과제는 매일 새로 생성되고, 미니게임은 1~9단계로 올라갑니다.&lt;/Text&gt;&#10;      &lt;/Box&gt;&#10;    &lt;/Box&gt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5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사용 흐름 — 접속 → 사용 → 보상 → 재접속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아이가 실제로 도는 순환 구조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19100" y="1800225"/>
            <a:ext cx="7277100" cy="4343400"/>
          </a:xfrm>
          <a:prstGeom prst="roundRect">
            <a:avLst>
              <a:gd name="adj" fmla="val 3509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94" name=""/>
          <p:cNvPicPr>
            <a:picLocks noChangeAspect="1"/>
          </p:cNvPicPr>
          <p:nvPr/>
        </p:nvPicPr>
        <p:blipFill>
          <a:blip r:embed="rId1"/>
          <a:srcRect l="0" t="28" r="0" b="28"/>
          <a:stretch>
            <a:fillRect/>
          </a:stretch>
        </p:blipFill>
        <p:spPr>
          <a:xfrm rot="0" flipH="0" flipV="0">
            <a:off x="495300" y="1876425"/>
            <a:ext cx="7124700" cy="4191000"/>
          </a:xfrm>
          <a:prstGeom prst="rect">
            <a:avLst/>
          </a:prstGeom>
          <a:ln/>
        </p:spPr>
      </p:pic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905750" y="2705100"/>
            <a:ext cx="3867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905750" y="3133725"/>
            <a:ext cx="38671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 보상이 소비할 대상을 만들고, 그 소비가 다시 접속 동기가 됩니다.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7905750" y="3971925"/>
            <a:ext cx="38671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905750" y="4152900"/>
            <a:ext cx="3867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반복 피로는 난이도로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905750" y="4581525"/>
            <a:ext cx="38671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과제는 매일 새로 생성되고, 미니게임은 1~9단계로 올라갑니다.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13</a:t>
            </a:r>
            <a:endParaRPr/>
          </a:p>
        </p:txBody>
      </p:sp>
    </p:spTree>
  </p:cSld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02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1 · 기획&lt;/Text&gt;&#10;    &lt;Text style={{ fontSize:40, fontWeight:'bold', color:'#0B2136', marginTop:10, lineHeight:1.1 }}&gt;재화(셀) 흐름 — 획득처와 소비처&lt;/Text&gt;&#10;    &lt;Text style={{ fontSize:18, color:'#64748B', marginTop:8 }}&gt;획득처를 &quot;수업이 있는 날&quot;에서 &quot;매일&quot;로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12, height:456, background:'#FFFCF5', borderRadius:16, padding:8, alignItems:'center', justifyContent:'center' }}&gt;&#10;        &lt;Image src=&quot;assets/cell.png&quot; style={{ width:696, height:440, objectFit:'contain' }} /&gt;&#10;      &lt;/Box&gt;&#10;      &lt;Box style={{ flex:1, justifyContent:'center', gap:14 }}&gt;&#10;        &lt;Text style={{ fontSize:24, fontWeight:'bold', color:'#A06A00' }}&gt;획득 6곳 · 소비 5곳&lt;/Text&gt;&#10;        &lt;Text style={{ fontSize:17, color:'#33475B', lineHeight:1.7 }}&gt;가입 · 로봇 완성 · 매일 과제 · 미니게임 · 스트릭 · &lt;b&gt;수업 출석&lt;/b&gt;&lt;/Text&gt;&#10;        &lt;Text style={{ fontSize:17, color:'#33475B', lineHeight:1.7 }}&gt;소비: 부품 · 장식 · 스킨 · 조각 교환&lt;/Text&gt;&#10;        &lt;Box style={{ height:1, background:'#E3EAF2' }} /&gt;&#10;        &lt;Text style={{ fontSize:15, color:'#A32D2D', lineHeight:1.6 }}&gt;조각 교환은 정가 기준 — 가격표가 유지됩니다&lt;/Text&gt;&#10;      &lt;/Box&gt;&#10;    &lt;/Box&gt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6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재화(셀) 흐름 — 획득처와 소비처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획득처를 "수업이 있는 날"에서 "매일"로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419100" y="1800225"/>
            <a:ext cx="6781800" cy="4343400"/>
          </a:xfrm>
          <a:prstGeom prst="roundRect">
            <a:avLst>
              <a:gd name="adj" fmla="val 3509"/>
            </a:avLst>
          </a:prstGeom>
          <a:solidFill>
            <a:srgbClr val="FFFCF5"/>
          </a:solidFill>
          <a:ln/>
        </p:spPr>
        <p:txBody>
          <a:bodyPr/>
          <a:p/>
        </p:txBody>
      </p:sp>
      <p:pic>
        <p:nvPicPr>
          <p:cNvPr id="209" name=""/>
          <p:cNvPicPr>
            <a:picLocks noChangeAspect="1"/>
          </p:cNvPicPr>
          <p:nvPr/>
        </p:nvPicPr>
        <p:blipFill>
          <a:blip r:embed="rId1"/>
          <a:srcRect l="3" t="0" r="3" b="0"/>
          <a:stretch>
            <a:fillRect/>
          </a:stretch>
        </p:blipFill>
        <p:spPr>
          <a:xfrm rot="0" flipH="0" flipV="0">
            <a:off x="495300" y="1876425"/>
            <a:ext cx="6629400" cy="4191000"/>
          </a:xfrm>
          <a:prstGeom prst="rect">
            <a:avLst/>
          </a:prstGeom>
          <a:ln/>
        </p:spPr>
      </p:pic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410450" y="3095625"/>
            <a:ext cx="436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410450" y="3505200"/>
            <a:ext cx="43624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미니게임 · 스트릭 · </a:t>
            </a: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410450" y="3971925"/>
            <a:ext cx="43624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소비: 부품 · 장식 · 스킨 · 조각 교환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410450" y="4438650"/>
            <a:ext cx="43624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10450" y="4581525"/>
            <a:ext cx="43624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A32D2D"/>
                </a:solidFill>
                <a:latin typeface="sans-serif"/>
                <a:ea typeface="sans-serif"/>
              </a:rPr>
              <a:t>조각 교환은 정가 기준 — 가격표가 유지됩니다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13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17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2 · DB 설계&lt;/Text&gt;&#10;    &lt;Text style={{ fontSize:40, fontWeight:'bold', color:'#0B2136', marginTop:10, lineHeight:1.1 }}&gt;DB 설계 ① — 데이터 모델&lt;/Text&gt;&#10;    &lt;Text style={{ fontSize:18, color:'#64748B', marginTop:8 }}&gt;SQLite 내장 · 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49, height:456, background:'#F6F8FB', borderRadius:16, padding:8, alignItems:'center', justifyContent:'center' }}&gt;&#10;        &lt;Image src=&quot;assets/er6.png&quot; style={{ width:733, height:440, objectFit:'contain' }} /&gt;&#10;      &lt;/Box&gt;&#10;      &lt;Box style={{ flex:1, justifyContent:'center', gap:16 }}&gt;&#10;        &lt;Text style={{ fontSize:22, fontWeight:'bold', color:'#0B2136' }}&gt;왜 관계형인가&lt;/Text&gt;&#10;        &lt;Text style={{ fontSize:16.5, color:'#33475B', lineHeight:1.7 }}&gt;로봇·재화·과제 이력이 모두 사용자에 귀속됩니다. 그래서 &quot;다시 접속해도 어제의 내 상태&quot;가 됩니다.&lt;/Text&gt;&#10;        &lt;Box style={{ height:1, background:'#E3EAF2' }} /&gt;&#10;        &lt;Text style={{ fontSize:22, fontWeight:'bold', color:'#A32D2D' }}&gt;UNIQUE = 게임 규칙&lt;/Text&gt;&#10;        &lt;Text style={{ fontSize:16.5, color:'#33475B', lineHeight:1.7 }}&gt;과제 1일 1회·게임 1일 1회·수업 주 1회를 DB가 강제합니다.&lt;/Text&gt;&#10;        &lt;Text style={{ fontSize:14, color:'#64748B' }}&gt;전체 15개 테이블 → p.13&lt;/Text&gt;&#10;      &lt;/Box&gt;&#10;    &lt;/Box&gt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7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SQLite 내장 · 15개 테이블 · users 중심 1:N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509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762875" y="2762250"/>
            <a:ext cx="401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762875" y="3171825"/>
            <a:ext cx="40100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귀속됩니다. 그래서 "다시 접속해도 어제의 내 상태"가 됩니다.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7762875" y="3971925"/>
            <a:ext cx="401002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762875" y="4133850"/>
            <a:ext cx="401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762875" y="4543425"/>
            <a:ext cx="4010025" cy="323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강제합니다.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762875" y="5019675"/>
            <a:ext cx="401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전체 15개 테이블 → p.13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33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2 · DB 설계&lt;/Text&gt;&#10;    &lt;Text style={{ fontSize:40, fontWeight:'bold', color:'#0B2136', marginTop:10, lineHeight:1.1 }}&gt;DB 설계 ② — 규칙은 DB가 지키고, 지표도 DB가 계산&lt;/Text&gt;&#10;    &lt;Text style={{ fontSize:18, color:'#64748B', marginTop:8 }}&gt;테이블 구성 · 유일성 제약 · 평가 지표&lt;/Text&gt;&#10;  &lt;/Box&gt;&#10;  &lt;Box style={{ width:'100%', height:'1px', background:'#E3EAF2' }} /&gt;&#10;  &lt;Box style={{ width:'100%', height:'456px', marginTop:'18px', flexDirection:'column', gap:14 }}&gt;&#10;&#10;    &lt;Box style={{ height:100, background:'#F6F8FB', borderRadius:14, padding:'16px 22px' }}&gt;&#10;      &lt;Text style={{ fontSize:18, fontWeight:'bold', color:'#185FA5' }}&gt;15개 테이블 · 4개 도메인&lt;/Text&gt;&#10;      &lt;Text style={{ fontSize:16.5, color:'#33475B', marginTop:8 }}&gt;사용자·자산 4　·　기준 데이터 3　·　학습 콘텐츠 2　·　활동·지표 6&lt;/Text&gt;&#10;    &lt;/Box&gt;&#10;&#10;    &lt;Box style={{ height:196, background:'#FDF2F2', borderRadius:14, padding:'16px 22px' }}&gt;&#10;      &lt;Text style={{ fontSize:18, fontWeight:'bold', color:'#A32D2D' }}&gt;UNIQUE 8종 = 어뷰징 차단&lt;/Text&gt;&#10;      &lt;Box style={{ flexDirection:'row', gap:32, marginTop:10 }}&gt;&#10;        &lt;Text style={{ flex:1, fontSize:16, color:'#4A2A2A', lineHeight:1.75 }}&gt;· 로봇은 1기만 — robots(user_id)&lt;br/&gt;· 과제는 하루 1회 — quest_logs&lt;br/&gt;· 게임은 종류별 1일 1회 — game_logs&lt;br/&gt;· 수업 출석은 주 1회 — class_logs&lt;/Text&gt;&#10;        &lt;Text style={{ flex:1, fontSize:16, color:'#4A2A2A', lineHeight:1.75 }}&gt;· 공작소 기능 1일 1회 — workshop_logs&lt;br/&gt;· 상호작용 1일 1회 — interact_logs&lt;br/&gt;· 같은 보상 우편 차단 — mailbox(user,tag)&lt;br/&gt;· 주제는 주 1회 — weekly_topics&lt;/Text&gt;&#10;      &lt;/Box&gt;&#10;    &lt;/Box&gt;&#10;&#10;    &lt;Box style={{ flex:1, background:'#E9F5F0', borderRadius:14, padding:'16px 22px' }}&gt;&#10;      &lt;Box style={{ flexDirection:'row', alignItems:'center', gap:16 }}&gt;&#10;        &lt;Box style={{ width:170 }}&gt;&#10;          &lt;Text style={{ fontSize:18, fontWeight:'bold', color:'#0F6E56' }}&gt;평가 4대 지표&lt;/Text&gt;&#10;          &lt;Text style={{ fontSize:14, color:'#0F6E56', marginTop:2 }}&gt;= SQL 집계&lt;/Text&gt;&#10;        &lt;/Box&gt;&#10;        &lt;Text style={{ flex:1, fontSize:15.5, color:'#1F4A3A', lineHeight:1.75 }}&gt;재접속률 — visits&lt;br/&gt;체류시간 — visits.duration&lt;/Text&gt;&#10;        &lt;Text style={{ flex:1, fontSize:15.5, color:'#1F4A3A', lineHeight:1.75 }}&gt;셀 사용량 — cell_tx&lt;br/&gt;과제 제출률 — quest_logs&lt;/Text&gt;&#10;      &lt;/Box&gt;&#10;    &lt;/Box&gt;&#10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8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규칙은 DB가 지키고, 지표도 DB가 계산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테이블 구성 · 유일성 제약 · 평가 지표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419100" y="1800225"/>
            <a:ext cx="11353800" cy="952500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28650" y="1952625"/>
            <a:ext cx="1093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28650" y="223837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238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238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238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238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19100" y="2886075"/>
            <a:ext cx="11353800" cy="1866900"/>
          </a:xfrm>
          <a:prstGeom prst="roundRect">
            <a:avLst>
              <a:gd name="adj" fmla="val 7143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28650" y="3038475"/>
            <a:ext cx="1093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28650" y="3343275"/>
            <a:ext cx="5314950" cy="1285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로봇은 1기만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과제는 하루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게임은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수업 출석은 주 1회 — class_logs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248400" y="3343275"/>
            <a:ext cx="5314950" cy="1285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공작소 기능 1일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같은 보상 우편 차단 — mailbox(user,tag)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2A2A"/>
                </a:solidFill>
                <a:latin typeface="sans-serif"/>
                <a:ea typeface="sans-serif"/>
              </a:rPr>
              <a:t>· 주제는 주 1회 — weekly_topics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19100" y="4886325"/>
            <a:ext cx="11353800" cy="1257300"/>
          </a:xfrm>
          <a:prstGeom prst="roundRect">
            <a:avLst>
              <a:gd name="adj" fmla="val 10606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28650" y="516255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28650" y="53911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400300" y="5038725"/>
            <a:ext cx="4505325" cy="628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63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75000"/>
              </a:lnSpc>
            </a:pPr>
            <a:r>
              <a:rPr lang="en-US" sz="1163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058025" y="5038725"/>
            <a:ext cx="4505325" cy="628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63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75000"/>
              </a:lnSpc>
            </a:pPr>
            <a:r>
              <a:rPr lang="en-US" sz="1163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13</a:t>
            </a:r>
            <a:endParaRPr/>
          </a:p>
        </p:txBody>
      </p:sp>
    </p:spTree>
  </p:cSld>
</p:sld>
</file>

<file path=ppt/slides/slide9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53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3 · 구현 화면&lt;/Text&gt;&#10;    &lt;Text style={{ fontSize:40, fontWeight:'bold', color:'#0B2136', marginTop:10, lineHeight:1.1 }}&gt;구현 화면 ① — 공작소와 상점&lt;/Text&gt;&#10;    &lt;Text style={{ fontSize:18, color:'#64748B', marginTop:8 }}&gt;회사가 가장 원한 공작소, 그리고 셀이 나가는 곳&lt;/Text&gt;&#10;  &lt;/Box&gt;&#10;  &lt;Box style={{ width:'100%', height:'1px', background:'#E3EAF2' }} /&gt;&#10;&#10;  &lt;Box style={{ width:'100%', height:'456px', marginTop:'18px', flexDirection:'row', gap:20 }}&gt;&#10;    &lt;Box style={{ width:584 }}&gt;&#10;      &lt;Box style={{ width:584, height:371, background:'#F6F8FB', borderRadius:16, padding:8, alignItems:'center', justifyContent:'center' }}&gt;&#10;        &lt;Image src=&quot;assets/s_workshop.png&quot; style={{ width:568, height:359, borderRadius:8 }} /&gt;&#10;      &lt;/Box&gt;&#10;      &lt;Text style={{ fontSize:20, fontWeight:'bold', color:'#0B2136', marginTop:10 }}&gt;공작소 — 공작소 안의 AI 모듈&lt;/Text&gt;&#10;      &lt;Text style={{ fontSize:15.5, color:'#33475B', marginTop:2 }}&gt;색칠 다시 하기 · AI 성격 재생성 · 로봇에게 질문&lt;/Text&gt;&#10;    &lt;/Box&gt;&#10;    &lt;Box style={{ width:584 }}&gt;&#10;      &lt;Box style={{ width:584, height:371, background:'#F6F8FB', borderRadius:16, padding:8, alignItems:'center', justifyContent:'center' }}&gt;&#10;        &lt;Image src=&quot;assets/s_shop.png&quot; style={{ width:568, height:359, borderRadius:8 }} /&gt;&#10;      &lt;/Box&gt;&#10;      &lt;Text style={{ fontSize:20, fontWeight:'bold', color:'#0B2136', marginTop:10 }}&gt;상점 — 셀 소비처&lt;/Text&gt;&#10;      &lt;Text style={{ fontSize:15.5, color:'#33475B', marginTop:2 }}&gt;부품 · 장식 · 스킨 · 조각 교환 (정가 기준)&lt;/Text&gt;&#10;    &lt;/Box&gt;&#10;  &lt;/Box&gt;&#10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9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① — 공작소와 상점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회사가 가장 원한 공작소, 그리고 셀이 나가는 곳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419100" y="1800225"/>
            <a:ext cx="5562600" cy="3533775"/>
          </a:xfrm>
          <a:prstGeom prst="roundRect">
            <a:avLst>
              <a:gd name="adj" fmla="val 4313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260" name=""/>
          <p:cNvPicPr>
            <a:picLocks noChangeAspect="1"/>
          </p:cNvPicPr>
          <p:nvPr/>
        </p:nvPicPr>
        <p:blipFill>
          <a:blip r:embed="rId1"/>
          <a:srcRect l="0" t="24" r="0" b="24"/>
          <a:stretch>
            <a:fillRect/>
          </a:stretch>
        </p:blipFill>
        <p:spPr>
          <a:xfrm rot="0" flipH="0" flipV="0">
            <a:off x="495300" y="1857375"/>
            <a:ext cx="5410200" cy="3419475"/>
          </a:xfrm>
          <a:prstGeom prst="roundRect">
            <a:avLst>
              <a:gd name="adj" fmla="val 2228"/>
            </a:avLst>
          </a:prstGeom>
          <a:ln/>
        </p:spPr>
      </p:pic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19100" y="5429250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19100" y="5676900"/>
            <a:ext cx="5562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172200" y="1800225"/>
            <a:ext cx="5562600" cy="3533775"/>
          </a:xfrm>
          <a:prstGeom prst="roundRect">
            <a:avLst>
              <a:gd name="adj" fmla="val 4313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264" name=""/>
          <p:cNvPicPr>
            <a:picLocks noChangeAspect="1"/>
          </p:cNvPicPr>
          <p:nvPr/>
        </p:nvPicPr>
        <p:blipFill>
          <a:blip r:embed="rId2"/>
          <a:srcRect l="0" t="24" r="0" b="24"/>
          <a:stretch>
            <a:fillRect/>
          </a:stretch>
        </p:blipFill>
        <p:spPr>
          <a:xfrm rot="0" flipH="0" flipV="0">
            <a:off x="6248400" y="1857375"/>
            <a:ext cx="5410200" cy="3419475"/>
          </a:xfrm>
          <a:prstGeom prst="roundRect">
            <a:avLst>
              <a:gd name="adj" fmla="val 2228"/>
            </a:avLst>
          </a:prstGeom>
          <a:ln/>
        </p:spPr>
      </p:pic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172200" y="5429250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상점 — 셀 소비처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172200" y="5676900"/>
            <a:ext cx="5562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 (정가 기준)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477625" y="634365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13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2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3 · 구현 화면&lt;/Text&gt;&#10;    &lt;Text style={{ fontSize:40, fontWeight:'bold', color:'#0B2136', marginTop:10, lineHeight:1.1 }}&gt;구현 화면 ② — 우편함과 리포트&lt;/Text&gt;&#10;    &lt;Text style={{ fontSize:18, color:'#64748B', marginTop:8 }}&gt;보상을 직접 열게 하고, 결과를 숫자로 본다 · 수업 출석은 주 1회 +100셀&lt;/Text&gt;&#10;  &lt;/Box&gt;&#10;  &lt;Box style={{ width:'100%', height:'1px', background:'#E3EAF2' }} /&gt;&#10;&#10;  &lt;Box style={{ width:'100%', height:'424px', marginTop:'18px', flexDirection:'row', gap:20 }}&gt;&#10;    &lt;Box style={{ width:584 }}&gt;&#10;      &lt;Box style={{ width:584, height:371, background:'#F6F8FB', borderRadius:16, padding:8, alignItems:'center', justifyContent:'center' }}&gt;&#10;        &lt;Image src=&quot;assets/s_mail.png&quot; style={{ width:568, height:359, borderRadius:8 }} /&gt;&#10;      &lt;/Box&gt;&#10;      &lt;Text style={{ fontSize:20, fontWeight:'bold', color:'#0B2136', marginTop:8 }}&gt;우편함 — 수령형 보상&lt;/Text&gt;&#10;      &lt;Text style={{ fontSize:15.5, color:'#33475B', marginTop:2 }}&gt;공지·선물을 직접 열어야 받음&lt;/Text&gt;&#10;    &lt;/Box&gt;&#10;    &lt;Box style={{ width:584 }}&gt;&#10;      &lt;Box style={{ width:584, height:371, background:'#F6F8FB', borderRadius:16, padding:8, alignItems:'center', justifyContent:'center' }}&gt;&#10;        &lt;Image src=&quot;assets/s_report.png&quot; style={{ width:568, height:359, borderRadius:8 }} /&gt;&#10;      &lt;/Box&gt;&#10;      &lt;Text style={{ fontSize:20, fontWeight:'bold', color:'#0B2136', marginTop:8 }}&gt;리포트 — 검증 도구&lt;/Text&gt;&#10;      &lt;Text style={{ fontSize:15.5, color:'#33475B', marginTop:2 }}&gt;재접속률 · 체류 · 셀 흐름 · 7일 추이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0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② — 우편함과 리포트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보상을 직접 열게 하고, 결과를 숫자로 본다 · 수업 출석은 주 1회 +100셀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419100" y="1800225"/>
            <a:ext cx="5562600" cy="3533775"/>
          </a:xfrm>
          <a:prstGeom prst="roundRect">
            <a:avLst>
              <a:gd name="adj" fmla="val 4313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 r:embed="rId1"/>
          <a:srcRect l="0" t="24" r="0" b="24"/>
          <a:stretch>
            <a:fillRect/>
          </a:stretch>
        </p:blipFill>
        <p:spPr>
          <a:xfrm rot="0" flipH="0" flipV="0">
            <a:off x="495300" y="1857375"/>
            <a:ext cx="5410200" cy="3419475"/>
          </a:xfrm>
          <a:prstGeom prst="roundRect">
            <a:avLst>
              <a:gd name="adj" fmla="val 2228"/>
            </a:avLst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19100" y="5410200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19100" y="5657850"/>
            <a:ext cx="5562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172200" y="1800225"/>
            <a:ext cx="5562600" cy="3533775"/>
          </a:xfrm>
          <a:prstGeom prst="roundRect">
            <a:avLst>
              <a:gd name="adj" fmla="val 4313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33" name=""/>
          <p:cNvPicPr>
            <a:picLocks noChangeAspect="1"/>
          </p:cNvPicPr>
          <p:nvPr/>
        </p:nvPicPr>
        <p:blipFill>
          <a:blip r:embed="rId2"/>
          <a:srcRect l="0" t="24" r="0" b="24"/>
          <a:stretch>
            <a:fillRect/>
          </a:stretch>
        </p:blipFill>
        <p:spPr>
          <a:xfrm rot="0" flipH="0" flipV="0">
            <a:off x="6248400" y="1857375"/>
            <a:ext cx="5410200" cy="3419475"/>
          </a:xfrm>
          <a:prstGeom prst="roundRect">
            <a:avLst>
              <a:gd name="adj" fmla="val 2228"/>
            </a:avLst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172200" y="5410200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리포트 — 검증 도구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172200" y="5657850"/>
            <a:ext cx="5562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재접속률 · 체류 · 셀 흐름 · 7일 추이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19100" y="60198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420475" y="6019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3 · 진행 점검&lt;/Text&gt;&#10;    &lt;Text style={{ fontSize:40, fontWeight:'bold', color:'#0B2136', marginTop:10, lineHeight:1.1 }}&gt;계획 대비 현재 위치 — W9, 어디까지 왔나&lt;/Text&gt;&#10;    &lt;Text style={{ fontSize:18, color:'#64748B', marginTop:8 }}&gt;執行方案 15주 일정과 대조&lt;/Text&gt;&#10;  &lt;/Box&gt;&#10;  &lt;Box style={{ width:'100%', height:'1px', background:'#E3EAF2' }} /&gt;&#10;&#10;  &lt;Box style={{ width:'100%', height:'440px', marginTop:'18px', flexDirection:'column' }}&gt;&#10;&#10;    &lt;Box style={{ width:'100%', flexDirection:'row', gap:10 }}&gt;&#10;      &lt;Box style={{ width:230, background:'#E9F5F0', borderRadius:12, padding:'16px 14px' }}&gt;&#10;        &lt;Text style={{ fontSize:12.5, fontWeight:'bold', color:'#0F6E56' }}&gt;W1–2&lt;/Text&gt;&#10;        &lt;Text style={{ fontSize:17, fontWeight:'bold', color:'#0B2136', marginTop:8 }}&gt;조사 · 계획서&lt;/Text&gt;&#10;        &lt;Text style={{ fontSize:12.5, fontWeight:'bold', color:'#0F6E56', marginTop:8 }}&gt;완료&lt;/Text&gt;&#10;      &lt;/Box&gt;&#10;      &lt;Box style={{ width:230, background:'#E9F5F0', borderRadius:12, padding:'16px 14px' }}&gt;&#10;        &lt;Text style={{ fontSize:12.5, fontWeight:'bold', color:'#0F6E56' }}&gt;W3–5&lt;/Text&gt;&#10;        &lt;Text style={{ fontSize:17, fontWeight:'bold', color:'#0B2136', marginTop:8 }}&gt;기획 · 도면&lt;/Text&gt;&#10;        &lt;Text style={{ fontSize:12.5, fontWeight:'bold', color:'#0F6E56', marginTop:8 }}&gt;완료&lt;/Text&gt;&#10;      &lt;/Box&gt;&#10;      &lt;Box style={{ width:230, background:'#E9F5F0', borderRadius:12, padding:'16px 14px' }}&gt;&#10;        &lt;Text style={{ fontSize:12.5, fontWeight:'bold', color:'#0F6E56' }}&gt;W6–7&lt;/Text&gt;&#10;        &lt;Text style={{ fontSize:17, fontWeight:'bold', color:'#0B2136', marginTop:8 }}&gt;골격&lt;/Text&gt;&#10;        &lt;Text style={{ fontSize:12.5, fontWeight:'bold', color:'#0F6E56', marginTop:8 }}&gt;완료&lt;/Text&gt;&#10;      &lt;/Box&gt;&#10;      &lt;Box style={{ width:230, background:'#FBF3E5', borderRadius:12, padding:'16px 14px' }}&gt;&#10;        &lt;Text style={{ fontSize:12.5, fontWeight:'bold', color:'#A06A00' }}&gt;W8–11&lt;/Text&gt;&#10;        &lt;Text style={{ fontSize:17, fontWeight:'bold', color:'#0B2136', marginTop:8 }}&gt;핵심 loop&lt;/Text&gt;&#10;        &lt;Text style={{ fontSize:12.5, fontWeight:'bold', color:'#A06A00', marginTop:8 }}&gt;W6 선완료&lt;/Text&gt;&#10;      &lt;/Box&gt;&#10;      &lt;Box style={{ width:230, background:'#F1F5F9', borderRadius:12, padding:'16px 14px' }}&gt;&#10;        &lt;Text style={{ fontSize:12.5, fontWeight:'bold', color:'#64748B' }}&gt;W12–15&lt;/Text&gt;&#10;        &lt;Text style={{ fontSize:17, fontWeight:'bold', color:'#0B2136', marginTop:8 }}&gt;검증 · 발표&lt;/Text&gt;&#10;        &lt;Text style={{ fontSize:12.5, fontWeight:'bold', color:'#64748B', marginTop:8 }}&gt;예정&lt;/Text&gt;&#10;      &lt;/Box&gt;&#10;    &lt;/Box&gt;&#10;&#10;    &lt;Text style={{ fontSize:13.5, color:'#A06A00', fontWeight:'bold', marginTop:14 }}&gt;▲ 현재 W9 (10/26) — 계획상 '핵심 loop 진행 중', 실제는 W6에 완료&lt;/Text&gt;&#10;&#10;    &lt;Box style={{ width:'100%', flexDirection:'row', gap:14, marginTop:14 }}&gt;&#10;      &lt;Box style={{ width:385, background:'#F6F8FB', borderRadius:12, padding:'14px 18px' }}&gt;&#10;        &lt;Text style={{ fontSize:25, fontWeight:'bold', color:'#185FA5' }}&gt;3주&lt;/Text&gt;&#10;        &lt;Text style={{ fontSize:15, fontWeight:'bold', color:'#0B2136', marginTop:2 }}&gt;계획 대비 선행&lt;/Text&gt;&#10;        &lt;Text style={{ fontSize:13, color:'#64748B', marginTop:2 }}&gt;핵심 loop를 W6에 완료&lt;/Text&gt;&#10;      &lt;/Box&gt;&#10;      &lt;Box style={{ width:385, background:'#F6F8FB', borderRadius:12, padding:'14px 18px' }}&gt;&#10;        &lt;Text style={{ fontSize:25, fontWeight:'bold', color:'#185FA5' }}&gt;5탭&lt;/Text&gt;&#10;        &lt;Text style={{ fontSize:15, fontWeight:'bold', color:'#0B2136', marginTop:2 }}&gt;구현 완성&lt;/Text&gt;&#10;        &lt;Text style={{ fontSize:13, color:'#64748B', marginTop:2 }}&gt;마이룸·공작소·상점·우편함·리포트&lt;/Text&gt;&#10;      &lt;/Box&gt;&#10;      &lt;Box style={{ width:385, background:'#F6F8FB', borderRadius:12, padding:'14px 18px' }}&gt;&#10;        &lt;Text style={{ fontSize:25, fontWeight:'bold', color:'#185FA5' }}&gt;0명&lt;/Text&gt;&#10;        &lt;Text style={{ fontSize:15, fontWeight:'bold', color:'#0B2136', marginTop:2 }}&gt;남은 것 = 실사용자&lt;/Text&gt;&#10;        &lt;Text style={{ fontSize:13, color:'#64748B', marginTop:2 }}&gt;W9–11 모집 후 W13 검증&lt;/Text&gt;&#10;      &lt;/Box&gt;&#10;    &lt;/Box&gt;&#10;&#10;    &lt;Box style={{ width:'100%', background:'#EDF4FC', borderRadius:12, padding:'14px 20px', marginTop:14 }}&gt;&#10;      &lt;Text style={{ fontSize:15.5, fontWeight:'bold', color:'#185FA5' }}&gt;중간발표에서 보여줄 것 = 계획상 W8까지의 산출물&lt;/Text&gt;&#10;      &lt;Text style={{ fontSize:14.5, color:'#33475B', marginTop:4 }}&gt;조사 → 기획 → 도면 → DB 설계 → 동작하는 핵심 화면. 3D 아트는 범위에서 제외했습니다.&lt;/Text&gt;&#10;    &lt;/Box&gt;&#10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1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진행 점검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계획 대비 현재 위치 — W9, 어디까지 왔나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sans-serif"/>
                <a:ea typeface="sans-serif"/>
              </a:rPr>
              <a:t>執行方案</a:t>
            </a: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 xml:space="preserve"> 15주 일정과 대조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419100" y="1800225"/>
            <a:ext cx="2190750" cy="942975"/>
          </a:xfrm>
          <a:prstGeom prst="roundRect">
            <a:avLst>
              <a:gd name="adj" fmla="val 1212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52450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6E56"/>
                </a:solidFill>
                <a:latin typeface="sans-serif"/>
                <a:ea typeface="sans-serif"/>
              </a:rPr>
              <a:t>W1–2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52450" y="2171700"/>
            <a:ext cx="1924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조사 · 계획서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52450" y="24479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0F6E56"/>
                </a:solidFill>
                <a:latin typeface="sans-serif"/>
                <a:ea typeface="sans-serif"/>
              </a:rPr>
              <a:t>완료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2705100" y="1800225"/>
            <a:ext cx="2190750" cy="942975"/>
          </a:xfrm>
          <a:prstGeom prst="roundRect">
            <a:avLst>
              <a:gd name="adj" fmla="val 1212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2838450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6E56"/>
                </a:solidFill>
                <a:latin typeface="sans-serif"/>
                <a:ea typeface="sans-serif"/>
              </a:rPr>
              <a:t>W3–5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2838450" y="2171700"/>
            <a:ext cx="1924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기획 · 도면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838450" y="24479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0F6E56"/>
                </a:solidFill>
                <a:latin typeface="sans-serif"/>
                <a:ea typeface="sans-serif"/>
              </a:rPr>
              <a:t>완료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991100" y="1800225"/>
            <a:ext cx="2190750" cy="942975"/>
          </a:xfrm>
          <a:prstGeom prst="roundRect">
            <a:avLst>
              <a:gd name="adj" fmla="val 1212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124450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6E56"/>
                </a:solidFill>
                <a:latin typeface="sans-serif"/>
                <a:ea typeface="sans-serif"/>
              </a:rPr>
              <a:t>W6–7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124450" y="2171700"/>
            <a:ext cx="1924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0B2136"/>
                </a:solidFill>
                <a:latin typeface="sans-serif"/>
                <a:ea typeface="sans-serif"/>
              </a:rPr>
              <a:t>골격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124450" y="24479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0F6E56"/>
                </a:solidFill>
                <a:latin typeface="sans-serif"/>
                <a:ea typeface="sans-serif"/>
              </a:rPr>
              <a:t>완료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277100" y="1800225"/>
            <a:ext cx="2190750" cy="942975"/>
          </a:xfrm>
          <a:prstGeom prst="roundRect">
            <a:avLst>
              <a:gd name="adj" fmla="val 12121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410450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A06A00"/>
                </a:solidFill>
                <a:latin typeface="sans-serif"/>
                <a:ea typeface="sans-serif"/>
              </a:rPr>
              <a:t>W8–11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10450" y="2171700"/>
            <a:ext cx="1924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핵심 loop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10450" y="24479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A06A00"/>
                </a:solidFill>
                <a:latin typeface="sans-serif"/>
                <a:ea typeface="sans-serif"/>
              </a:rPr>
              <a:t>W6 선완료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9563100" y="1800225"/>
            <a:ext cx="2190750" cy="942975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696450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64748B"/>
                </a:solidFill>
                <a:latin typeface="sans-serif"/>
                <a:ea typeface="sans-serif"/>
              </a:rPr>
              <a:t>W12–15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696450" y="2171700"/>
            <a:ext cx="1924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검증 · 발표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696450" y="24479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64748B"/>
                </a:solidFill>
                <a:latin typeface="sans-serif"/>
                <a:ea typeface="sans-serif"/>
              </a:rPr>
              <a:t>예정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19100" y="287655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A06A00"/>
                </a:solidFill>
                <a:latin typeface="sans-serif"/>
                <a:ea typeface="sans-serif"/>
              </a:rPr>
              <a:t>▲ 현재 W9 (10/26) — 계획상 '핵심 loop 진행 중', 실제는 W6에 완료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19100" y="3171825"/>
            <a:ext cx="3667125" cy="9144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90550" y="3305175"/>
            <a:ext cx="33242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85FA5"/>
                </a:solidFill>
                <a:latin typeface="sans-serif"/>
                <a:ea typeface="sans-serif"/>
              </a:rPr>
              <a:t>3주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90550" y="36099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136"/>
                </a:solidFill>
                <a:latin typeface="sans-serif"/>
                <a:ea typeface="sans-serif"/>
              </a:rPr>
              <a:t>계획 대비 선행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90550" y="3800475"/>
            <a:ext cx="3324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핵심 loop를 W6에 완료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219575" y="3171825"/>
            <a:ext cx="3667125" cy="9144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391025" y="3305175"/>
            <a:ext cx="33242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85FA5"/>
                </a:solidFill>
                <a:latin typeface="sans-serif"/>
                <a:ea typeface="sans-serif"/>
              </a:rPr>
              <a:t>5탭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391025" y="36099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136"/>
                </a:solidFill>
                <a:latin typeface="sans-serif"/>
                <a:ea typeface="sans-serif"/>
              </a:rPr>
              <a:t>구현 완성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391025" y="3800475"/>
            <a:ext cx="3324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4748B"/>
                </a:solidFill>
                <a:latin typeface="sans-serif"/>
                <a:ea typeface="sans-serif"/>
              </a:rPr>
              <a:t>마이룸·공작소·상점·우편함·리포트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8020050" y="3171825"/>
            <a:ext cx="3667125" cy="9144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191500" y="3305175"/>
            <a:ext cx="33242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85FA5"/>
                </a:solidFill>
                <a:latin typeface="sans-serif"/>
                <a:ea typeface="sans-serif"/>
              </a:rPr>
              <a:t>0명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191500" y="36099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136"/>
                </a:solidFill>
                <a:latin typeface="sans-serif"/>
                <a:ea typeface="sans-serif"/>
              </a:rPr>
              <a:t>남은 것 = 실사용자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191500" y="3800475"/>
            <a:ext cx="3324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W9–11 모집 후 W13 검증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19100" y="4219575"/>
            <a:ext cx="11353800" cy="657225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435292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185FA5"/>
                </a:solidFill>
                <a:latin typeface="sans-serif"/>
                <a:ea typeface="sans-serif"/>
              </a:rPr>
              <a:t>중간발표에서 보여줄 것 = 계획상 W8까지의 산출물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45720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조사 → 기획 → 도면 → DB 설계 → 동작하는 핵심 화면. 3D 아트는 범위에서 제외했습니다.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19100" y="61722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430000" y="61722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2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01 · 기획&lt;/Text&gt;&#10;    &lt;Text style={{ fontSize:40, fontWeight:'bold', color:'#0B2136', marginTop:10, lineHeight:1.1 }}&gt;연결점 — 새로 만들지 않고, 기존에 연결&lt;/Text&gt;&#10;    &lt;Text style={{ fontSize:18, color:'#64748B', marginTop:8 }}&gt;DOROBUS 스택과 맞물리는 지점&lt;/Text&gt;&#10;  &lt;/Box&gt;&#10;  &lt;Box style={{ width:'100%', height:'1px', background:'#E3EAF2' }} /&gt;&#10;&#10;  &lt;Box style={{ width:'100%', height:'456px', marginTop:'18px', flexDirection:'column' }}&gt;&#10;&#10;    &lt;Box style={{ width:'100%', flexDirection:'row', gap:16 }}&gt;&#10;      &lt;Box style={{ width:386, background:'#FFFFFF', border:'1px solid #E3EAF2', borderRadius:14, padding:'20px 22px' }}&gt;&#10;        &lt;Text style={{ fontSize:23, fontWeight:'bold', color:'#185FA5' }}&gt;셀(재화)&lt;/Text&gt;&#10;        &lt;Text style={{ fontSize:17, color:'#33475B', marginTop:10 }}&gt;획득 6곳 · 소비 5곳&lt;/Text&gt;&#10;        &lt;Text style={{ fontSize:14, color:'#64748B', marginTop:8 }}&gt;서버 지급 로직 + 상점 아이템&lt;/Text&gt;&#10;      &lt;/Box&gt;&#10;      &lt;Box style={{ width:386, background:'#FFFFFF', border:'1px solid #E3EAF2', borderRadius:14, padding:'20px 22px' }}&gt;&#10;        &lt;Text style={{ fontSize:23, fontWeight:'bold', color:'#0F6E56' }}&gt;공작소&lt;/Text&gt;&#10;        &lt;Text style={{ fontSize:17, color:'#33475B', marginTop:10 }}&gt;커스터마이징 + AI 모듈&lt;/Text&gt;&#10;        &lt;Text style={{ fontSize:14, color:'#64748B', marginTop:8 }}&gt;AI 프롬프트·생성 로직&lt;/Text&gt;&#10;      &lt;/Box&gt;&#10;      &lt;Box style={{ width:386, background:'#FFFFFF', border:'1px solid #E3EAF2', borderRadius:14, padding:'20px 22px' }}&gt;&#10;        &lt;Text style={{ fontSize:23, fontWeight:'bold', color:'#A06A00' }}&gt;우편함&lt;/Text&gt;&#10;        &lt;Text style={{ fontSize:17, color:'#33475B', marginTop:10 }}&gt;운영자 공지·보상 지급&lt;/Text&gt;&#10;        &lt;Text style={{ fontSize:14, color:'#64748B', marginTop:8 }}&gt;mailbox 테이블 + 관리자 화면&lt;/Text&gt;&#10;      &lt;/Box&gt;&#10;    &lt;/Box&gt;&#10;&#10;    &lt;Box style={{ width:'100%', background:'#FBF3E5', borderRadius:14, padding:'24px 28px', marginTop:20 }}&gt;&#10;      &lt;Text style={{ fontSize:19, fontWeight:'bold', color:'#A06A00' }}&gt;오늘 확인받고 싶은 것&lt;/Text&gt;&#10;      &lt;Text style={{ fontSize:17.5, color:'#4A3A18', marginTop:14, lineHeight:1.9 }}&gt;① 공작소 &lt;b&gt;안&lt;/b&gt;에 탑재하는 형태가 맞는지 (현재는 독립 프로토타입)&lt;br/&gt;② 정식 계정 · 공식 에셋(로봇 선화·GLB) 지원 가능 여부&lt;br/&gt;③ 체험 계정 유효기간(12/25) 내 최종 발표 가능 여부&lt;/Text&gt;&#10;    &lt;/Box&gt;&#10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2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 — 새로 만들지 않고, 기존에 연결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419100" y="1800225"/>
            <a:ext cx="3676650" cy="11811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28650" y="1990725"/>
            <a:ext cx="32575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28650" y="235267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28650" y="262890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서버 지급 로직 + 상점 아이템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248150" y="1800225"/>
            <a:ext cx="3676650" cy="11811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457700" y="1990725"/>
            <a:ext cx="32575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72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57700" y="235267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457700" y="262890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AI 프롬프트·생성 로직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077200" y="1800225"/>
            <a:ext cx="3676650" cy="11811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286750" y="1990725"/>
            <a:ext cx="32575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72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286750" y="235267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운영자 공지·보상 지급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286750" y="262890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mailbox 테이블 + 관리자 화면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19100" y="3171825"/>
            <a:ext cx="11353800" cy="1952625"/>
          </a:xfrm>
          <a:prstGeom prst="roundRect">
            <a:avLst>
              <a:gd name="adj" fmla="val 6829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10820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85800" y="3752850"/>
            <a:ext cx="10820400" cy="11430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13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313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313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 (현재는 독립 프로토타입)</a:t>
            </a:r>
            <a:endParaRPr/>
          </a:p>
          <a:p>
            <a:pPr>
              <a:lnSpc>
                <a:spcPct val="190000"/>
              </a:lnSpc>
            </a:pPr>
            <a:r>
              <a:rPr lang="en-US" sz="1313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313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420475" y="63246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05" name="" descr="&lt;Slide style={{ width:'1280px', height:'720px', padding:'44px', background:'#FFFFFF', fontFamily:'sans-serif' }}&gt;&#10;  &lt;Box style={{ width:'100%', height:'126px', justifyContent:'center' }}&gt;&#10;    &lt;Text style={{ fontSize:13, fontWeight:'bold', color:'#185FA5', letterSpacing:1.6 }}&gt;부록&lt;/Text&gt;&#10;    &lt;Text style={{ fontSize:40, fontWeight:'bold', color:'#0B2136', marginTop:10, lineHeight:1.1 }}&gt;전체 스키마 — 15개 테이블 ER&lt;/Text&gt;&#10;    &lt;Text style={{ fontSize:18, color:'#64748B', marginTop:8 }}&gt;질문 대응용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587, height:456, background:'#F6F8FB', borderRadius:14, padding:8, alignItems:'center', justifyContent:'center' }}&gt;&#10;        &lt;Image src=&quot;assets/er_full.png&quot; style={{ width:571, height:440, objectFit:'contain' }} /&gt;&#10;      &lt;/Box&gt;&#10;      &lt;Box style={{ flex:1, justifyContent:'center', gap:14 }}&gt;&#10;        &lt;Text style={{ fontSize:20, fontWeight:'bold', color:'#0B2136' }}&gt;15개 엔터티&lt;/Text&gt;&#10;        &lt;Text style={{ fontSize:14.5, color:'#33475B', lineHeight:1.8 }}&gt;users · robots · robot_lines · items · inventory · cell_tx · daily_quests · quest_logs · visits · weekly_topics · mailbox · class_logs · interact_logs · workshop_logs · game_logs&lt;/Text&gt;&#10;        &lt;Box style={{ height:1, background:'#E3EAF2' }} /&gt;&#10;        &lt;Text style={{ fontSize:15, color:'#A32D2D' }}&gt;UNIQUE 8종 · 성능 인덱스 3종&lt;/Text&gt;&#10;        &lt;Text style={{ fontSize:13, color:'#64748B' }}&gt;전체 도면: docs/5-ER전체-15테이블.svg&lt;/Text&gt;&#10;      &lt;/Box&gt;&#10;    &lt;/Box&gt;&#10;  &lt;/Box&gt;&#10;  &lt;Box style={{ width:'100%', height:'28px', marginTop:14, flexDirection:'row', justifyContent:'space-between', alignItems:'center' }}&gt;&#10;    &lt;Text style={{ fontSize:12, color:'#94A3B8' }}&gt;㈜도로 × 한양대 ERICA IC-PBL · 루미(RooMi)&lt;/Text&gt;&#10;    &lt;Text style={{ fontSize:12, color:'#94A3B8' }}&gt;13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19100" y="504825"/>
            <a:ext cx="1135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부록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19100" y="752475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전체 스키마 — 15개 테이블 ER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19100" y="1333500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질문 대응용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419100" y="1800225"/>
            <a:ext cx="559117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 r:embed="rId1"/>
          <a:srcRect l="0" t="5" r="0" b="5"/>
          <a:stretch>
            <a:fillRect/>
          </a:stretch>
        </p:blipFill>
        <p:spPr>
          <a:xfrm rot="0" flipH="0" flipV="0">
            <a:off x="495300" y="1876425"/>
            <a:ext cx="5438775" cy="4191000"/>
          </a:xfrm>
          <a:prstGeom prst="rect">
            <a:avLst/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200775" y="3124200"/>
            <a:ext cx="5572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15개 엔터티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200775" y="3486150"/>
            <a:ext cx="55721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users · robots · robot_lines · items · inventory · cell_tx · daily_quests · quest_logs · visits · weekly_topics · mailbox · class_logs · interact_logs · workshop_logs · game_logs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200775" y="4219575"/>
            <a:ext cx="557212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200775" y="4362450"/>
            <a:ext cx="557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32D2D"/>
                </a:solidFill>
                <a:latin typeface="sans-serif"/>
                <a:ea typeface="sans-serif"/>
              </a:rPr>
              <a:t>UNIQUE 8종 · 성능 인덱스 3종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200775" y="4667250"/>
            <a:ext cx="557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 도면: docs/5-ER전체-15테이블.svg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420475" y="634365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13 / 13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2026-10-19T10:38:58Z</dcterms:created>
  <dcterms:modified xsi:type="dcterms:W3CDTF">2026-10-19T10:38:58Z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{"AIGC":{"Label":"1","ContentProducer":"00119111010856365494821B355","ProduceID":"01a151c7ec6c7c40963578e02c5ffa47","ReservedCode1":"","ContentPropagator":"00119111010856365494821B355","PropagateID":"01a151c7ec6c7c40963578e02c5ffa47","ReservedCode2":""}}</vt:lpwstr>
  </property>
</Properties>
</file>