
<file path=[Content_Types].xml><?xml version="1.0" encoding="utf-8"?>
<Types xmlns="http://schemas.openxmlformats.org/package/2006/content-types">
  <Default Extension="png" ContentType="image/png"/>
  <Default Extension="xml" ContentType="application/xml"/>
  <Default Extension="rels" ContentType="application/vnd.openxmlformats-package.relationship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s/slide6.xml" ContentType="application/vnd.openxmlformats-officedocument.presentationml.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slides/slide7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officeDocument/2006/relationships/custom-properties" Target="docProps/custom.xml" /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/Relationships>
</file>

<file path=ppt/presentation.xml><?xml version="1.0" encoding="utf-8"?>
<p:presentation xmlns:r="http://schemas.openxmlformats.org/officeDocument/2006/relationships" xmlns:p="http://schemas.openxmlformats.org/presentationml/2006/main" xmlns:a="http://schemas.openxmlformats.org/drawingml/2006/main" firstSlideNum="1">
  <p:sldMasterIdLst>
    <p:sldMasterId id="2147483648" r:id="rId0"/>
  </p:sldMasterIdLst>
  <p:notesMasterIdLst>
    <p:notesMasterId r:id="rId12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8" Type="http://schemas.openxmlformats.org/officeDocument/2006/relationships/slide" Target="slides/slide8.xml" /><Relationship Id="rId7" Type="http://schemas.openxmlformats.org/officeDocument/2006/relationships/slide" Target="slides/slide7.xml" /><Relationship Id="rId5" Type="http://schemas.openxmlformats.org/officeDocument/2006/relationships/slide" Target="slides/slide5.xml" /><Relationship Id="rId12" Type="http://schemas.openxmlformats.org/officeDocument/2006/relationships/notesMaster" Target="notesMasters/notesMaster1.xml" /><Relationship Id="rId4" Type="http://schemas.openxmlformats.org/officeDocument/2006/relationships/slide" Target="slides/slide4.xml" /><Relationship Id="rId3" Type="http://schemas.openxmlformats.org/officeDocument/2006/relationships/slide" Target="slides/slide3.xml" /><Relationship Id="rId15" Type="http://schemas.openxmlformats.org/officeDocument/2006/relationships/viewProps" Target="viewProps.xml" /><Relationship Id="rId14" Type="http://schemas.openxmlformats.org/officeDocument/2006/relationships/tableStyles" Target="tableStyles.xml" /><Relationship Id="rId2" Type="http://schemas.openxmlformats.org/officeDocument/2006/relationships/slide" Target="slides/slide2.xml" /><Relationship Id="rId13" Type="http://schemas.openxmlformats.org/officeDocument/2006/relationships/presProps" Target="presProps.xml" /><Relationship Id="rId11" Type="http://schemas.openxmlformats.org/officeDocument/2006/relationships/slide" Target="slides/slide11.xml" /><Relationship Id="rId10" Type="http://schemas.openxmlformats.org/officeDocument/2006/relationships/slide" Target="slides/slide10.xml" /><Relationship Id="rId1" Type="http://schemas.openxmlformats.org/officeDocument/2006/relationships/slide" Target="slides/slide1.xml" /><Relationship Id="rId6" Type="http://schemas.openxmlformats.org/officeDocument/2006/relationships/slide" Target="slides/slide6.xml" /><Relationship Id="rId0" Type="http://schemas.openxmlformats.org/officeDocument/2006/relationships/slideMaster" Target="slideMasters/slideMaster1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r="http://schemas.openxmlformats.org/officeDocument/2006/relationships"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2.pn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3.pn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2" Type="http://schemas.openxmlformats.org/officeDocument/2006/relationships/image" Target="media/image5.png" /><Relationship Id="rId1" Type="http://schemas.openxmlformats.org/officeDocument/2006/relationships/image" Target="media/image4.pn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1.pn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 width:'1280px', height:'720px', padding:'64px', background:'#FFFFFF', fontFamily:'sans-serif' }}&gt;&#10;  &lt;Box style={{ flexDirection:'row', alignItems:'center', gap:10 }}&gt;&#10;    &lt;Text style={{ fontSize:16, color:'#64748B', letterSpacing:0.8 }}&gt;㈜도로 × 한양대 ERICA IC-PBL 2026-2학기 · 중간발표&lt;/Text&gt;&#10;    &lt;Text style={{ fontSize:12, color:'#94A3B8' }}&gt;⏱ 0:00–0:30&lt;/Text&gt;&#10;  &lt;/Box&gt;&#10;  &lt;Text style={{ fontSize:78, fontWeight:'bold', color:'#0B2136', marginTop:28, lineHeight:1.05 }}&gt;루미 &lt;span style={{ color:'#185FA5' }}&gt;RooMi&lt;/span&gt;&lt;/Text&gt;&#10;  &lt;Text style={{ fontSize:19, color:'#185FA5', marginTop:12, letterSpacing:0.4 }}&gt;Room + Me — 내 방(Room)에 사는 또 다른 나(Me)&lt;/Text&gt;&#10;  &lt;Text style={{ fontSize:24, color:'#33475B', marginTop:16 }}&gt;색칠한 로봇이 마이룸에 살면서,&lt;/Text&gt;&#10;  &lt;Text style={{ fontSize:24, color:'#33475B', marginTop:4 }}&gt;매일 돌아올 이유를 만든다&lt;/Text&gt;&#10;  &lt;Text style={{ fontSize:15, color:'#64748B', marginTop:14 }}&gt;2026. 10. 26 (월) · 발표 8분&lt;/Text&gt;&#10;  &lt;Text style={{ fontSize:17, color:'#33475B', marginTop:12 }}&gt;&lt;b style={{ color:'#185FA5' }}&gt;DOROLINK&lt;/b&gt;　·　순첸디　·　이명명　·　후예량&lt;/Text&gt;&#10;&#10;  &lt;Box style={{ width:'100%', height:'150px', marginTop:40, flexDirection:'row', gap:16 }}&gt;&#10;    &lt;Box style={{ flex:1, background:'#EDF4FC', borderRadius:16, padding:'20px 22px' }}&gt;&#10;        &lt;Text style={{ fontSize:14, fontWeight:'bold', color:'#185FA5' }}&gt;01&lt;/Text&gt;&#10;        &lt;Text style={{ fontSize:26, fontWeight:'bold', color:'#0B2136', marginTop:6 }}&gt;기획&lt;/Text&gt;&#10;        &lt;Text style={{ fontSize:15, fontWeight:'bold', color:'#185FA5', marginTop:10 }}&gt;p.2–4&lt;/Text&gt;&#10;      &lt;/Box&gt;&lt;Box style={{ flex:1, background:'#E9F5F0', borderRadius:16, padding:'20px 22px' }}&gt;&#10;        &lt;Text style={{ fontSize:14, fontWeight:'bold', color:'#0F6E56' }}&gt;02&lt;/Text&gt;&#10;        &lt;Text style={{ fontSize:26, fontWeight:'bold', color:'#0B2136', marginTop:6 }}&gt;DB 설계&lt;/Text&gt;&#10;        &lt;Text style={{ fontSize:15, fontWeight:'bold', color:'#0F6E56', marginTop:10 }}&gt;p.5–6&lt;/Text&gt;&#10;      &lt;/Box&gt;&lt;Box style={{ flex:1, background:'#FBF3E5', borderRadius:16, padding:'20px 22px' }}&gt;&#10;        &lt;Text style={{ fontSize:14, fontWeight:'bold', color:'#A06A00' }}&gt;03&lt;/Text&gt;&#10;        &lt;Text style={{ fontSize:26, fontWeight:'bold', color:'#0B2136', marginTop:6 }}&gt;구현 화면 · 연결&lt;/Text&gt;&#10;        &lt;Text style={{ fontSize:15, fontWeight:'bold', color:'#A06A00', marginTop:10 }}&gt;p.7–9&lt;/Text&gt;&#10;      &lt;/Box&gt;&#10;  &lt;/Box&gt;&#10;  &lt;Box style={{ width:'100%', height:'28px', marginTop:30, flexDirection:'row', justifyContent:'space-between' }}&gt;&#10;    &lt;Text style={{ fontSize:12, color:'#94A3B8' }}&gt;한양대학교 ERICA · 인공지능학과&lt;/Text&gt;&#10;    &lt;Text style={{ fontSize:12, color:'#94A3B8' }}&gt;1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 descr="{&quot;isTemplate&quot;:true,&quot;type&quot;:&quot;text&quot;}"/>
          <p:cNvSpPr txBox="1"/>
          <p:nvPr/>
        </p:nvSpPr>
        <p:spPr>
          <a:xfrm rot="0" flipH="0" flipV="0">
            <a:off x="609600" y="609600"/>
            <a:ext cx="3733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60">
                <a:solidFill>
                  <a:srgbClr val="64748B"/>
                </a:solidFill>
                <a:latin typeface="sans-serif"/>
                <a:ea typeface="sans-serif"/>
              </a:rPr>
              <a:t>㈜도로 × 한양대 ERICA IC-PBL 2026-2학기 · 중간발표</a:t>
            </a:r>
            <a:endParaRPr/>
          </a:p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4438650" y="638175"/>
            <a:ext cx="6381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⏱ 0:00–0:30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09600" y="1066800"/>
            <a:ext cx="10972800" cy="942975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5850" b="1">
                <a:solidFill>
                  <a:srgbClr val="0B2136"/>
                </a:solidFill>
                <a:latin typeface="sans-serif"/>
                <a:ea typeface="sans-serif"/>
              </a:rPr>
              <a:t xml:space="preserve">루미 </a:t>
            </a:r>
            <a:r>
              <a:rPr lang="en-US" sz="5850" b="1">
                <a:solidFill>
                  <a:srgbClr val="185FA5"/>
                </a:solidFill>
                <a:latin typeface="sans-serif"/>
                <a:ea typeface="sans-serif"/>
              </a:rPr>
              <a:t>RooMi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609600" y="2124075"/>
            <a:ext cx="109728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spc="30">
                <a:solidFill>
                  <a:srgbClr val="185FA5"/>
                </a:solidFill>
                <a:latin typeface="sans-serif"/>
                <a:ea typeface="sans-serif"/>
              </a:rPr>
              <a:t>Room + Me — 내 방(Room)에 사는 또 다른 나(Me)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09600" y="2495550"/>
            <a:ext cx="10972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33475B"/>
                </a:solidFill>
                <a:latin typeface="sans-serif"/>
                <a:ea typeface="sans-serif"/>
              </a:rPr>
              <a:t>색칠한 로봇이 마이룸에 살면서,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609600" y="2809875"/>
            <a:ext cx="10972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33475B"/>
                </a:solidFill>
                <a:latin typeface="sans-serif"/>
                <a:ea typeface="sans-serif"/>
              </a:rPr>
              <a:t>매일 돌아올 이유를 만든다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609600" y="321945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64748B"/>
                </a:solidFill>
                <a:latin typeface="sans-serif"/>
                <a:ea typeface="sans-serif"/>
              </a:rPr>
              <a:t>2026. 10. 26 (월) · 발표 8분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609600" y="3505200"/>
            <a:ext cx="10972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33475B"/>
                </a:solidFill>
                <a:latin typeface="sans-serif"/>
                <a:ea typeface="sans-serif"/>
              </a:rPr>
              <a:t>DOROLINK</a:t>
            </a:r>
            <a:r>
              <a:rPr lang="zh-CN" sz="1275">
                <a:solidFill>
                  <a:srgbClr val="33475B"/>
                </a:solidFill>
                <a:latin typeface="sans-serif"/>
                <a:ea typeface="sans-serif"/>
              </a:rPr>
              <a:t>　·　순첸디　·　이명명　·　후예량</a:t>
            </a:r>
            <a:endParaRPr/>
          </a:p>
        </p:txBody>
      </p:sp>
      <p:sp>
        <p:nvSpPr>
          <p:cNvPr id="11" name=""/>
          <p:cNvSpPr/>
          <p:nvPr/>
        </p:nvSpPr>
        <p:spPr>
          <a:xfrm rot="0" flipH="0" flipV="0">
            <a:off x="609600" y="4086225"/>
            <a:ext cx="3552825" cy="1428750"/>
          </a:xfrm>
          <a:prstGeom prst="roundRect">
            <a:avLst>
              <a:gd name="adj" fmla="val 1066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819150" y="4276725"/>
            <a:ext cx="3133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85FA5"/>
                </a:solidFill>
                <a:latin typeface="sans-serif"/>
                <a:ea typeface="sans-serif"/>
              </a:rPr>
              <a:t>01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819150" y="4495800"/>
            <a:ext cx="3133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 b="1">
                <a:solidFill>
                  <a:srgbClr val="0B2136"/>
                </a:solidFill>
                <a:latin typeface="sans-serif"/>
                <a:ea typeface="sans-serif"/>
              </a:rPr>
              <a:t>기획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819150" y="4895850"/>
            <a:ext cx="3133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85FA5"/>
                </a:solidFill>
                <a:latin typeface="sans-serif"/>
                <a:ea typeface="sans-serif"/>
              </a:rPr>
              <a:t>p.2–4</a:t>
            </a:r>
            <a:endParaRPr/>
          </a:p>
        </p:txBody>
      </p:sp>
      <p:sp>
        <p:nvSpPr>
          <p:cNvPr id="15" name=""/>
          <p:cNvSpPr/>
          <p:nvPr/>
        </p:nvSpPr>
        <p:spPr>
          <a:xfrm rot="0" flipH="0" flipV="0">
            <a:off x="4314825" y="4086225"/>
            <a:ext cx="3562350" cy="1428750"/>
          </a:xfrm>
          <a:prstGeom prst="roundRect">
            <a:avLst>
              <a:gd name="adj" fmla="val 10667"/>
            </a:avLst>
          </a:prstGeom>
          <a:solidFill>
            <a:srgbClr val="E9F5F0"/>
          </a:solidFill>
          <a:ln/>
        </p:spPr>
        <p:txBody>
          <a:bodyPr/>
          <a:p/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4524375" y="4276725"/>
            <a:ext cx="3143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F6E56"/>
                </a:solidFill>
                <a:latin typeface="sans-serif"/>
                <a:ea typeface="sans-serif"/>
              </a:rPr>
              <a:t>02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4524375" y="4495800"/>
            <a:ext cx="31432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0B2136"/>
                </a:solidFill>
                <a:latin typeface="sans-serif"/>
                <a:ea typeface="sans-serif"/>
              </a:rPr>
              <a:t>DB 설계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4524375" y="4895850"/>
            <a:ext cx="3143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F6E56"/>
                </a:solidFill>
                <a:latin typeface="sans-serif"/>
                <a:ea typeface="sans-serif"/>
              </a:rPr>
              <a:t>p.5–6</a:t>
            </a:r>
            <a:endParaRPr/>
          </a:p>
        </p:txBody>
      </p:sp>
      <p:sp>
        <p:nvSpPr>
          <p:cNvPr id="19" name=""/>
          <p:cNvSpPr/>
          <p:nvPr/>
        </p:nvSpPr>
        <p:spPr>
          <a:xfrm rot="0" flipH="0" flipV="0">
            <a:off x="8029575" y="4086225"/>
            <a:ext cx="3552825" cy="1428750"/>
          </a:xfrm>
          <a:prstGeom prst="roundRect">
            <a:avLst>
              <a:gd name="adj" fmla="val 10667"/>
            </a:avLst>
          </a:prstGeom>
          <a:solidFill>
            <a:srgbClr val="FBF3E5"/>
          </a:solidFill>
          <a:ln/>
        </p:spPr>
        <p:txBody>
          <a:bodyPr/>
          <a:p/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8239125" y="4276725"/>
            <a:ext cx="3133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A06A00"/>
                </a:solidFill>
                <a:latin typeface="sans-serif"/>
                <a:ea typeface="sans-serif"/>
              </a:rPr>
              <a:t>03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8239125" y="4495800"/>
            <a:ext cx="3133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0B2136"/>
                </a:solidFill>
                <a:latin typeface="sans-serif"/>
                <a:ea typeface="sans-serif"/>
              </a:rPr>
              <a:t>구현 화면 · 연결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8239125" y="4895850"/>
            <a:ext cx="3133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A06A00"/>
                </a:solidFill>
                <a:latin typeface="sans-serif"/>
                <a:ea typeface="sans-serif"/>
              </a:rPr>
              <a:t>p.7–9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609600" y="5800725"/>
            <a:ext cx="157162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한양대학교 ERICA · 인공지능학과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11296650" y="5800725"/>
            <a:ext cx="28575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1 / 11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51" name="" descr="&lt;Slide style={{ width:'1280px', height:'720px', padding:'44px', background:'#FFFFFF', fontFamily:'sans-serif' }}&gt;&#10;  &lt;Box style={{ width:'100%', height:'126px', justifyContent:'center' }}&gt;&#10;    &lt;Box style={{ flexDirection:'row', alignItems:'center', gap:10 }}&gt;&#10;      &lt;Text style={{ fontSize:13, fontWeight:'bold', color:'#185FA5', letterSpacing:1.6 }}&gt;01 · 기획&lt;/Text&gt;&#10;      &lt;Text style={{ fontSize:11, color:'#94A3B8' }}&gt;⏱ 0:30–1:40&lt;/Text&gt;&#10;    &lt;/Box&gt;&#10;    &lt;Text style={{ fontSize:40, fontWeight:'bold', color:'#0B2136', marginTop:8, lineHeight:1.1 }}&gt;수업은 주 1회, 아이는 매일 오지 않는다&lt;/Text&gt;&#10;    &lt;Text style={{ fontSize:18, color:'#64748B', marginTop:8 }}&gt;문제 정의 + 사례 조사&lt;/Text&gt;&#10;  &lt;/Box&gt;&#10;  &lt;Box style={{ width:'100%', height:'1px', background:'#E3EAF2' }} /&gt;&#10;  &lt;Box style={{ width:'100%', height:'456px', marginTop:'18px' }}&gt;&#10;&#10;    &lt;Box style={{ width:'100%', height:'120px', background:'#0E2438', borderRadius:14, padding:'22px 30px', justifyContent:'center' }}&gt;&#10;      &lt;Text style={{ fontSize:23, fontWeight:'bold', color:'#FFFFFF' }}&gt;&quot;수업이 없는 날에는 아이가 DOROBUS에 들어올 이유가 없습니다.&quot;&lt;/Text&gt;&#10;      &lt;Text style={{ fontSize:13, color:'#9FB6CC', marginTop:8 }}&gt;— 2026. 09. 28 기업 피드백&lt;/Text&gt;&#10;    &lt;/Box&gt;&#10;&#10;    &lt;Box style={{ width:'100%', height:'112px', flexDirection:'row', gap:12, marginTop:14 }}&gt;&#10;      &lt;Box style={{ flex:1, background:'#FDF2F2', borderRadius:12, padding:'14px 16px' }}&gt;&#10;          &lt;Text style={{ fontSize:15, fontWeight:'bold', color:'#A32D2D' }}&gt;①&lt;/Text&gt;&#10;          &lt;Text style={{ fontSize:17, fontWeight:'bold', color:'#0B2136', marginTop:4 }}&gt;접속 동기 없음&lt;/Text&gt;&#10;          &lt;Text style={{ fontSize:13.5, color:'#4A3030', marginTop:4 }}&gt;주 1회 수업, 나머지 6일은 빈 공간&lt;/Text&gt;&#10;        &lt;/Box&gt;&lt;Box style={{ flex:1, background:'#FDF2F2', borderRadius:12, padding:'14px 16px' }}&gt;&#10;          &lt;Text style={{ fontSize:15, fontWeight:'bold', color:'#A32D2D' }}&gt;②&lt;/Text&gt;&#10;          &lt;Text style={{ fontSize:17, fontWeight:'bold', color:'#0B2136', marginTop:4 }}&gt;셀 획득처 편중&lt;/Text&gt;&#10;          &lt;Text style={{ fontSize:13.5, color:'#4A3030', marginTop:4 }}&gt;수업·과제·타자 1등뿐&lt;/Text&gt;&#10;        &lt;/Box&gt;&lt;Box style={{ flex:1, background:'#FDF2F2', borderRadius:12, padding:'14px 16px' }}&gt;&#10;          &lt;Text style={{ fontSize:15, fontWeight:'bold', color:'#A32D2D' }}&gt;③&lt;/Text&gt;&#10;          &lt;Text style={{ fontSize:17, fontWeight:'bold', color:'#0B2136', marginTop:4 }}&gt;성장 실감 부족&lt;/Text&gt;&#10;          &lt;Text style={{ fontSize:13.5, color:'#4A3030', marginTop:4 }}&gt;&quot;어제보다&quot; 를 볼 장치가 약함&lt;/Text&gt;&#10;        &lt;/Box&gt;&#10;    &lt;/Box&gt;&#10;&#10;    &lt;Box style={{ width:'100%', background:'#E9F5F0', borderRadius:12, padding:'14px 20px', marginTop:14 }}&gt;&#10;      &lt;Text style={{ fontSize:15.5, fontWeight:'bold', color:'#0F6E56' }}&gt;사례 조사 → 공통점 3개&lt;/Text&gt;&#10;      &lt;Text style={{ fontSize:15, color:'#1F4A3A', marginTop:6 }}&gt;Duolingo = 연속 학습 · Roblox = 직접 만든 것에 대한 애착 · ZEP = 공간에 머무는 경험&lt;/Text&gt;&#10;    &lt;/Box&gt;&#10;&#10;    &lt;Text style={{ fontSize:14, color:'#64748B', marginTop:12 }}&gt;→ 매일 할 작은 과제 · 눈에 보이는 축적 · 내가 만든 것. 이 세 가지를 하나로 합쳤습니다.&lt;/Text&gt;&#10;  &#10;  &lt;/Box&gt;&#10;  &lt;Box style={{ width:'100%', height:'28px', marginTop:12, flexDirection:'row', justifyContent:'space-between', alignItems:'center' }}&gt;&#10;    &lt;Text style={{ fontSize:12, color:'#94A3B8' }}&gt;㈜도로 × 한양대 ERICA IC-PBL · 루미(RooMi)&lt;/Text&gt;&#10;    &lt;Text style={{ fontSize:12, color:'#94A3B8' }}&gt;2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419100" y="514350"/>
            <a:ext cx="561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185FA5"/>
                </a:solidFill>
                <a:latin typeface="sans-serif"/>
                <a:ea typeface="sans-serif"/>
              </a:rPr>
              <a:t>01 · 기획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1076325" y="523875"/>
            <a:ext cx="581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sans-serif"/>
                <a:ea typeface="sans-serif"/>
              </a:rPr>
              <a:t>⏱ 0:30–1:40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419100" y="742950"/>
            <a:ext cx="1135380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B2136"/>
                </a:solidFill>
                <a:latin typeface="sans-serif"/>
                <a:ea typeface="sans-serif"/>
              </a:rPr>
              <a:t>수업은 주 1회, 아이는 매일 오지 않는다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419100" y="1323975"/>
            <a:ext cx="11353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64748B"/>
                </a:solidFill>
                <a:latin typeface="sans-serif"/>
                <a:ea typeface="sans-serif"/>
              </a:rPr>
              <a:t>문제 정의 + 사례 조사</a:t>
            </a:r>
            <a:endParaRPr/>
          </a:p>
        </p:txBody>
      </p:sp>
      <p:sp>
        <p:nvSpPr>
          <p:cNvPr id="57" name=""/>
          <p:cNvSpPr/>
          <p:nvPr/>
        </p:nvSpPr>
        <p:spPr>
          <a:xfrm rot="0" flipH="0" flipV="0"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58" name=""/>
          <p:cNvSpPr/>
          <p:nvPr/>
        </p:nvSpPr>
        <p:spPr>
          <a:xfrm rot="0" flipH="0" flipV="0">
            <a:off x="419100" y="1800225"/>
            <a:ext cx="11353800" cy="1143000"/>
          </a:xfrm>
          <a:prstGeom prst="roundRect">
            <a:avLst>
              <a:gd name="adj" fmla="val 11667"/>
            </a:avLst>
          </a:prstGeom>
          <a:solidFill>
            <a:srgbClr val="0E2438"/>
          </a:solidFill>
          <a:ln/>
        </p:spPr>
        <p:txBody>
          <a:bodyPr/>
          <a:p/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704850" y="2124075"/>
            <a:ext cx="107823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725" b="1">
                <a:solidFill>
                  <a:srgbClr val="FFFFFF"/>
                </a:solidFill>
                <a:latin typeface="sans-serif"/>
                <a:ea typeface="sans-serif"/>
              </a:rPr>
              <a:t>"수업이 없는 날에는 아이가 DOROBUS에 들어올 이유가 없습니다."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704850" y="2466975"/>
            <a:ext cx="10782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FB6CC"/>
                </a:solidFill>
                <a:latin typeface="sans-serif"/>
                <a:ea typeface="sans-serif"/>
              </a:rPr>
              <a:t>— 2026. 09. 28 기업 피드백</a:t>
            </a:r>
            <a:endParaRPr/>
          </a:p>
        </p:txBody>
      </p:sp>
      <p:sp>
        <p:nvSpPr>
          <p:cNvPr id="61" name=""/>
          <p:cNvSpPr/>
          <p:nvPr/>
        </p:nvSpPr>
        <p:spPr>
          <a:xfrm rot="0" flipH="0" flipV="0">
            <a:off x="419100" y="3076575"/>
            <a:ext cx="3705225" cy="1066800"/>
          </a:xfrm>
          <a:prstGeom prst="roundRect">
            <a:avLst>
              <a:gd name="adj" fmla="val 10714"/>
            </a:avLst>
          </a:prstGeom>
          <a:solidFill>
            <a:srgbClr val="FDF2F2"/>
          </a:solidFill>
          <a:ln/>
        </p:spPr>
        <p:txBody>
          <a:bodyPr/>
          <a:p/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571500" y="3209925"/>
            <a:ext cx="3400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 b="1">
                <a:solidFill>
                  <a:srgbClr val="A32D2D"/>
                </a:solidFill>
                <a:latin typeface="sans-serif"/>
                <a:ea typeface="sans-serif"/>
              </a:rPr>
              <a:t>①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571500" y="3419475"/>
            <a:ext cx="3400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B2136"/>
                </a:solidFill>
                <a:latin typeface="sans-serif"/>
                <a:ea typeface="sans-serif"/>
              </a:rPr>
              <a:t>접속 동기 없음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571500" y="3657600"/>
            <a:ext cx="3400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4A3030"/>
                </a:solidFill>
                <a:latin typeface="sans-serif"/>
                <a:ea typeface="sans-serif"/>
              </a:rPr>
              <a:t>주 1회 수업, 나머지 6일은 빈 공간</a:t>
            </a:r>
            <a:endParaRPr/>
          </a:p>
        </p:txBody>
      </p:sp>
      <p:sp>
        <p:nvSpPr>
          <p:cNvPr id="65" name=""/>
          <p:cNvSpPr/>
          <p:nvPr/>
        </p:nvSpPr>
        <p:spPr>
          <a:xfrm rot="0" flipH="0" flipV="0">
            <a:off x="4238625" y="3076575"/>
            <a:ext cx="3714750" cy="1066800"/>
          </a:xfrm>
          <a:prstGeom prst="roundRect">
            <a:avLst>
              <a:gd name="adj" fmla="val 10714"/>
            </a:avLst>
          </a:prstGeom>
          <a:solidFill>
            <a:srgbClr val="FDF2F2"/>
          </a:solidFill>
          <a:ln/>
        </p:spPr>
        <p:txBody>
          <a:bodyPr/>
          <a:p/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4391025" y="3209925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 b="1">
                <a:solidFill>
                  <a:srgbClr val="A32D2D"/>
                </a:solidFill>
                <a:latin typeface="sans-serif"/>
                <a:ea typeface="sans-serif"/>
              </a:rPr>
              <a:t>②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4391025" y="3419475"/>
            <a:ext cx="34099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B2136"/>
                </a:solidFill>
                <a:latin typeface="sans-serif"/>
                <a:ea typeface="sans-serif"/>
              </a:rPr>
              <a:t>셀 획득처 편중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4391025" y="3657600"/>
            <a:ext cx="3409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4A3030"/>
                </a:solidFill>
                <a:latin typeface="sans-serif"/>
                <a:ea typeface="sans-serif"/>
              </a:rPr>
              <a:t>수업·과제·타자 1등뿐</a:t>
            </a:r>
            <a:endParaRPr/>
          </a:p>
        </p:txBody>
      </p:sp>
      <p:sp>
        <p:nvSpPr>
          <p:cNvPr id="69" name=""/>
          <p:cNvSpPr/>
          <p:nvPr/>
        </p:nvSpPr>
        <p:spPr>
          <a:xfrm rot="0" flipH="0" flipV="0">
            <a:off x="8067675" y="3076575"/>
            <a:ext cx="3705225" cy="1066800"/>
          </a:xfrm>
          <a:prstGeom prst="roundRect">
            <a:avLst>
              <a:gd name="adj" fmla="val 10714"/>
            </a:avLst>
          </a:prstGeom>
          <a:solidFill>
            <a:srgbClr val="FDF2F2"/>
          </a:solidFill>
          <a:ln/>
        </p:spPr>
        <p:txBody>
          <a:bodyPr/>
          <a:p/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8220075" y="3209925"/>
            <a:ext cx="3400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 b="1">
                <a:solidFill>
                  <a:srgbClr val="A32D2D"/>
                </a:solidFill>
                <a:latin typeface="sans-serif"/>
                <a:ea typeface="sans-serif"/>
              </a:rPr>
              <a:t>③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8220075" y="3419475"/>
            <a:ext cx="3400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B2136"/>
                </a:solidFill>
                <a:latin typeface="sans-serif"/>
                <a:ea typeface="sans-serif"/>
              </a:rPr>
              <a:t>성장 실감 부족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8220075" y="3657600"/>
            <a:ext cx="3400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4A3030"/>
                </a:solidFill>
                <a:latin typeface="sans-serif"/>
                <a:ea typeface="sans-serif"/>
              </a:rPr>
              <a:t>"어제보다" 를 볼 장치가 약함</a:t>
            </a:r>
            <a:endParaRPr/>
          </a:p>
        </p:txBody>
      </p:sp>
      <p:sp>
        <p:nvSpPr>
          <p:cNvPr id="73" name=""/>
          <p:cNvSpPr/>
          <p:nvPr/>
        </p:nvSpPr>
        <p:spPr>
          <a:xfrm rot="0" flipH="0" flipV="0">
            <a:off x="419100" y="4276725"/>
            <a:ext cx="11353800" cy="676275"/>
          </a:xfrm>
          <a:prstGeom prst="roundRect">
            <a:avLst>
              <a:gd name="adj" fmla="val 16901"/>
            </a:avLst>
          </a:prstGeom>
          <a:solidFill>
            <a:srgbClr val="E9F5F0"/>
          </a:solidFill>
          <a:ln/>
        </p:spPr>
        <p:txBody>
          <a:bodyPr/>
          <a:p/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609600" y="4410075"/>
            <a:ext cx="109728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 b="1">
                <a:solidFill>
                  <a:srgbClr val="0F6E56"/>
                </a:solidFill>
                <a:latin typeface="sans-serif"/>
                <a:ea typeface="sans-serif"/>
              </a:rPr>
              <a:t>사례 조사 → 공통점 3개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609600" y="464820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F4A3A"/>
                </a:solidFill>
                <a:latin typeface="sans-serif"/>
                <a:ea typeface="sans-serif"/>
              </a:rPr>
              <a:t>Duolingo = 연속 학습 · Roblox = 직접 만든 것에 대한 애착 · ZEP = 공간에 머무는 경험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419100" y="5067300"/>
            <a:ext cx="11353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sans-serif"/>
                <a:ea typeface="sans-serif"/>
              </a:rPr>
              <a:t>→ 매일 할 작은 과제 · 눈에 보이는 축적 · 내가 만든 것. 이 세 가지를 하나로 합쳤습니다.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419100" y="632460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11487150" y="6324600"/>
            <a:ext cx="285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2 / 11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79" name="" descr="&lt;Slide style={{ width:'1280px', height:'720px', padding:'44px', background:'#FFFFFF', fontFamily:'sans-serif' }}&gt;&#10;  &lt;Box style={{ width:'100%', height:'126px', justifyContent:'center' }}&gt;&#10;    &lt;Box style={{ flexDirection:'row', alignItems:'center', gap:10 }}&gt;&#10;      &lt;Text style={{ fontSize:13, fontWeight:'bold', color:'#185FA5', letterSpacing:1.6 }}&gt;01 · 기획&lt;/Text&gt;&#10;      &lt;Text style={{ fontSize:11, color:'#94A3B8' }}&gt;⏱ 1:40–2:50&lt;/Text&gt;&#10;    &lt;/Box&gt;&#10;    &lt;Text style={{ fontSize:40, fontWeight:'bold', color:'#0B2136', marginTop:8, lineHeight:1.1 }}&gt;기대효과 3가지에 이렇게 답한다&lt;/Text&gt;&#10;    &lt;Text style={{ fontSize:18, color:'#64748B', marginTop:8 }}&gt;회사 요구 + 평가 기준(창의성) 동시 대응&lt;/Text&gt;&#10;  &lt;/Box&gt;&#10;  &lt;Box style={{ width:'100%', height:'1px', background:'#E3EAF2' }} /&gt;&#10;  &lt;Box style={{ width:'100%', height:'456px', marginTop:'18px' }}&gt;&#10;&#10;    &lt;Box style={{ width:'100%', height:'270px', flexDirection:'column', gap:12 }}&gt;&#10;      &lt;Box style={{ background:'#E9F5F0', borderRadius:12, padding:'14px 24px', flexDirection:'row', alignItems:'center', gap:22 }}&gt;&#10;          &lt;Text style={{ fontSize:30, fontWeight:'bold', color:'#0F6E56', width:40 }}&gt;①&lt;/Text&gt;&#10;          &lt;Text style={{ fontSize:20, fontWeight:'bold', color:'#0B2136', width:230 }}&gt;성장 경험&lt;/Text&gt;&#10;          &lt;Text style={{ flex:1, fontSize:16, color:'#33475B' }}&gt;Lv · 성장 단계 · 7일 순환 스트릭&lt;/Text&gt;&#10;        &lt;/Box&gt;&lt;Box style={{ background:'#FBF3E5', borderRadius:12, padding:'14px 24px', flexDirection:'row', alignItems:'center', gap:22 }}&gt;&#10;          &lt;Text style={{ fontSize:30, fontWeight:'bold', color:'#A06A00', width:40 }}&gt;②&lt;/Text&gt;&#10;          &lt;Text style={{ fontSize:20, fontWeight:'bold', color:'#0B2136', width:230 }}&gt;수업도 콘텐츠&lt;/Text&gt;&#10;          &lt;Text style={{ flex:1, fontSize:16, color:'#33475B' }}&gt;수업 코드 출석 → +100셀 (과제 +30보다 큼)&lt;/Text&gt;&#10;        &lt;/Box&gt;&lt;Box style={{ background:'#EFEEFB', borderRadius:12, padding:'14px 24px', flexDirection:'row', alignItems:'center', gap:22 }}&gt;&#10;          &lt;Text style={{ fontSize:30, fontWeight:'bold', color:'#534AB7', width:40 }}&gt;③&lt;/Text&gt;&#10;          &lt;Text style={{ fontSize:20, fontWeight:'bold', color:'#0B2136', width:230 }}&gt;수업 없는 날&lt;/Text&gt;&#10;          &lt;Text style={{ flex:1, fontSize:16, color:'#33475B' }}&gt;매일 AI 과제 · 미니게임 · 공작소 AI · 우편함&lt;/Text&gt;&#10;        &lt;/Box&gt;&#10;    &lt;/Box&gt;&#10;&#10;    &lt;Box style={{ width:'100%', height:'156px', background:'#EDF4FC', borderRadius:12, padding:'16px 22px', marginTop:14 }}&gt;&#10;      &lt;Text style={{ fontSize:16, fontWeight:'bold', color:'#185FA5' }}&gt;평가 기준 「창의성」 3문항에 대한 답&lt;/Text&gt;&#10;      &lt;Text style={{ fontSize:15, color:'#33475B', marginTop:10, lineHeight:1.8 }}&gt;① 학습 관여 — 이번 주 수업 주제가 AI 과제 문제로 그대로 들어감&lt;br/&gt;② 새 이유 — 보상을 즉시 주지 않고 &lt;b&gt;우편함에 담아 직접 열게&lt;/b&gt; 함&lt;br/&gt;③ 독자 개발 — 15개 테이블·AI 파이프라인·화면 전부 자체 설계 (외부 에셋 0)&lt;/Text&gt;&#10;    &lt;/Box&gt;&#10;  &#10;  &lt;/Box&gt;&#10;  &lt;Box style={{ width:'100%', height:'28px', marginTop:12, flexDirection:'row', justifyContent:'space-between', alignItems:'center' }}&gt;&#10;    &lt;Text style={{ fontSize:12, color:'#94A3B8' }}&gt;㈜도로 × 한양대 ERICA IC-PBL · 루미(RooMi)&lt;/Text&gt;&#10;    &lt;Text style={{ fontSize:12, color:'#94A3B8' }}&gt;3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419100" y="514350"/>
            <a:ext cx="561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185FA5"/>
                </a:solidFill>
                <a:latin typeface="sans-serif"/>
                <a:ea typeface="sans-serif"/>
              </a:rPr>
              <a:t>01 · 기획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1076325" y="523875"/>
            <a:ext cx="581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sans-serif"/>
                <a:ea typeface="sans-serif"/>
              </a:rPr>
              <a:t>⏱ 1:40–2:50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419100" y="742950"/>
            <a:ext cx="1135380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B2136"/>
                </a:solidFill>
                <a:latin typeface="sans-serif"/>
                <a:ea typeface="sans-serif"/>
              </a:rPr>
              <a:t>기대효과 3가지에 이렇게 답한다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419100" y="1323975"/>
            <a:ext cx="11353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64748B"/>
                </a:solidFill>
                <a:latin typeface="sans-serif"/>
                <a:ea typeface="sans-serif"/>
              </a:rPr>
              <a:t>회사 요구 + 평가 기준(창의성) 동시 대응</a:t>
            </a:r>
            <a:endParaRPr/>
          </a:p>
        </p:txBody>
      </p:sp>
      <p:sp>
        <p:nvSpPr>
          <p:cNvPr id="85" name=""/>
          <p:cNvSpPr/>
          <p:nvPr/>
        </p:nvSpPr>
        <p:spPr>
          <a:xfrm rot="0" flipH="0" flipV="0"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86" name=""/>
          <p:cNvSpPr/>
          <p:nvPr/>
        </p:nvSpPr>
        <p:spPr>
          <a:xfrm rot="0" flipH="0" flipV="0">
            <a:off x="419100" y="1800225"/>
            <a:ext cx="11353800" cy="609600"/>
          </a:xfrm>
          <a:prstGeom prst="roundRect">
            <a:avLst>
              <a:gd name="adj" fmla="val 18750"/>
            </a:avLst>
          </a:prstGeom>
          <a:solidFill>
            <a:srgbClr val="E9F5F0"/>
          </a:solidFill>
          <a:ln/>
        </p:spPr>
        <p:txBody>
          <a:bodyPr/>
          <a:p/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647700" y="1933575"/>
            <a:ext cx="381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 b="1">
                <a:solidFill>
                  <a:srgbClr val="0F6E56"/>
                </a:solidFill>
                <a:latin typeface="sans-serif"/>
                <a:ea typeface="sans-serif"/>
              </a:rPr>
              <a:t>①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1238250" y="1990725"/>
            <a:ext cx="2190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B2136"/>
                </a:solidFill>
                <a:latin typeface="sans-serif"/>
                <a:ea typeface="sans-serif"/>
              </a:rPr>
              <a:t>성장 경험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3638550" y="2009775"/>
            <a:ext cx="7905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33475B"/>
                </a:solidFill>
                <a:latin typeface="sans-serif"/>
                <a:ea typeface="sans-serif"/>
              </a:rPr>
              <a:t>Lv · 성장 단계 · 7일 순환 스트릭</a:t>
            </a:r>
            <a:endParaRPr/>
          </a:p>
        </p:txBody>
      </p:sp>
      <p:sp>
        <p:nvSpPr>
          <p:cNvPr id="90" name=""/>
          <p:cNvSpPr/>
          <p:nvPr/>
        </p:nvSpPr>
        <p:spPr>
          <a:xfrm rot="0" flipH="0" flipV="0">
            <a:off x="419100" y="2524125"/>
            <a:ext cx="11353800" cy="609600"/>
          </a:xfrm>
          <a:prstGeom prst="roundRect">
            <a:avLst>
              <a:gd name="adj" fmla="val 18750"/>
            </a:avLst>
          </a:prstGeom>
          <a:solidFill>
            <a:srgbClr val="FBF3E5"/>
          </a:solidFill>
          <a:ln/>
        </p:spPr>
        <p:txBody>
          <a:bodyPr/>
          <a:p/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647700" y="2657475"/>
            <a:ext cx="381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 b="1">
                <a:solidFill>
                  <a:srgbClr val="A06A00"/>
                </a:solidFill>
                <a:latin typeface="sans-serif"/>
                <a:ea typeface="sans-serif"/>
              </a:rPr>
              <a:t>②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1238250" y="2714625"/>
            <a:ext cx="2190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B2136"/>
                </a:solidFill>
                <a:latin typeface="sans-serif"/>
                <a:ea typeface="sans-serif"/>
              </a:rPr>
              <a:t>수업도 콘텐츠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3638550" y="2733675"/>
            <a:ext cx="7905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33475B"/>
                </a:solidFill>
                <a:latin typeface="sans-serif"/>
                <a:ea typeface="sans-serif"/>
              </a:rPr>
              <a:t>수업 코드 출석 → +100셀 (과제 +30보다 큼)</a:t>
            </a:r>
            <a:endParaRPr/>
          </a:p>
        </p:txBody>
      </p:sp>
      <p:sp>
        <p:nvSpPr>
          <p:cNvPr id="94" name=""/>
          <p:cNvSpPr/>
          <p:nvPr/>
        </p:nvSpPr>
        <p:spPr>
          <a:xfrm rot="0" flipH="0" flipV="0">
            <a:off x="419100" y="3248025"/>
            <a:ext cx="11353800" cy="609600"/>
          </a:xfrm>
          <a:prstGeom prst="roundRect">
            <a:avLst>
              <a:gd name="adj" fmla="val 18750"/>
            </a:avLst>
          </a:prstGeom>
          <a:solidFill>
            <a:srgbClr val="EFEEFB"/>
          </a:solidFill>
          <a:ln/>
        </p:spPr>
        <p:txBody>
          <a:bodyPr/>
          <a:p/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647700" y="3381375"/>
            <a:ext cx="381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 b="1">
                <a:solidFill>
                  <a:srgbClr val="534AB7"/>
                </a:solidFill>
                <a:latin typeface="sans-serif"/>
                <a:ea typeface="sans-serif"/>
              </a:rPr>
              <a:t>③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1238250" y="3438525"/>
            <a:ext cx="2190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B2136"/>
                </a:solidFill>
                <a:latin typeface="sans-serif"/>
                <a:ea typeface="sans-serif"/>
              </a:rPr>
              <a:t>수업 없는 날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3638550" y="3457575"/>
            <a:ext cx="7905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33475B"/>
                </a:solidFill>
                <a:latin typeface="sans-serif"/>
                <a:ea typeface="sans-serif"/>
              </a:rPr>
              <a:t>매일 AI 과제 · 미니게임 · 공작소 AI · 우편함</a:t>
            </a:r>
            <a:endParaRPr/>
          </a:p>
        </p:txBody>
      </p:sp>
      <p:sp>
        <p:nvSpPr>
          <p:cNvPr id="98" name=""/>
          <p:cNvSpPr/>
          <p:nvPr/>
        </p:nvSpPr>
        <p:spPr>
          <a:xfrm rot="0" flipH="0" flipV="0">
            <a:off x="419100" y="4505325"/>
            <a:ext cx="11353800" cy="1485900"/>
          </a:xfrm>
          <a:prstGeom prst="roundRect">
            <a:avLst>
              <a:gd name="adj" fmla="val 769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628650" y="4657725"/>
            <a:ext cx="10934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85FA5"/>
                </a:solidFill>
                <a:latin typeface="sans-serif"/>
                <a:ea typeface="sans-serif"/>
              </a:rPr>
              <a:t xml:space="preserve">평가 기준 </a:t>
            </a:r>
            <a:r>
              <a:rPr lang="zh-CN" sz="1200" b="1">
                <a:solidFill>
                  <a:srgbClr val="185FA5"/>
                </a:solidFill>
                <a:latin typeface="sans-serif"/>
                <a:ea typeface="sans-serif"/>
              </a:rPr>
              <a:t>「창의성」</a:t>
            </a:r>
            <a:r>
              <a:rPr lang="en-US" sz="1200" b="1">
                <a:solidFill>
                  <a:srgbClr val="185FA5"/>
                </a:solidFill>
                <a:latin typeface="sans-serif"/>
                <a:ea typeface="sans-serif"/>
              </a:rPr>
              <a:t xml:space="preserve"> 3문항에 대한 답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628650" y="4943475"/>
            <a:ext cx="10934700" cy="933450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① 학습 관여 — 이번 주 수업 주제가 AI 과제 문제로 그대로 들어감</a:t>
            </a:r>
            <a:endParaRPr/>
          </a:p>
          <a:p>
            <a:pPr>
              <a:lnSpc>
                <a:spcPct val="180000"/>
              </a:lnSpc>
            </a:pP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 xml:space="preserve">② 새 이유 — 보상을 즉시 주지 않고 </a:t>
            </a: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우편함에 담아 직접 열게</a:t>
            </a: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 xml:space="preserve"> 함</a:t>
            </a:r>
            <a:endParaRPr/>
          </a:p>
          <a:p>
            <a:pPr>
              <a:lnSpc>
                <a:spcPct val="180000"/>
              </a:lnSpc>
            </a:pP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③ 독자 개발 — 15개 테이블·AI 파이프라인·화면 전부 자체 설계 (외부 에셋 0)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419100" y="632460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11487150" y="6324600"/>
            <a:ext cx="285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3 / 11</a:t>
            </a:r>
            <a:endParaRPr/>
          </a:p>
        </p:txBody>
      </p:sp>
    </p:spTree>
  </p:cSld>
</p:sld>
</file>

<file path=ppt/slides/slide4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103" name="" descr="&lt;Slide style={{ width:'1280px', height:'720px', padding:'44px', background:'#FFFFFF', fontFamily:'sans-serif' }}&gt;&#10;  &lt;Box style={{ width:'100%', height:'126px', justifyContent:'center' }}&gt;&#10;    &lt;Box style={{ flexDirection:'row', alignItems:'center', gap:10 }}&gt;&#10;      &lt;Text style={{ fontSize:13, fontWeight:'bold', color:'#185FA5', letterSpacing:1.6 }}&gt;01 · 기획&lt;/Text&gt;&#10;      &lt;Text style={{ fontSize:11, color:'#94A3B8' }}&gt;⏱ 2:50–4:00&lt;/Text&gt;&#10;    &lt;/Box&gt;&#10;    &lt;Text style={{ fontSize:40, fontWeight:'bold', color:'#0B2136', marginTop:8, lineHeight:1.1 }}&gt;접속 → 사용 → 보상 → 재접속&lt;/Text&gt;&#10;    &lt;Text style={{ fontSize:18, color:'#64748B', marginTop:8 }}&gt;순환 구조와 셀 흐름 (한 장 요약)&lt;/Text&gt;&#10;  &lt;/Box&gt;&#10;  &lt;Box style={{ width:'100%', height:'1px', background:'#E3EAF2' }} /&gt;&#10;  &lt;Box style={{ width:'100%', height:'456px', marginTop:'18px' }}&gt;&#10;&#10;    &lt;Box style={{ width:'100%', height:'456px', flexDirection:'row', gap:22 }}&gt;&#10;      &lt;Box style={{ width:760, height:456, background:'#F6F8FB', borderRadius:14, padding:8, alignItems:'center', justifyContent:'center' }}&gt;&#10;        &lt;Image src=&quot;assets/flow.png&quot; style={{ width:744, height:438 }} /&gt;&#10;      &lt;/Box&gt;&#10;      &lt;Box style={{ flex:1, justifyContent:'center', gap:12 }}&gt;&#10;        &lt;Text style={{ fontSize:19, fontWeight:'bold', color:'#0B2136' }}&gt;핵심은 ⑤ → ②&lt;/Text&gt;&#10;        &lt;Text style={{ fontSize:15.5, color:'#33475B', lineHeight:1.6 }}&gt;부품을 사서 꾸미고 싶어지면 다시 접속합니다.&lt;/Text&gt;&#10;        &lt;Box style={{ height:1, background:'#E3EAF2' }} /&gt;&#10;        &lt;Text style={{ fontSize:19, fontWeight:'bold', color:'#A06A00' }}&gt;획득 6곳 · 소비 5곳&lt;/Text&gt;&#10;        &lt;Text style={{ fontSize:15, color:'#33475B', lineHeight:1.65 }}&gt;가입 · 로봇 완성 · 매일 과제 · 게임 · 스트릭 · &lt;b&gt;수업 출석&lt;/b&gt;&lt;br/&gt;부품 · 장식 · 스킨 · 조각 교환&lt;/Text&gt;&#10;        &lt;Text style={{ fontSize:13.5, color:'#A32D2D', lineHeight:1.5 }}&gt;교환은 정가 기준 — 가격표가 유지됩니다&lt;/Text&gt;&#10;      &lt;/Box&gt;&#10;    &lt;/Box&gt;&#10;  &#10;  &lt;/Box&gt;&#10;  &lt;Box style={{ width:'100%', height:'28px', marginTop:12, flexDirection:'row', justifyContent:'space-between', alignItems:'center' }}&gt;&#10;    &lt;Text style={{ fontSize:12, color:'#94A3B8' }}&gt;㈜도로 × 한양대 ERICA IC-PBL · 루미(RooMi)&lt;/Text&gt;&#10;    &lt;Text style={{ fontSize:12, color:'#94A3B8' }}&gt;4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419100" y="514350"/>
            <a:ext cx="561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185FA5"/>
                </a:solidFill>
                <a:latin typeface="sans-serif"/>
                <a:ea typeface="sans-serif"/>
              </a:rPr>
              <a:t>01 · 기획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1076325" y="523875"/>
            <a:ext cx="581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sans-serif"/>
                <a:ea typeface="sans-serif"/>
              </a:rPr>
              <a:t>⏱ 2:50–4:00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419100" y="742950"/>
            <a:ext cx="1135380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B2136"/>
                </a:solidFill>
                <a:latin typeface="sans-serif"/>
                <a:ea typeface="sans-serif"/>
              </a:rPr>
              <a:t>접속 → 사용 → 보상 → 재접속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419100" y="1323975"/>
            <a:ext cx="11353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64748B"/>
                </a:solidFill>
                <a:latin typeface="sans-serif"/>
                <a:ea typeface="sans-serif"/>
              </a:rPr>
              <a:t>순환 구조와 셀 흐름 (한 장 요약)</a:t>
            </a:r>
            <a:endParaRPr/>
          </a:p>
        </p:txBody>
      </p:sp>
      <p:sp>
        <p:nvSpPr>
          <p:cNvPr id="109" name=""/>
          <p:cNvSpPr/>
          <p:nvPr/>
        </p:nvSpPr>
        <p:spPr>
          <a:xfrm rot="0" flipH="0" flipV="0"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110" name=""/>
          <p:cNvSpPr/>
          <p:nvPr/>
        </p:nvSpPr>
        <p:spPr>
          <a:xfrm rot="0" flipH="0" flipV="0">
            <a:off x="419100" y="1800225"/>
            <a:ext cx="7239000" cy="4343400"/>
          </a:xfrm>
          <a:prstGeom prst="roundRect">
            <a:avLst>
              <a:gd name="adj" fmla="val 3070"/>
            </a:avLst>
          </a:prstGeom>
          <a:solidFill>
            <a:srgbClr val="F6F8FB"/>
          </a:solidFill>
          <a:ln/>
        </p:spPr>
        <p:txBody>
          <a:bodyPr/>
          <a:p/>
        </p:txBody>
      </p:sp>
      <p:pic>
        <p:nvPicPr>
          <p:cNvPr id="111" name=""/>
          <p:cNvPicPr>
            <a:picLocks noChangeAspect="1"/>
          </p:cNvPicPr>
          <p:nvPr/>
        </p:nvPicPr>
        <p:blipFill>
          <a:blip r:embed="rId1"/>
          <a:srcRect l="11" t="0" r="11" b="0"/>
          <a:stretch>
            <a:fillRect/>
          </a:stretch>
        </p:blipFill>
        <p:spPr>
          <a:xfrm rot="0" flipH="0" flipV="0">
            <a:off x="495300" y="1885950"/>
            <a:ext cx="7086600" cy="4171950"/>
          </a:xfrm>
          <a:prstGeom prst="rect">
            <a:avLst/>
          </a:prstGeom>
          <a:ln/>
        </p:spPr>
      </p:pic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7867650" y="2914650"/>
            <a:ext cx="3905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B2136"/>
                </a:solidFill>
                <a:latin typeface="sans-serif"/>
                <a:ea typeface="sans-serif"/>
              </a:rPr>
              <a:t>핵심은 ⑤ → ②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7867650" y="3248025"/>
            <a:ext cx="3905250" cy="2857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부품을 사서 꾸미고 싶어지면 다시 접속합니다.</a:t>
            </a:r>
            <a:endParaRPr/>
          </a:p>
        </p:txBody>
      </p:sp>
      <p:sp>
        <p:nvSpPr>
          <p:cNvPr id="114" name=""/>
          <p:cNvSpPr/>
          <p:nvPr/>
        </p:nvSpPr>
        <p:spPr>
          <a:xfrm rot="0" flipH="0" flipV="0">
            <a:off x="7867650" y="3648075"/>
            <a:ext cx="390525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7867650" y="3771900"/>
            <a:ext cx="3905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A06A00"/>
                </a:solidFill>
                <a:latin typeface="sans-serif"/>
                <a:ea typeface="sans-serif"/>
              </a:rPr>
              <a:t>획득 6곳 · 소비 5곳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7867650" y="4105275"/>
            <a:ext cx="3905250" cy="5715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 xml:space="preserve">가입 · 로봇 완성 · 매일 과제 · 게임 · 스트릭 · </a:t>
            </a: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수업 출석</a:t>
            </a:r>
            <a:endParaRPr/>
          </a:p>
          <a:p>
            <a:pPr>
              <a:lnSpc>
                <a:spcPct val="165000"/>
              </a:lnSpc>
            </a:pP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부품 · 장식 · 스킨 · 조각 교환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7867650" y="4791075"/>
            <a:ext cx="3905250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13">
                <a:solidFill>
                  <a:srgbClr val="A32D2D"/>
                </a:solidFill>
                <a:latin typeface="sans-serif"/>
                <a:ea typeface="sans-serif"/>
              </a:rPr>
              <a:t>교환은 정가 기준 — 가격표가 유지됩니다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419100" y="632460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11487150" y="6324600"/>
            <a:ext cx="285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4 / 11</a:t>
            </a:r>
            <a:endParaRPr/>
          </a:p>
        </p:txBody>
      </p:sp>
    </p:spTree>
  </p:cSld>
</p:sld>
</file>

<file path=ppt/slides/slide5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120" name="" descr="&lt;Slide style={{ width:'1280px', height:'720px', padding:'44px', background:'#FFFFFF', fontFamily:'sans-serif' }}&gt;&#10;  &lt;Box style={{ width:'100%', height:'126px', justifyContent:'center' }}&gt;&#10;    &lt;Box style={{ flexDirection:'row', alignItems:'center', gap:10 }}&gt;&#10;      &lt;Text style={{ fontSize:13, fontWeight:'bold', color:'#185FA5', letterSpacing:1.6 }}&gt;02 · DB 설계&lt;/Text&gt;&#10;      &lt;Text style={{ fontSize:11, color:'#94A3B8' }}&gt;⏱ 4:00–4:50&lt;/Text&gt;&#10;    &lt;/Box&gt;&#10;    &lt;Text style={{ fontSize:40, fontWeight:'bold', color:'#0B2136', marginTop:8, lineHeight:1.1 }}&gt;DB 설계 ① — 데이터 모델&lt;/Text&gt;&#10;    &lt;Text style={{ fontSize:18, color:'#64748B', marginTop:8 }}&gt;15개 테이블 · users 중심 1:N&lt;/Text&gt;&#10;  &lt;/Box&gt;&#10;  &lt;Box style={{ width:'100%', height:'1px', background:'#E3EAF2' }} /&gt;&#10;  &lt;Box style={{ width:'100%', height:'456px', marginTop:'18px' }}&gt;&#10;&#10;    &lt;Box style={{ width:'100%', height:'456px', flexDirection:'row', gap:20 }}&gt;&#10;      &lt;Box style={{ width:749, height:456, background:'#F6F8FB', borderRadius:14, padding:8, alignItems:'center', justifyContent:'center' }}&gt;&#10;        &lt;Image src=&quot;assets/er6.png&quot; style={{ width:733, height:440 }} /&gt;&#10;      &lt;/Box&gt;&#10;      &lt;Box style={{ flex:1, justifyContent:'center', gap:12 }}&gt;&#10;        &lt;Text style={{ fontSize:19, fontWeight:'bold', color:'#0B2136' }}&gt;왜 관계형인가&lt;/Text&gt;&#10;        &lt;Text style={{ fontSize:14.5, color:'#33475B', lineHeight:1.65 }}&gt;로봇·재화·과제 이력이 모두 사용자에 귀속 → &quot;다시 접속해도 어제의 내 상태&quot;가 성립&lt;/Text&gt;&#10;        &lt;Box style={{ height:1, background:'#E3EAF2' }} /&gt;&#10;        &lt;Text style={{ fontSize:19, fontWeight:'bold', color:'#A32D2D' }}&gt;UNIQUE = 게임 규칙&lt;/Text&gt;&#10;        &lt;Text style={{ fontSize:14.5, color:'#33475B', lineHeight:1.65 }}&gt;과제 1일 1회·게임 1일 1회·수업 주 1회를 DB가 강제&lt;/Text&gt;&#10;        &lt;Text style={{ fontSize:13, color:'#64748B' }}&gt;전체는 p.10 부록&lt;/Text&gt;&#10;      &lt;/Box&gt;&#10;    &lt;/Box&gt;&#10;  &#10;  &lt;/Box&gt;&#10;  &lt;Box style={{ width:'100%', height:'28px', marginTop:12, flexDirection:'row', justifyContent:'space-between', alignItems:'center' }}&gt;&#10;    &lt;Text style={{ fontSize:12, color:'#94A3B8' }}&gt;㈜도로 × 한양대 ERICA IC-PBL · 루미(RooMi)&lt;/Text&gt;&#10;    &lt;Text style={{ fontSize:12, color:'#94A3B8' }}&gt;5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419100" y="514350"/>
            <a:ext cx="828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185FA5"/>
                </a:solidFill>
                <a:latin typeface="sans-serif"/>
                <a:ea typeface="sans-serif"/>
              </a:rPr>
              <a:t>02 · DB 설계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1343025" y="523875"/>
            <a:ext cx="581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sans-serif"/>
                <a:ea typeface="sans-serif"/>
              </a:rPr>
              <a:t>⏱ 4:00–4:50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419100" y="742950"/>
            <a:ext cx="1135380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B2136"/>
                </a:solidFill>
                <a:latin typeface="sans-serif"/>
                <a:ea typeface="sans-serif"/>
              </a:rPr>
              <a:t>DB 설계 ① — 데이터 모델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419100" y="1323975"/>
            <a:ext cx="11353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64748B"/>
                </a:solidFill>
                <a:latin typeface="sans-serif"/>
                <a:ea typeface="sans-serif"/>
              </a:rPr>
              <a:t>15개 테이블 · users 중심 1:N</a:t>
            </a:r>
            <a:endParaRPr/>
          </a:p>
        </p:txBody>
      </p:sp>
      <p:sp>
        <p:nvSpPr>
          <p:cNvPr id="126" name=""/>
          <p:cNvSpPr/>
          <p:nvPr/>
        </p:nvSpPr>
        <p:spPr>
          <a:xfrm rot="0" flipH="0" flipV="0"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127" name=""/>
          <p:cNvSpPr/>
          <p:nvPr/>
        </p:nvSpPr>
        <p:spPr>
          <a:xfrm rot="0" flipH="0" flipV="0">
            <a:off x="419100" y="1800225"/>
            <a:ext cx="7134225" cy="4343400"/>
          </a:xfrm>
          <a:prstGeom prst="roundRect">
            <a:avLst>
              <a:gd name="adj" fmla="val 3070"/>
            </a:avLst>
          </a:prstGeom>
          <a:solidFill>
            <a:srgbClr val="F6F8FB"/>
          </a:solidFill>
          <a:ln/>
        </p:spPr>
        <p:txBody>
          <a:bodyPr/>
          <a:p/>
        </p:txBody>
      </p:sp>
      <p:pic>
        <p:nvPicPr>
          <p:cNvPr id="128" name=""/>
          <p:cNvPicPr>
            <a:picLocks noChangeAspect="1"/>
          </p:cNvPicPr>
          <p:nvPr/>
        </p:nvPicPr>
        <p:blipFill>
          <a:blip r:embed="rId1"/>
          <a:srcRect l="22" t="0" r="22" b="0"/>
          <a:stretch>
            <a:fillRect/>
          </a:stretch>
        </p:blipFill>
        <p:spPr>
          <a:xfrm rot="0" flipH="0" flipV="0">
            <a:off x="495300" y="1876425"/>
            <a:ext cx="6981825" cy="4191000"/>
          </a:xfrm>
          <a:prstGeom prst="rect">
            <a:avLst/>
          </a:prstGeom>
          <a:ln/>
        </p:spPr>
      </p:pic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7743825" y="2971800"/>
            <a:ext cx="40290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B2136"/>
                </a:solidFill>
                <a:latin typeface="sans-serif"/>
                <a:ea typeface="sans-serif"/>
              </a:rPr>
              <a:t>왜 관계형인가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7743825" y="3305175"/>
            <a:ext cx="402907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088">
                <a:solidFill>
                  <a:srgbClr val="33475B"/>
                </a:solidFill>
                <a:latin typeface="sans-serif"/>
                <a:ea typeface="sans-serif"/>
              </a:rPr>
              <a:t>로봇·재화·과제 이력이 모두 사용자에 귀속 → "다시 접속해도 어제의 내 상태"가 성립</a:t>
            </a:r>
            <a:endParaRPr/>
          </a:p>
        </p:txBody>
      </p:sp>
      <p:sp>
        <p:nvSpPr>
          <p:cNvPr id="131" name=""/>
          <p:cNvSpPr/>
          <p:nvPr/>
        </p:nvSpPr>
        <p:spPr>
          <a:xfrm rot="0" flipH="0" flipV="0">
            <a:off x="7743825" y="3971925"/>
            <a:ext cx="4029075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7743825" y="4095750"/>
            <a:ext cx="40290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A32D2D"/>
                </a:solidFill>
                <a:latin typeface="sans-serif"/>
                <a:ea typeface="sans-serif"/>
              </a:rPr>
              <a:t>UNIQUE = 게임 규칙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7743825" y="4429125"/>
            <a:ext cx="4029075" cy="27622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1088">
                <a:solidFill>
                  <a:srgbClr val="33475B"/>
                </a:solidFill>
                <a:latin typeface="sans-serif"/>
                <a:ea typeface="sans-serif"/>
              </a:rPr>
              <a:t>과제 1일 1회·게임 1일 1회·수업 주 1회를 DB가 강제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7743825" y="4819650"/>
            <a:ext cx="40290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sans-serif"/>
                <a:ea typeface="sans-serif"/>
              </a:rPr>
              <a:t>전체는 p.10 부록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419100" y="632460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11487150" y="6324600"/>
            <a:ext cx="285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5 / 11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37" name="" descr="&lt;Slide style={{ width:'1280px', height:'720px', padding:'44px', background:'#FFFFFF', fontFamily:'sans-serif' }}&gt;&#10;  &lt;Box style={{ width:'100%', height:'126px', justifyContent:'center' }}&gt;&#10;    &lt;Box style={{ flexDirection:'row', alignItems:'center', gap:10 }}&gt;&#10;      &lt;Text style={{ fontSize:13, fontWeight:'bold', color:'#185FA5', letterSpacing:1.6 }}&gt;02 · DB 설계&lt;/Text&gt;&#10;      &lt;Text style={{ fontSize:11, color:'#94A3B8' }}&gt;⏱ 4:50–5:50&lt;/Text&gt;&#10;    &lt;/Box&gt;&#10;    &lt;Text style={{ fontSize:40, fontWeight:'bold', color:'#0B2136', marginTop:8, lineHeight:1.1 }}&gt;DB 설계 ② — 제약 8종 · 지표 4종&lt;/Text&gt;&#10;    &lt;Text style={{ fontSize:18, color:'#64748B', marginTop:8 }}&gt;규칙은 DB가 지키고, 지표도 DB가 계산&lt;/Text&gt;&#10;  &lt;/Box&gt;&#10;  &lt;Box style={{ width:'100%', height:'1px', background:'#E3EAF2' }} /&gt;&#10;  &lt;Box style={{ width:'100%', height:'456px', marginTop:'18px' }}&gt;&#10;&#10;    &lt;Box style={{ width:'100%', height:'456px', flexDirection:'column', gap:12 }}&gt;&#10;      &lt;Box style={{ height:88, background:'#F6F8FB', borderRadius:12, padding:'14px 20px' }}&gt;&#10;        &lt;Text style={{ fontSize:17, fontWeight:'bold', color:'#185FA5' }}&gt;15개 테이블 · 4개 도메인&lt;/Text&gt;&#10;        &lt;Text style={{ fontSize:15.5, color:'#33475B', marginTop:6 }}&gt;사용자·자산 4　·　기준 데이터 3　·　학습 콘텐츠 2　·　활동·지표 6&lt;/Text&gt;&#10;      &lt;/Box&gt;&#10;&#10;      &lt;Box style={{ height:186, background:'#FDF2F2', borderRadius:12, padding:'14px 20px' }}&gt;&#10;        &lt;Text style={{ fontSize:17, fontWeight:'bold', color:'#A32D2D' }}&gt;UNIQUE 8종 = 어뷰징 차단&lt;/Text&gt;&#10;        &lt;Box style={{ flexDirection:'row', gap:26, marginTop:10 }}&gt;&#10;          &lt;Text style={{ flex:1, fontSize:14.5, color:'#4A2A2A', lineHeight:1.75 }}&gt;· 로봇 1기 — robots(user_id)&lt;br/&gt;· 과제 1일 1회 — quest_logs&lt;br/&gt;· 게임 종류별 1일 1회 — game_logs&lt;br/&gt;· 수업 출석 주 1회 — class_logs&lt;/Text&gt;&#10;          &lt;Text style={{ flex:1, fontSize:14.5, color:'#4A2A2A', lineHeight:1.75 }}&gt;· 공작소 일일 1회 — workshop_logs&lt;br/&gt;· 상호작용 1일 1회 — interact_logs&lt;br/&gt;· 우편 중복 차단 — mailbox(tag)&lt;br/&gt;· 주제 주 1회 — weekly_topics&lt;/Text&gt;&#10;        &lt;/Box&gt;&#10;      &lt;/Box&gt;&#10;&#10;      &lt;Box style={{ flex:1, background:'#E9F5F0', borderRadius:12, padding:'14px 20px' }}&gt;&#10;        &lt;Box style={{ flexDirection:'row', alignItems:'center', gap:16 }}&gt;&#10;          &lt;Box style={{ width:150 }}&gt;&#10;            &lt;Text style={{ fontSize:17, fontWeight:'bold', color:'#0F6E56' }}&gt;평가 4대 지표&lt;/Text&gt;&#10;            &lt;Text style={{ fontSize:13, color:'#0F6E56', marginTop:2 }}&gt;= SQL 집계&lt;/Text&gt;&#10;          &lt;/Box&gt;&#10;          &lt;Text style={{ flex:1, fontSize:14.5, color:'#1F4A3A', lineHeight:1.8 }}&gt;재접속률 — visits&lt;br/&gt;체류시간 — visits.duration&lt;/Text&gt;&#10;          &lt;Text style={{ flex:1, fontSize:14.5, color:'#1F4A3A', lineHeight:1.8 }}&gt;셀 사용량 — cell_tx&lt;br/&gt;과제 제출률 — quest_logs&lt;/Text&gt;&#10;        &lt;/Box&gt;&#10;      &lt;/Box&gt;&#10;    &lt;/Box&gt;&#10;  &#10;  &lt;/Box&gt;&#10;  &lt;Box style={{ width:'100%', height:'28px', marginTop:12, flexDirection:'row', justifyContent:'space-between', alignItems:'center' }}&gt;&#10;    &lt;Text style={{ fontSize:12, color:'#94A3B8' }}&gt;㈜도로 × 한양대 ERICA IC-PBL · 루미(RooMi)&lt;/Text&gt;&#10;    &lt;Text style={{ fontSize:12, color:'#94A3B8' }}&gt;6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419100" y="514350"/>
            <a:ext cx="828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185FA5"/>
                </a:solidFill>
                <a:latin typeface="sans-serif"/>
                <a:ea typeface="sans-serif"/>
              </a:rPr>
              <a:t>02 · DB 설계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1343025" y="523875"/>
            <a:ext cx="581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sans-serif"/>
                <a:ea typeface="sans-serif"/>
              </a:rPr>
              <a:t>⏱ 4:50–5:50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419100" y="742950"/>
            <a:ext cx="1135380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B2136"/>
                </a:solidFill>
                <a:latin typeface="sans-serif"/>
                <a:ea typeface="sans-serif"/>
              </a:rPr>
              <a:t>DB 설계 ② — 제약 8종 · 지표 4종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419100" y="1323975"/>
            <a:ext cx="11353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64748B"/>
                </a:solidFill>
                <a:latin typeface="sans-serif"/>
                <a:ea typeface="sans-serif"/>
              </a:rPr>
              <a:t>규칙은 DB가 지키고, 지표도 DB가 계산</a:t>
            </a:r>
            <a:endParaRPr/>
          </a:p>
        </p:txBody>
      </p:sp>
      <p:sp>
        <p:nvSpPr>
          <p:cNvPr id="143" name=""/>
          <p:cNvSpPr/>
          <p:nvPr/>
        </p:nvSpPr>
        <p:spPr>
          <a:xfrm rot="0" flipH="0" flipV="0"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144" name=""/>
          <p:cNvSpPr/>
          <p:nvPr/>
        </p:nvSpPr>
        <p:spPr>
          <a:xfrm rot="0" flipH="0" flipV="0">
            <a:off x="419100" y="1800225"/>
            <a:ext cx="11353800" cy="838200"/>
          </a:xfrm>
          <a:prstGeom prst="roundRect">
            <a:avLst>
              <a:gd name="adj" fmla="val 13636"/>
            </a:avLst>
          </a:prstGeom>
          <a:solidFill>
            <a:srgbClr val="F6F8FB"/>
          </a:solidFill>
          <a:ln/>
        </p:spPr>
        <p:txBody>
          <a:bodyPr/>
          <a:p/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609600" y="1933575"/>
            <a:ext cx="10972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85FA5"/>
                </a:solidFill>
                <a:latin typeface="sans-serif"/>
                <a:ea typeface="sans-serif"/>
              </a:rPr>
              <a:t>15개 테이블 · 4개 도메인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609600" y="2190750"/>
            <a:ext cx="109728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사용자·자산 4</a:t>
            </a:r>
            <a:r>
              <a:rPr lang="zh-CN" sz="1163">
                <a:solidFill>
                  <a:srgbClr val="33475B"/>
                </a:solidFill>
                <a:latin typeface="sans-serif"/>
                <a:ea typeface="sans-serif"/>
              </a:rPr>
              <a:t>　·　기준</a:t>
            </a: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 xml:space="preserve"> 데이터 3</a:t>
            </a:r>
            <a:r>
              <a:rPr lang="zh-CN" sz="1163">
                <a:solidFill>
                  <a:srgbClr val="33475B"/>
                </a:solidFill>
                <a:latin typeface="sans-serif"/>
                <a:ea typeface="sans-serif"/>
              </a:rPr>
              <a:t>　·　학습</a:t>
            </a: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 xml:space="preserve"> 콘텐츠 2</a:t>
            </a:r>
            <a:r>
              <a:rPr lang="zh-CN" sz="1163">
                <a:solidFill>
                  <a:srgbClr val="33475B"/>
                </a:solidFill>
                <a:latin typeface="sans-serif"/>
                <a:ea typeface="sans-serif"/>
              </a:rPr>
              <a:t>　·　활동·지표</a:t>
            </a: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 xml:space="preserve"> 6</a:t>
            </a:r>
            <a:endParaRPr/>
          </a:p>
        </p:txBody>
      </p:sp>
      <p:sp>
        <p:nvSpPr>
          <p:cNvPr id="147" name=""/>
          <p:cNvSpPr/>
          <p:nvPr/>
        </p:nvSpPr>
        <p:spPr>
          <a:xfrm rot="0" flipH="0" flipV="0">
            <a:off x="419100" y="2752725"/>
            <a:ext cx="11353800" cy="1771650"/>
          </a:xfrm>
          <a:prstGeom prst="roundRect">
            <a:avLst>
              <a:gd name="adj" fmla="val 6452"/>
            </a:avLst>
          </a:prstGeom>
          <a:solidFill>
            <a:srgbClr val="FDF2F2"/>
          </a:solidFill>
          <a:ln/>
        </p:spPr>
        <p:txBody>
          <a:bodyPr/>
          <a:p/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609600" y="2886075"/>
            <a:ext cx="10972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A32D2D"/>
                </a:solidFill>
                <a:latin typeface="sans-serif"/>
                <a:ea typeface="sans-serif"/>
              </a:rPr>
              <a:t>UNIQUE 8종 = 어뷰징 차단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609600" y="3181350"/>
            <a:ext cx="5362575" cy="116205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1088">
                <a:solidFill>
                  <a:srgbClr val="4A2A2A"/>
                </a:solidFill>
                <a:latin typeface="sans-serif"/>
                <a:ea typeface="sans-serif"/>
              </a:rPr>
              <a:t>· 로봇 1기 — robots(user_id)</a:t>
            </a:r>
            <a:endParaRPr/>
          </a:p>
          <a:p>
            <a:pPr>
              <a:lnSpc>
                <a:spcPct val="175000"/>
              </a:lnSpc>
            </a:pPr>
            <a:r>
              <a:rPr lang="en-US" sz="1088">
                <a:solidFill>
                  <a:srgbClr val="4A2A2A"/>
                </a:solidFill>
                <a:latin typeface="sans-serif"/>
                <a:ea typeface="sans-serif"/>
              </a:rPr>
              <a:t>· 과제 1일 1회 — quest_logs</a:t>
            </a:r>
            <a:endParaRPr/>
          </a:p>
          <a:p>
            <a:pPr>
              <a:lnSpc>
                <a:spcPct val="175000"/>
              </a:lnSpc>
            </a:pPr>
            <a:r>
              <a:rPr lang="en-US" sz="1088">
                <a:solidFill>
                  <a:srgbClr val="4A2A2A"/>
                </a:solidFill>
                <a:latin typeface="sans-serif"/>
                <a:ea typeface="sans-serif"/>
              </a:rPr>
              <a:t>· 게임 종류별 1일 1회 — game_logs</a:t>
            </a:r>
            <a:endParaRPr/>
          </a:p>
          <a:p>
            <a:pPr>
              <a:lnSpc>
                <a:spcPct val="175000"/>
              </a:lnSpc>
            </a:pPr>
            <a:r>
              <a:rPr lang="en-US" sz="1088">
                <a:solidFill>
                  <a:srgbClr val="4A2A2A"/>
                </a:solidFill>
                <a:latin typeface="sans-serif"/>
                <a:ea typeface="sans-serif"/>
              </a:rPr>
              <a:t>· 수업 출석 주 1회 — class_logs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6219825" y="3181350"/>
            <a:ext cx="5362575" cy="116205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1088">
                <a:solidFill>
                  <a:srgbClr val="4A2A2A"/>
                </a:solidFill>
                <a:latin typeface="sans-serif"/>
                <a:ea typeface="sans-serif"/>
              </a:rPr>
              <a:t>· 공작소 일일 1회 — workshop_logs</a:t>
            </a:r>
            <a:endParaRPr/>
          </a:p>
          <a:p>
            <a:pPr>
              <a:lnSpc>
                <a:spcPct val="175000"/>
              </a:lnSpc>
            </a:pPr>
            <a:r>
              <a:rPr lang="en-US" sz="1088">
                <a:solidFill>
                  <a:srgbClr val="4A2A2A"/>
                </a:solidFill>
                <a:latin typeface="sans-serif"/>
                <a:ea typeface="sans-serif"/>
              </a:rPr>
              <a:t>· 상호작용 1일 1회 — interact_logs</a:t>
            </a:r>
            <a:endParaRPr/>
          </a:p>
          <a:p>
            <a:pPr>
              <a:lnSpc>
                <a:spcPct val="175000"/>
              </a:lnSpc>
            </a:pPr>
            <a:r>
              <a:rPr lang="en-US" sz="1088">
                <a:solidFill>
                  <a:srgbClr val="4A2A2A"/>
                </a:solidFill>
                <a:latin typeface="sans-serif"/>
                <a:ea typeface="sans-serif"/>
              </a:rPr>
              <a:t>· 우편 중복 차단 — mailbox(tag)</a:t>
            </a:r>
            <a:endParaRPr/>
          </a:p>
          <a:p>
            <a:pPr>
              <a:lnSpc>
                <a:spcPct val="175000"/>
              </a:lnSpc>
            </a:pPr>
            <a:r>
              <a:rPr lang="en-US" sz="1088">
                <a:solidFill>
                  <a:srgbClr val="4A2A2A"/>
                </a:solidFill>
                <a:latin typeface="sans-serif"/>
                <a:ea typeface="sans-serif"/>
              </a:rPr>
              <a:t>· 주제 주 1회 — weekly_topics</a:t>
            </a:r>
            <a:endParaRPr/>
          </a:p>
        </p:txBody>
      </p:sp>
      <p:sp>
        <p:nvSpPr>
          <p:cNvPr id="151" name=""/>
          <p:cNvSpPr/>
          <p:nvPr/>
        </p:nvSpPr>
        <p:spPr>
          <a:xfrm rot="0" flipH="0" flipV="0">
            <a:off x="419100" y="4638675"/>
            <a:ext cx="11353800" cy="1504950"/>
          </a:xfrm>
          <a:prstGeom prst="roundRect">
            <a:avLst>
              <a:gd name="adj" fmla="val 7595"/>
            </a:avLst>
          </a:prstGeom>
          <a:solidFill>
            <a:srgbClr val="E9F5F0"/>
          </a:solidFill>
          <a:ln/>
        </p:spPr>
        <p:txBody>
          <a:bodyPr/>
          <a:p/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609600" y="4886325"/>
            <a:ext cx="1428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F6E56"/>
                </a:solidFill>
                <a:latin typeface="sans-serif"/>
                <a:ea typeface="sans-serif"/>
              </a:rPr>
              <a:t>평가 4대 지표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609600" y="5105400"/>
            <a:ext cx="1428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0F6E56"/>
                </a:solidFill>
                <a:latin typeface="sans-serif"/>
                <a:ea typeface="sans-serif"/>
              </a:rPr>
              <a:t>= SQL 집계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2190750" y="4772025"/>
            <a:ext cx="4619625" cy="60007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88">
                <a:solidFill>
                  <a:srgbClr val="1F4A3A"/>
                </a:solidFill>
                <a:latin typeface="sans-serif"/>
                <a:ea typeface="sans-serif"/>
              </a:rPr>
              <a:t>재접속률 — visits</a:t>
            </a:r>
            <a:endParaRPr/>
          </a:p>
          <a:p>
            <a:pPr>
              <a:lnSpc>
                <a:spcPct val="180000"/>
              </a:lnSpc>
            </a:pPr>
            <a:r>
              <a:rPr lang="en-US" sz="1088">
                <a:solidFill>
                  <a:srgbClr val="1F4A3A"/>
                </a:solidFill>
                <a:latin typeface="sans-serif"/>
                <a:ea typeface="sans-serif"/>
              </a:rPr>
              <a:t>체류시간 — visits.duration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6962775" y="4772025"/>
            <a:ext cx="4619625" cy="60007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88">
                <a:solidFill>
                  <a:srgbClr val="1F4A3A"/>
                </a:solidFill>
                <a:latin typeface="sans-serif"/>
                <a:ea typeface="sans-serif"/>
              </a:rPr>
              <a:t>셀 사용량 — cell_tx</a:t>
            </a:r>
            <a:endParaRPr/>
          </a:p>
          <a:p>
            <a:pPr>
              <a:lnSpc>
                <a:spcPct val="180000"/>
              </a:lnSpc>
            </a:pPr>
            <a:r>
              <a:rPr lang="en-US" sz="1088">
                <a:solidFill>
                  <a:srgbClr val="1F4A3A"/>
                </a:solidFill>
                <a:latin typeface="sans-serif"/>
                <a:ea typeface="sans-serif"/>
              </a:rPr>
              <a:t>과제 제출률 — quest_logs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419100" y="632460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11487150" y="6324600"/>
            <a:ext cx="285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6 / 11</a:t>
            </a:r>
            <a:endParaRPr/>
          </a:p>
        </p:txBody>
      </p:sp>
    </p:spTree>
  </p:cSld>
</p:sld>
</file>

<file path=ppt/slides/slide7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158" name="" descr="&lt;Slide style={{ width:'1280px', height:'720px', padding:'44px', background:'#FFFFFF', fontFamily:'sans-serif' }}&gt;&#10;  &lt;Box style={{ width:'100%', height:'126px', justifyContent:'center' }}&gt;&#10;    &lt;Box style={{ flexDirection:'row', alignItems:'center', gap:10 }}&gt;&#10;      &lt;Text style={{ fontSize:13, fontWeight:'bold', color:'#185FA5', letterSpacing:1.6 }}&gt;03 · 구현 화면&lt;/Text&gt;&#10;      &lt;Text style={{ fontSize:11, color:'#94A3B8' }}&gt;⏱ 5:50–7:00&lt;/Text&gt;&#10;    &lt;/Box&gt;&#10;    &lt;Text style={{ fontSize:40, fontWeight:'bold', color:'#0B2136', marginTop:8, lineHeight:1.1 }}&gt;구현 화면 — 공작소와 우편함&lt;/Text&gt;&#10;    &lt;Text style={{ fontSize:18, color:'#64748B', marginTop:8 }}&gt;데모 대신 실제 동작 화면으로&lt;/Text&gt;&#10;  &lt;/Box&gt;&#10;  &lt;Box style={{ width:'100%', height:'1px', background:'#E3EAF2' }} /&gt;&#10;&#10;  &lt;Box style={{ width:'100%', height:'456px', marginTop:'18px', flexDirection:'column' }}&gt;&#10;    &lt;Box style={{ width:'100%', flexDirection:'row', gap:20 }}&gt;&#10;      &lt;Box style={{ width:536 }}&gt;&#10;        &lt;Box style={{ width:536, height:339, background:'#F6F8FB', borderRadius:14, padding:8, alignItems:'center', justifyContent:'center' }}&gt;&#10;          &lt;Image src=&quot;assets/s_workshop.png&quot; style={{ width:520, height:329, borderRadius:8 }} /&gt;&#10;        &lt;/Box&gt;&#10;        &lt;Text style={{ fontSize:20, fontWeight:'bold', color:'#0B2136', marginTop:8 }}&gt;공작소 — 공작소 안의 AI 모듈&lt;/Text&gt;&#10;        &lt;Text style={{ fontSize:15, color:'#33475B', marginTop:2 }}&gt;색칠 다시 하기 · AI 성격 재생성 · 로봇에게 질문&lt;/Text&gt;&#10;      &lt;/Box&gt;&#10;      &lt;Box style={{ width:536 }}&gt;&#10;        &lt;Box style={{ width:536, height:339, background:'#F6F8FB', borderRadius:14, padding:8, alignItems:'center', justifyContent:'center' }}&gt;&#10;          &lt;Image src=&quot;assets/s_mail.png&quot; style={{ width:520, height:329, borderRadius:8 }} /&gt;&#10;        &lt;/Box&gt;&#10;        &lt;Text style={{ fontSize:20, fontWeight:'bold', color:'#0B2136', marginTop:8 }}&gt;우편함 — 수령형 보상&lt;/Text&gt;&#10;        &lt;Text style={{ fontSize:15, color:'#33475B', marginTop:2 }}&gt;공지·선물을 직접 열어야 받음 (재방문 동기)&lt;/Text&gt;&#10;      &lt;/Box&gt;&#10;    &lt;/Box&gt;&#10;&#10;    &lt;Box style={{ width:'100%', background:'#EDF4FC', borderRadius:12, padding:'12px 20px', marginTop:12 }}&gt;&#10;      &lt;Text style={{ fontSize:15, color:'#33475B' }}&gt;&lt;b style={{ color:'#185FA5' }}&gt;그 외&lt;/b&gt;　상점 = 부품·장식·스킨　|　리포트 = 재접속률·7일 추이　|　&lt;b&gt;수업 출석 = 주 1회 +100셀&lt;/b&gt;&lt;/Text&gt;&#10;    &lt;/Box&gt;&#10;  &lt;/Box&gt;&#10;&#10;  &lt;Box style={{ width:'100%', height:'28px', marginTop:12, flexDirection:'row', justifyContent:'space-between', alignItems:'center' }}&gt;&#10;    &lt;Text style={{ fontSize:12, color:'#94A3B8' }}&gt;㈜도로 × 한양대 ERICA IC-PBL · 루미(RooMi)&lt;/Text&gt;&#10;    &lt;Text style={{ fontSize:12, color:'#94A3B8' }}&gt;7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419100" y="514350"/>
            <a:ext cx="857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185FA5"/>
                </a:solidFill>
                <a:latin typeface="sans-serif"/>
                <a:ea typeface="sans-serif"/>
              </a:rPr>
              <a:t>03 · 구현 화면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1371600" y="523875"/>
            <a:ext cx="581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sans-serif"/>
                <a:ea typeface="sans-serif"/>
              </a:rPr>
              <a:t>⏱ 5:50–7:00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419100" y="742950"/>
            <a:ext cx="1135380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B2136"/>
                </a:solidFill>
                <a:latin typeface="sans-serif"/>
                <a:ea typeface="sans-serif"/>
              </a:rPr>
              <a:t>구현 화면 — 공작소와 우편함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419100" y="1323975"/>
            <a:ext cx="11353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64748B"/>
                </a:solidFill>
                <a:latin typeface="sans-serif"/>
                <a:ea typeface="sans-serif"/>
              </a:rPr>
              <a:t>데모 대신 실제 동작 화면으로</a:t>
            </a:r>
            <a:endParaRPr/>
          </a:p>
        </p:txBody>
      </p:sp>
      <p:sp>
        <p:nvSpPr>
          <p:cNvPr id="164" name=""/>
          <p:cNvSpPr/>
          <p:nvPr/>
        </p:nvSpPr>
        <p:spPr>
          <a:xfrm rot="0" flipH="0" flipV="0"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165" name=""/>
          <p:cNvSpPr/>
          <p:nvPr/>
        </p:nvSpPr>
        <p:spPr>
          <a:xfrm rot="0" flipH="0" flipV="0">
            <a:off x="419100" y="1800225"/>
            <a:ext cx="5105400" cy="3228975"/>
          </a:xfrm>
          <a:prstGeom prst="roundRect">
            <a:avLst>
              <a:gd name="adj" fmla="val 4130"/>
            </a:avLst>
          </a:prstGeom>
          <a:solidFill>
            <a:srgbClr val="F6F8FB"/>
          </a:solidFill>
          <a:ln/>
        </p:spPr>
        <p:txBody>
          <a:bodyPr/>
          <a:p/>
        </p:txBody>
      </p:sp>
      <p:pic>
        <p:nvPicPr>
          <p:cNvPr id="166" name=""/>
          <p:cNvPicPr>
            <a:picLocks noChangeAspect="1"/>
          </p:cNvPicPr>
          <p:nvPr/>
        </p:nvPicPr>
        <p:blipFill>
          <a:blip r:embed="rId1"/>
          <a:srcRect l="26" t="0" r="26" b="0"/>
          <a:stretch>
            <a:fillRect/>
          </a:stretch>
        </p:blipFill>
        <p:spPr>
          <a:xfrm rot="0" flipH="0" flipV="0">
            <a:off x="495300" y="1847850"/>
            <a:ext cx="4953000" cy="3133725"/>
          </a:xfrm>
          <a:prstGeom prst="roundRect">
            <a:avLst>
              <a:gd name="adj" fmla="val 2432"/>
            </a:avLst>
          </a:prstGeom>
          <a:ln/>
        </p:spPr>
      </p:pic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419100" y="5105400"/>
            <a:ext cx="5105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B2136"/>
                </a:solidFill>
                <a:latin typeface="sans-serif"/>
                <a:ea typeface="sans-serif"/>
              </a:rPr>
              <a:t>공작소 — 공작소 안의 AI 모듈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419100" y="5353050"/>
            <a:ext cx="5105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색칠 다시 하기 · AI 성격 재생성 · 로봇에게 질문</a:t>
            </a:r>
            <a:endParaRPr/>
          </a:p>
        </p:txBody>
      </p:sp>
      <p:sp>
        <p:nvSpPr>
          <p:cNvPr id="169" name=""/>
          <p:cNvSpPr/>
          <p:nvPr/>
        </p:nvSpPr>
        <p:spPr>
          <a:xfrm rot="0" flipH="0" flipV="0">
            <a:off x="5715000" y="1800225"/>
            <a:ext cx="5105400" cy="3228975"/>
          </a:xfrm>
          <a:prstGeom prst="roundRect">
            <a:avLst>
              <a:gd name="adj" fmla="val 4130"/>
            </a:avLst>
          </a:prstGeom>
          <a:solidFill>
            <a:srgbClr val="F6F8FB"/>
          </a:solidFill>
          <a:ln/>
        </p:spPr>
        <p:txBody>
          <a:bodyPr/>
          <a:p/>
        </p:txBody>
      </p:sp>
      <p:pic>
        <p:nvPicPr>
          <p:cNvPr id="170" name=""/>
          <p:cNvPicPr>
            <a:picLocks noChangeAspect="1"/>
          </p:cNvPicPr>
          <p:nvPr/>
        </p:nvPicPr>
        <p:blipFill>
          <a:blip r:embed="rId2"/>
          <a:srcRect l="26" t="0" r="26" b="0"/>
          <a:stretch>
            <a:fillRect/>
          </a:stretch>
        </p:blipFill>
        <p:spPr>
          <a:xfrm rot="0" flipH="0" flipV="0">
            <a:off x="5791200" y="1847850"/>
            <a:ext cx="4953000" cy="3133725"/>
          </a:xfrm>
          <a:prstGeom prst="roundRect">
            <a:avLst>
              <a:gd name="adj" fmla="val 2432"/>
            </a:avLst>
          </a:prstGeom>
          <a:ln/>
        </p:spPr>
      </p:pic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5715000" y="5105400"/>
            <a:ext cx="5105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B2136"/>
                </a:solidFill>
                <a:latin typeface="sans-serif"/>
                <a:ea typeface="sans-serif"/>
              </a:rPr>
              <a:t>우편함 — 수령형 보상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5715000" y="5353050"/>
            <a:ext cx="5105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공지·선물을 직접 열어야 받음 (재방문 동기)</a:t>
            </a:r>
            <a:endParaRPr/>
          </a:p>
        </p:txBody>
      </p:sp>
      <p:sp>
        <p:nvSpPr>
          <p:cNvPr id="173" name=""/>
          <p:cNvSpPr/>
          <p:nvPr/>
        </p:nvSpPr>
        <p:spPr>
          <a:xfrm rot="0" flipH="0" flipV="0">
            <a:off x="419100" y="5638800"/>
            <a:ext cx="11353800" cy="400050"/>
          </a:xfrm>
          <a:prstGeom prst="roundRect">
            <a:avLst>
              <a:gd name="adj" fmla="val 2857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609600" y="575310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그 외</a:t>
            </a:r>
            <a:r>
              <a:rPr lang="zh-CN" sz="1125">
                <a:solidFill>
                  <a:srgbClr val="33475B"/>
                </a:solidFill>
                <a:latin typeface="sans-serif"/>
                <a:ea typeface="sans-serif"/>
              </a:rPr>
              <a:t>　상점</a:t>
            </a: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 xml:space="preserve"> = 부품·장식·스킨</a:t>
            </a:r>
            <a:r>
              <a:rPr lang="zh-CN" sz="1125">
                <a:solidFill>
                  <a:srgbClr val="33475B"/>
                </a:solidFill>
                <a:latin typeface="sans-serif"/>
                <a:ea typeface="sans-serif"/>
              </a:rPr>
              <a:t>　</a:t>
            </a: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|</a:t>
            </a:r>
            <a:r>
              <a:rPr lang="zh-CN" sz="1125">
                <a:solidFill>
                  <a:srgbClr val="33475B"/>
                </a:solidFill>
                <a:latin typeface="sans-serif"/>
                <a:ea typeface="sans-serif"/>
              </a:rPr>
              <a:t>　리포트</a:t>
            </a: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 xml:space="preserve"> = 재접속률·7일 추이</a:t>
            </a:r>
            <a:r>
              <a:rPr lang="zh-CN" sz="1125">
                <a:solidFill>
                  <a:srgbClr val="33475B"/>
                </a:solidFill>
                <a:latin typeface="sans-serif"/>
                <a:ea typeface="sans-serif"/>
              </a:rPr>
              <a:t>　</a:t>
            </a: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|</a:t>
            </a:r>
            <a:r>
              <a:rPr lang="zh-CN" sz="1125">
                <a:solidFill>
                  <a:srgbClr val="33475B"/>
                </a:solidFill>
                <a:latin typeface="sans-serif"/>
                <a:ea typeface="sans-serif"/>
              </a:rPr>
              <a:t>　</a:t>
            </a: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수업 출석 = 주 1회 +100셀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419100" y="632460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11487150" y="6324600"/>
            <a:ext cx="285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7 / 11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77" name="" descr="&lt;Slide style={{ width:'1280px', height:'720px', padding:'44px', background:'#FFFFFF', fontFamily:'sans-serif' }}&gt;&#10;  &lt;Box style={{ width:'100%', height:'126px', justifyContent:'center' }}&gt;&#10;    &lt;Box style={{ flexDirection:'row', alignItems:'center', gap:10 }}&gt;&#10;      &lt;Text style={{ fontSize:13, fontWeight:'bold', color:'#185FA5', letterSpacing:1.6 }}&gt;01 · 기획&lt;/Text&gt;&#10;      &lt;Text style={{ fontSize:11, color:'#94A3B8' }}&gt;⏱ 7:00–7:40&lt;/Text&gt;&#10;    &lt;/Box&gt;&#10;    &lt;Text style={{ fontSize:40, fontWeight:'bold', color:'#0B2136', marginTop:8, lineHeight:1.1 }}&gt;연결점과 확인 요청&lt;/Text&gt;&#10;    &lt;Text style={{ fontSize:18, color:'#64748B', marginTop:8 }}&gt;DOROBUS 스택과 맞물리는 지점&lt;/Text&gt;&#10;  &lt;/Box&gt;&#10;  &lt;Box style={{ width:'100%', height:'1px', background:'#E3EAF2' }} /&gt;&#10;  &lt;Box style={{ width:'100%', height:'456px', marginTop:'18px' }}&gt;&#10;&#10;    &lt;Box style={{ width:'100%', height:'150px', flexDirection:'row', gap:14 }}&gt;&#10;      &lt;Box style={{ flex:1, background:'#FFFFFF', border:'1px solid #E3EAF2', borderRadius:12, padding:'18px 20px' }}&gt;&#10;          &lt;Text style={{ fontSize:21, fontWeight:'bold', color:'#185FA5' }}&gt;셀(재화)&lt;/Text&gt;&#10;          &lt;Text style={{ fontSize:15.5, color:'#33475B', marginTop:8 }}&gt;획득 6 · 소비 5&lt;/Text&gt;&#10;        &lt;/Box&gt;&lt;Box style={{ flex:1, background:'#FFFFFF', border:'1px solid #E3EAF2', borderRadius:12, padding:'18px 20px' }}&gt;&#10;          &lt;Text style={{ fontSize:21, fontWeight:'bold', color:'#0F6E56' }}&gt;공작소&lt;/Text&gt;&#10;          &lt;Text style={{ fontSize:15.5, color:'#33475B', marginTop:8 }}&gt;커스터마이징 + AI 모듈&lt;/Text&gt;&#10;        &lt;/Box&gt;&lt;Box style={{ flex:1, background:'#FFFFFF', border:'1px solid #E3EAF2', borderRadius:12, padding:'18px 20px' }}&gt;&#10;          &lt;Text style={{ fontSize:21, fontWeight:'bold', color:'#A06A00' }}&gt;우편함&lt;/Text&gt;&#10;          &lt;Text style={{ fontSize:15.5, color:'#33475B', marginTop:8 }}&gt;운영자 공지·보상&lt;/Text&gt;&#10;        &lt;/Box&gt;&#10;    &lt;/Box&gt;&#10;&#10;    &lt;Box style={{ width:'100%', height:'216px', background:'#FBF3E5', borderRadius:12, padding:'20px 24px', marginTop:16 }}&gt;&#10;      &lt;Text style={{ fontSize:18, fontWeight:'bold', color:'#A06A00' }}&gt;오늘 확인받고 싶은 것&lt;/Text&gt;&#10;      &lt;Text style={{ fontSize:16, color:'#4A3A18', marginTop:12, lineHeight:1.9 }}&gt;① 공작소 &lt;b&gt;안&lt;/b&gt;에 탑재하는 형태가 맞는지&lt;br/&gt;② 정식 계정 · 공식 에셋(로봇 선화·GLB) 지원 가능 여부&lt;br/&gt;③ 체험 계정 유효기간(12/25) 내 최종 발표 가능 여부&lt;/Text&gt;&#10;    &lt;/Box&gt;&#10;  &#10;  &lt;/Box&gt;&#10;  &lt;Box style={{ width:'100%', height:'28px', marginTop:12, flexDirection:'row', justifyContent:'space-between', alignItems:'center' }}&gt;&#10;    &lt;Text style={{ fontSize:12, color:'#94A3B8' }}&gt;㈜도로 × 한양대 ERICA IC-PBL · 루미(RooMi)&lt;/Text&gt;&#10;    &lt;Text style={{ fontSize:12, color:'#94A3B8' }}&gt;8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419100" y="514350"/>
            <a:ext cx="561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185FA5"/>
                </a:solidFill>
                <a:latin typeface="sans-serif"/>
                <a:ea typeface="sans-serif"/>
              </a:rPr>
              <a:t>01 · 기획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1076325" y="523875"/>
            <a:ext cx="581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sans-serif"/>
                <a:ea typeface="sans-serif"/>
              </a:rPr>
              <a:t>⏱ 7:00–7:40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419100" y="742950"/>
            <a:ext cx="1135380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B2136"/>
                </a:solidFill>
                <a:latin typeface="sans-serif"/>
                <a:ea typeface="sans-serif"/>
              </a:rPr>
              <a:t>연결점과 확인 요청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419100" y="1323975"/>
            <a:ext cx="11353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64748B"/>
                </a:solidFill>
                <a:latin typeface="sans-serif"/>
                <a:ea typeface="sans-serif"/>
              </a:rPr>
              <a:t>DOROBUS 스택과 맞물리는 지점</a:t>
            </a:r>
            <a:endParaRPr/>
          </a:p>
        </p:txBody>
      </p:sp>
      <p:sp>
        <p:nvSpPr>
          <p:cNvPr id="183" name=""/>
          <p:cNvSpPr/>
          <p:nvPr/>
        </p:nvSpPr>
        <p:spPr>
          <a:xfrm rot="0" flipH="0" flipV="0"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184" name=""/>
          <p:cNvSpPr/>
          <p:nvPr/>
        </p:nvSpPr>
        <p:spPr>
          <a:xfrm rot="0" flipH="0" flipV="0">
            <a:off x="419100" y="1800225"/>
            <a:ext cx="369570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</p:spPr>
        <p:txBody>
          <a:bodyPr/>
          <a:p/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609600" y="1971675"/>
            <a:ext cx="33147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85FA5"/>
                </a:solidFill>
                <a:latin typeface="sans-serif"/>
                <a:ea typeface="sans-serif"/>
              </a:rPr>
              <a:t>셀(재화)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609600" y="2295525"/>
            <a:ext cx="33147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획득 6 · 소비 5</a:t>
            </a:r>
            <a:endParaRPr/>
          </a:p>
        </p:txBody>
      </p:sp>
      <p:sp>
        <p:nvSpPr>
          <p:cNvPr id="187" name=""/>
          <p:cNvSpPr/>
          <p:nvPr/>
        </p:nvSpPr>
        <p:spPr>
          <a:xfrm rot="0" flipH="0" flipV="0">
            <a:off x="4248150" y="1800225"/>
            <a:ext cx="369570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</p:spPr>
        <p:txBody>
          <a:bodyPr/>
          <a:p/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4438650" y="1971675"/>
            <a:ext cx="33147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75" b="1">
                <a:solidFill>
                  <a:srgbClr val="0F6E56"/>
                </a:solidFill>
                <a:latin typeface="sans-serif"/>
                <a:ea typeface="sans-serif"/>
              </a:rPr>
              <a:t>공작소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4438650" y="2295525"/>
            <a:ext cx="33147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커스터마이징 + AI 모듈</a:t>
            </a:r>
            <a:endParaRPr/>
          </a:p>
        </p:txBody>
      </p:sp>
      <p:sp>
        <p:nvSpPr>
          <p:cNvPr id="190" name=""/>
          <p:cNvSpPr/>
          <p:nvPr/>
        </p:nvSpPr>
        <p:spPr>
          <a:xfrm rot="0" flipH="0" flipV="0">
            <a:off x="8077200" y="1800225"/>
            <a:ext cx="369570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</p:spPr>
        <p:txBody>
          <a:bodyPr/>
          <a:p/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8267700" y="1971675"/>
            <a:ext cx="33147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75" b="1">
                <a:solidFill>
                  <a:srgbClr val="A06A00"/>
                </a:solidFill>
                <a:latin typeface="sans-serif"/>
                <a:ea typeface="sans-serif"/>
              </a:rPr>
              <a:t>우편함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8267700" y="2295525"/>
            <a:ext cx="33147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운영자 공지·보상</a:t>
            </a:r>
            <a:endParaRPr/>
          </a:p>
        </p:txBody>
      </p:sp>
      <p:sp>
        <p:nvSpPr>
          <p:cNvPr id="193" name=""/>
          <p:cNvSpPr/>
          <p:nvPr/>
        </p:nvSpPr>
        <p:spPr>
          <a:xfrm rot="0" flipH="0" flipV="0">
            <a:off x="419100" y="3381375"/>
            <a:ext cx="11353800" cy="2057400"/>
          </a:xfrm>
          <a:prstGeom prst="roundRect">
            <a:avLst>
              <a:gd name="adj" fmla="val 5556"/>
            </a:avLst>
          </a:prstGeom>
          <a:solidFill>
            <a:srgbClr val="FBF3E5"/>
          </a:solidFill>
          <a:ln/>
        </p:spPr>
        <p:txBody>
          <a:bodyPr/>
          <a:p/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647700" y="3571875"/>
            <a:ext cx="10896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A06A00"/>
                </a:solidFill>
                <a:latin typeface="sans-serif"/>
                <a:ea typeface="sans-serif"/>
              </a:rPr>
              <a:t>오늘 확인받고 싶은 것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647700" y="3895725"/>
            <a:ext cx="10896600" cy="10477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200">
                <a:solidFill>
                  <a:srgbClr val="4A3A18"/>
                </a:solidFill>
                <a:latin typeface="sans-serif"/>
                <a:ea typeface="sans-serif"/>
              </a:rPr>
              <a:t xml:space="preserve">① 공작소 </a:t>
            </a:r>
            <a:r>
              <a:rPr sz="1200">
                <a:solidFill>
                  <a:srgbClr val="4A3A18"/>
                </a:solidFill>
                <a:latin typeface="sans-serif"/>
                <a:ea typeface="sans-serif"/>
              </a:rPr>
              <a:t>안</a:t>
            </a:r>
            <a:r>
              <a:rPr lang="en-US" sz="1200">
                <a:solidFill>
                  <a:srgbClr val="4A3A18"/>
                </a:solidFill>
                <a:latin typeface="sans-serif"/>
                <a:ea typeface="sans-serif"/>
              </a:rPr>
              <a:t>에 탑재하는 형태가 맞는지</a:t>
            </a:r>
            <a:endParaRPr/>
          </a:p>
          <a:p>
            <a:pPr>
              <a:lnSpc>
                <a:spcPct val="190000"/>
              </a:lnSpc>
            </a:pPr>
            <a:r>
              <a:rPr lang="en-US" sz="1200">
                <a:solidFill>
                  <a:srgbClr val="4A3A18"/>
                </a:solidFill>
                <a:latin typeface="sans-serif"/>
                <a:ea typeface="sans-serif"/>
              </a:rPr>
              <a:t>② 정식 계정 · 공식 에셋(로봇 선화·GLB) 지원 가능 여부</a:t>
            </a:r>
            <a:endParaRPr/>
          </a:p>
          <a:p>
            <a:pPr>
              <a:lnSpc>
                <a:spcPct val="190000"/>
              </a:lnSpc>
            </a:pPr>
            <a:r>
              <a:rPr lang="en-US" sz="1200">
                <a:solidFill>
                  <a:srgbClr val="4A3A18"/>
                </a:solidFill>
                <a:latin typeface="sans-serif"/>
                <a:ea typeface="sans-serif"/>
              </a:rPr>
              <a:t>③ 체험 계정 유효기간(12/25) 내 최종 발표 가능 여부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419100" y="632460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11487150" y="6324600"/>
            <a:ext cx="285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8 / 11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98" name="" descr="&lt;Slide style={{ width:'1280px', height:'720px', padding:'44px', background:'#FFFFFF', fontFamily:'sans-serif' }}&gt;&#10;  &lt;Box style={{ width:'100%', height:'126px', justifyContent:'center' }}&gt;&#10;    &lt;Box style={{ flexDirection:'row', alignItems:'center', gap:10 }}&gt;&#10;      &lt;Text style={{ fontSize:13, fontWeight:'bold', color:'#185FA5', letterSpacing:1.6 }}&gt;03 · 이후&lt;/Text&gt;&#10;      &lt;Text style={{ fontSize:11, color:'#94A3B8' }}&gt;⏱ 7:40–8:00&lt;/Text&gt;&#10;    &lt;/Box&gt;&#10;    &lt;Text style={{ fontSize:40, fontWeight:'bold', color:'#0B2136', marginTop:8, lineHeight:1.1 }}&gt;앞으로의 계획&lt;/Text&gt;&#10;    &lt;Text style={{ fontSize:18, color:'#64748B', marginTop:8 }}&gt;남은 것은 기능이 아니라 검증 데이터&lt;/Text&gt;&#10;  &lt;/Box&gt;&#10;  &lt;Box style={{ width:'100%', height:'1px', background:'#E3EAF2' }} /&gt;&#10;  &lt;Box style={{ width:'100%', height:'456px', marginTop:'18px' }}&gt;&#10;&#10;    &lt;Box style={{ width:'100%', height:'230px', flexDirection:'row', gap:14 }}&gt;&#10;      &lt;Box style={{ flex:1, background:'#E9F5F0', borderRadius:12, padding:'20px' }}&gt;&#10;          &lt;Text style={{ fontSize:14, fontWeight:'bold', color:'#0F6E56' }}&gt;W9 – 11&lt;/Text&gt;&#10;          &lt;Text style={{ fontSize:22, fontWeight:'bold', color:'#0B2136', marginTop:6 }}&gt;사용자 테스트&lt;/Text&gt;&#10;          &lt;Text style={{ fontSize:15.5, color:'#33475B', marginTop:12, lineHeight:1.8 }}&gt;· 중학생 5~10명&lt;br/&gt;· 보호자 동의&lt;br/&gt;· 불편 즉시 수정&lt;/Text&gt;&#10;        &lt;/Box&gt;&lt;Box style={{ flex:1, background:'#FBF3E5', borderRadius:12, padding:'20px' }}&gt;&#10;          &lt;Text style={{ fontSize:14, fontWeight:'bold', color:'#A06A00' }}&gt;W12 – 13&lt;/Text&gt;&#10;          &lt;Text style={{ fontSize:22, fontWeight:'bold', color:'#0B2136', marginTop:6 }}&gt;효과 검증&lt;/Text&gt;&#10;          &lt;Text style={{ fontSize:15.5, color:'#33475B', marginTop:12, lineHeight:1.8 }}&gt;· 4대 지표 전후 비교&lt;br/&gt;· CSV 로 표 작성&lt;br/&gt;· 사례 조사 보강&lt;/Text&gt;&#10;        &lt;/Box&gt;&lt;Box style={{ flex:1, background:'#EFEEFB', borderRadius:12, padding:'20px' }}&gt;&#10;          &lt;Text style={{ fontSize:14, fontWeight:'bold', color:'#534AB7' }}&gt;W14 – 15&lt;/Text&gt;&#10;          &lt;Text style={{ fontSize:22, fontWeight:'bold', color:'#0B2136', marginTop:6 }}&gt;최종 발표&lt;/Text&gt;&#10;          &lt;Text style={{ fontSize:15.5, color:'#33475B', marginTop:12, lineHeight:1.8 }}&gt;· 공작소 형태 반영&lt;br/&gt;· 시즌 확장안&lt;br/&gt;· 리허설 2회&lt;/Text&gt;&#10;        &lt;/Box&gt;&#10;    &lt;/Box&gt;&#10;    &lt;Text style={{ fontSize:15, color:'#64748B', marginTop:16 }}&gt;현재 W9 — 계획상 '핵심 loop 진행 중'이 요구치, 실제는 W6에 완료 (약 3주 선행)&lt;/Text&gt;&#10;  &#10;  &lt;/Box&gt;&#10;  &lt;Box style={{ width:'100%', height:'28px', marginTop:12, flexDirection:'row', justifyContent:'space-between', alignItems:'center' }}&gt;&#10;    &lt;Text style={{ fontSize:12, color:'#94A3B8' }}&gt;㈜도로 × 한양대 ERICA IC-PBL · 루미(RooMi)&lt;/Text&gt;&#10;    &lt;Text style={{ fontSize:12, color:'#94A3B8' }}&gt;9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419100" y="514350"/>
            <a:ext cx="561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185FA5"/>
                </a:solidFill>
                <a:latin typeface="sans-serif"/>
                <a:ea typeface="sans-serif"/>
              </a:rPr>
              <a:t>03 · 이후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1076325" y="523875"/>
            <a:ext cx="581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sans-serif"/>
                <a:ea typeface="sans-serif"/>
              </a:rPr>
              <a:t>⏱ 7:40–8:00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419100" y="742950"/>
            <a:ext cx="1135380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B2136"/>
                </a:solidFill>
                <a:latin typeface="sans-serif"/>
                <a:ea typeface="sans-serif"/>
              </a:rPr>
              <a:t>앞으로의 계획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419100" y="1323975"/>
            <a:ext cx="11353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64748B"/>
                </a:solidFill>
                <a:latin typeface="sans-serif"/>
                <a:ea typeface="sans-serif"/>
              </a:rPr>
              <a:t>남은 것은 기능이 아니라 검증 데이터</a:t>
            </a:r>
            <a:endParaRPr/>
          </a:p>
        </p:txBody>
      </p:sp>
      <p:sp>
        <p:nvSpPr>
          <p:cNvPr id="204" name=""/>
          <p:cNvSpPr/>
          <p:nvPr/>
        </p:nvSpPr>
        <p:spPr>
          <a:xfrm rot="0" flipH="0" flipV="0"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205" name=""/>
          <p:cNvSpPr/>
          <p:nvPr/>
        </p:nvSpPr>
        <p:spPr>
          <a:xfrm rot="0" flipH="0" flipV="0">
            <a:off x="419100" y="1800225"/>
            <a:ext cx="3695700" cy="2190750"/>
          </a:xfrm>
          <a:prstGeom prst="roundRect">
            <a:avLst>
              <a:gd name="adj" fmla="val 5217"/>
            </a:avLst>
          </a:prstGeom>
          <a:solidFill>
            <a:srgbClr val="E9F5F0"/>
          </a:solidFill>
          <a:ln/>
        </p:spPr>
        <p:txBody>
          <a:bodyPr/>
          <a:p/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609600" y="1990725"/>
            <a:ext cx="3314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F6E56"/>
                </a:solidFill>
                <a:latin typeface="sans-serif"/>
                <a:ea typeface="sans-serif"/>
              </a:rPr>
              <a:t>W9 – 11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609600" y="2209800"/>
            <a:ext cx="3314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B2136"/>
                </a:solidFill>
                <a:latin typeface="sans-serif"/>
                <a:ea typeface="sans-serif"/>
              </a:rPr>
              <a:t>사용자 테스트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609600" y="2581275"/>
            <a:ext cx="3314700" cy="9620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· 중학생 5~10명</a:t>
            </a:r>
            <a:endParaRPr/>
          </a:p>
          <a:p>
            <a:pPr>
              <a:lnSpc>
                <a:spcPct val="18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· 보호자 동의</a:t>
            </a:r>
            <a:endParaRPr/>
          </a:p>
          <a:p>
            <a:pPr>
              <a:lnSpc>
                <a:spcPct val="18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· 불편 즉시 수정</a:t>
            </a:r>
            <a:endParaRPr/>
          </a:p>
        </p:txBody>
      </p:sp>
      <p:sp>
        <p:nvSpPr>
          <p:cNvPr id="209" name=""/>
          <p:cNvSpPr/>
          <p:nvPr/>
        </p:nvSpPr>
        <p:spPr>
          <a:xfrm rot="0" flipH="0" flipV="0">
            <a:off x="4248150" y="1800225"/>
            <a:ext cx="3695700" cy="2190750"/>
          </a:xfrm>
          <a:prstGeom prst="roundRect">
            <a:avLst>
              <a:gd name="adj" fmla="val 5217"/>
            </a:avLst>
          </a:prstGeom>
          <a:solidFill>
            <a:srgbClr val="FBF3E5"/>
          </a:solidFill>
          <a:ln/>
        </p:spPr>
        <p:txBody>
          <a:bodyPr/>
          <a:p/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4438650" y="1990725"/>
            <a:ext cx="3314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A06A00"/>
                </a:solidFill>
                <a:latin typeface="sans-serif"/>
                <a:ea typeface="sans-serif"/>
              </a:rPr>
              <a:t>W12 – 13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4438650" y="2209800"/>
            <a:ext cx="3314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B2136"/>
                </a:solidFill>
                <a:latin typeface="sans-serif"/>
                <a:ea typeface="sans-serif"/>
              </a:rPr>
              <a:t>효과 검증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4438650" y="2581275"/>
            <a:ext cx="3314700" cy="9620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· 4대 지표 전후 비교</a:t>
            </a:r>
            <a:endParaRPr/>
          </a:p>
          <a:p>
            <a:pPr>
              <a:lnSpc>
                <a:spcPct val="18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· CSV 로 표 작성</a:t>
            </a:r>
            <a:endParaRPr/>
          </a:p>
          <a:p>
            <a:pPr>
              <a:lnSpc>
                <a:spcPct val="18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· 사례 조사 보강</a:t>
            </a:r>
            <a:endParaRPr/>
          </a:p>
        </p:txBody>
      </p:sp>
      <p:sp>
        <p:nvSpPr>
          <p:cNvPr id="213" name=""/>
          <p:cNvSpPr/>
          <p:nvPr/>
        </p:nvSpPr>
        <p:spPr>
          <a:xfrm rot="0" flipH="0" flipV="0">
            <a:off x="8077200" y="1800225"/>
            <a:ext cx="3695700" cy="2190750"/>
          </a:xfrm>
          <a:prstGeom prst="roundRect">
            <a:avLst>
              <a:gd name="adj" fmla="val 5217"/>
            </a:avLst>
          </a:prstGeom>
          <a:solidFill>
            <a:srgbClr val="EFEEFB"/>
          </a:solidFill>
          <a:ln/>
        </p:spPr>
        <p:txBody>
          <a:bodyPr/>
          <a:p/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8267700" y="1990725"/>
            <a:ext cx="3314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534AB7"/>
                </a:solidFill>
                <a:latin typeface="sans-serif"/>
                <a:ea typeface="sans-serif"/>
              </a:rPr>
              <a:t>W14 – 15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8267700" y="2209800"/>
            <a:ext cx="3314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B2136"/>
                </a:solidFill>
                <a:latin typeface="sans-serif"/>
                <a:ea typeface="sans-serif"/>
              </a:rPr>
              <a:t>최종 발표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8267700" y="2581275"/>
            <a:ext cx="3314700" cy="9620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· 공작소 형태 반영</a:t>
            </a:r>
            <a:endParaRPr/>
          </a:p>
          <a:p>
            <a:pPr>
              <a:lnSpc>
                <a:spcPct val="18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· 시즌 확장안</a:t>
            </a:r>
            <a:endParaRPr/>
          </a:p>
          <a:p>
            <a:pPr>
              <a:lnSpc>
                <a:spcPct val="18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· 리허설 2회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419100" y="4143375"/>
            <a:ext cx="11353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64748B"/>
                </a:solidFill>
                <a:latin typeface="sans-serif"/>
                <a:ea typeface="sans-serif"/>
              </a:rPr>
              <a:t>현재 W9 — 계획상 '핵심 loop 진행 중'이 요구치, 실제는 W6에 완료 (약 3주 선행)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419100" y="632460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11487150" y="6324600"/>
            <a:ext cx="285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9 / 11</a:t>
            </a:r>
            <a:endParaRPr/>
          </a:p>
        </p:txBody>
      </p:sp>
    </p:spTree>
  </p:cSld>
</p:sld>
</file>

<file path=ppt/slides/slide10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25" name="" descr="&lt;Slide style={{ width:'1280px', height:'720px', padding:'0', background:'#FFFFFF', fontFamily:'sans-serif' }}&gt;&#10;  &lt;Image src=&quot;assets/er_final.png&quot; style={{ width:1276, height:720 }} /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27" name=""/>
          <p:cNvPicPr>
            <a:picLocks noChangeAspect="1"/>
          </p:cNvPicPr>
          <p:nvPr/>
        </p:nvPicPr>
        <p:blipFill>
          <a:blip r:embed="rId1"/>
          <a:srcRect l="0" t="1" r="0" b="1"/>
          <a:stretch>
            <a:fillRect/>
          </a:stretch>
        </p:blipFill>
        <p:spPr>
          <a:xfrm rot="0" flipH="0" flipV="0">
            <a:off x="0" y="0"/>
            <a:ext cx="12153900" cy="6858000"/>
          </a:xfrm>
          <a:prstGeom prst="rect">
            <a:avLst/>
          </a:prstGeom>
          <a:ln/>
        </p:spPr>
      </p:pic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28" name="" descr="&lt;Slide style={{ width:'1280px', height:'720px', padding:'44px', background:'#FFFFFF', fontFamily:'sans-serif' }}&gt;&#10;  &lt;Box style={{ width:'100%', height:'126px', justifyContent:'center' }}&gt;&#10;    &lt;Box style={{ flexDirection:'row', alignItems:'center', gap:10 }}&gt;&#10;      &lt;Text style={{ fontSize:13, fontWeight:'bold', color:'#185FA5', letterSpacing:1.6 }}&gt;마무리&lt;/Text&gt;&#10;      &lt;Text style={{ fontSize:11, color:'#94A3B8' }}&gt;질문 받겠습니다&lt;/Text&gt;&#10;    &lt;/Box&gt;&#10;    &lt;Text style={{ fontSize:52, fontWeight:'bold', color:'#0B2136', marginTop:4, lineHeight:1.05 }}&gt;Q &lt;span style={{ color:'#185FA5' }}&gt;&amp;&lt;/span&gt; A&lt;/Text&gt;&#10;  &lt;/Box&gt;&#10;  &lt;Box style={{ width:'100%', height:'1px', background:'#E3EAF2' }} /&gt;&#10;&#10;  &lt;Box style={{ width:'100%', height:'456px', marginTop:'18px', flexDirection:'column' }}&gt;&#10;&#10;    &lt;Box style={{ width:'100%', background:'#F6F8FB', borderRadius:12, padding:'18px 22px' }}&gt;&#10;      &lt;Text style={{ fontSize:15, fontWeight:'bold', color:'#185FA5' }}&gt;Q. 왜 SQLite 인가요?&lt;/Text&gt;&#10;      &lt;Text style={{ fontSize:13.5, color:'#33475B', marginTop:4 }}&gt;스키마·쿼리를 그대로 두고 엔진만 교체할 수 있게 설계했습니다. PostgreSQL 이식 경로는 문서화돼 있습니다.&lt;/Text&gt;&#10;    &lt;/Box&gt;&#10;&#10;    &lt;Box style={{ width:'100%', background:'#F6F8FB', borderRadius:12, padding:'18px 22px', marginTop:14 }}&gt;&#10;      &lt;Text style={{ fontSize:15, fontWeight:'bold', color:'#0F6E56' }}&gt;Q. 3D 는 어디까지 했나요?&lt;/Text&gt;&#10;      &lt;Text style={{ fontSize:13.5, color:'#33475B', marginTop:4 }}&gt;이번 학기 범위에서 3D 아트는 제외했습니다(실행방안 명시). GLB 교체 경로는 확보해 두었습니다.&lt;/Text&gt;&#10;    &lt;/Box&gt;&#10;&#10;    &lt;Box style={{ width:'100%', background:'#F6F8FB', borderRadius:12, padding:'18px 22px', marginTop:14 }}&gt;&#10;      &lt;Text style={{ fontSize:15, fontWeight:'bold', color:'#A06A00' }}&gt;Q. 아이가 정말 다시 오나요?&lt;/Text&gt;&#10;      &lt;Text style={{ fontSize:13.5, color:'#33475B', marginTop:4 }}&gt;지표 도구는 완성됐습니다. W13 에 5~10명 실측으로 답하겠습니다.&lt;/Text&gt;&#10;    &lt;/Box&gt;&#10;&#10;    &lt;Box style={{ width:'100%', background:'#0E2438', borderRadius:14, padding:'20px 24px', marginTop:18 }}&gt;&#10;      &lt;Box style={{ flexDirection:'row', alignItems:'center', gap:16 }}&gt;&#10;        &lt;Text style={{ fontSize:13, fontWeight:'bold', color:'#9FB6CC', width:110 }}&gt;데모&lt;/Text&gt;&#10;        &lt;Text style={{ flex:1, fontSize:19, fontWeight:'bold', color:'#FFFFFF' }}&gt;https://my-dorobot.app.workbuddy.host/&lt;/Text&gt;&#10;      &lt;/Box&gt;&#10;      &lt;Box style={{ flexDirection:'row', alignItems:'center', gap:16, marginTop:10 }}&gt;&#10;        &lt;Text style={{ fontSize:13, fontWeight:'bold', color:'#9FB6CC', width:110 }}&gt;GitHub&lt;/Text&gt;&#10;        &lt;Text style={{ flex:1, fontSize:17, fontWeight:'bold', color:'#C7D7E6' }}&gt;https://github.com/lmm0125-art/roomi&lt;/Text&gt;&#10;      &lt;/Box&gt;&#10;      &lt;Text style={{ fontSize:13, color:'#C7D7E6', marginTop:12 }}&gt;시작 화면 「🎬 데모 계정으로 바로 보기」 → Lv.5 · 6일 연속 · 320셀　│　부록 p.10 = 전체 ER&lt;/Text&gt;&#10;    &lt;/Box&gt;&#10;&#10;  &lt;/Box&gt;&#10;&#10;  &lt;Box style={{ width:'100%', height:'28px', marginTop:12, flexDirection:'row', justifyContent:'space-between', alignItems:'center' }}&gt;&#10;    &lt;Text style={{ fontSize:12, color:'#94A3B8' }}&gt;DOROLINK · 순첸디 · 이명명 · 후예량&lt;/Text&gt;&#10;    &lt;Text style={{ fontSize:12, color:'#94A3B8' }}&gt;11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419100" y="609600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 b="1" spc="120">
                <a:solidFill>
                  <a:srgbClr val="185FA5"/>
                </a:solidFill>
                <a:latin typeface="sans-serif"/>
                <a:ea typeface="sans-serif"/>
              </a:rPr>
              <a:t>마무리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885825" y="619125"/>
            <a:ext cx="6667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sans-serif"/>
                <a:ea typeface="sans-serif"/>
              </a:rPr>
              <a:t>질문 받겠습니다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419100" y="800100"/>
            <a:ext cx="11353800" cy="628650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3900" b="1">
                <a:solidFill>
                  <a:srgbClr val="0B2136"/>
                </a:solidFill>
                <a:latin typeface="sans-serif"/>
                <a:ea typeface="sans-serif"/>
              </a:rPr>
              <a:t xml:space="preserve">Q </a:t>
            </a:r>
            <a:r>
              <a:rPr lang="en-US" sz="3900" b="1">
                <a:solidFill>
                  <a:srgbClr val="185FA5"/>
                </a:solidFill>
                <a:latin typeface="sans-serif"/>
                <a:ea typeface="sans-serif"/>
              </a:rPr>
              <a:t>&amp;</a:t>
            </a:r>
            <a:r>
              <a:rPr lang="en-US" sz="3900" b="1">
                <a:solidFill>
                  <a:srgbClr val="0B2136"/>
                </a:solidFill>
                <a:latin typeface="sans-serif"/>
                <a:ea typeface="sans-serif"/>
              </a:rPr>
              <a:t xml:space="preserve"> A</a:t>
            </a:r>
            <a:endParaRPr/>
          </a:p>
        </p:txBody>
      </p:sp>
      <p:sp>
        <p:nvSpPr>
          <p:cNvPr id="33" name=""/>
          <p:cNvSpPr/>
          <p:nvPr/>
        </p:nvSpPr>
        <p:spPr>
          <a:xfrm rot="0" flipH="0" flipV="0"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34" name=""/>
          <p:cNvSpPr/>
          <p:nvPr/>
        </p:nvSpPr>
        <p:spPr>
          <a:xfrm rot="0" flipH="0" flipV="0">
            <a:off x="419100" y="1800225"/>
            <a:ext cx="11353800" cy="714375"/>
          </a:xfrm>
          <a:prstGeom prst="roundRect">
            <a:avLst>
              <a:gd name="adj" fmla="val 16000"/>
            </a:avLst>
          </a:prstGeom>
          <a:solidFill>
            <a:srgbClr val="F6F8FB"/>
          </a:solidFill>
          <a:ln/>
        </p:spPr>
        <p:txBody>
          <a:bodyPr/>
          <a:p/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628650" y="1971675"/>
            <a:ext cx="10934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85FA5"/>
                </a:solidFill>
                <a:latin typeface="sans-serif"/>
                <a:ea typeface="sans-serif"/>
              </a:rPr>
              <a:t>Q. 왜 SQLite 인가요?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628650" y="2181225"/>
            <a:ext cx="10934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33475B"/>
                </a:solidFill>
                <a:latin typeface="sans-serif"/>
                <a:ea typeface="sans-serif"/>
              </a:rPr>
              <a:t>스키마·쿼리를 그대로 두고 엔진만 교체할 수 있게 설계했습니다. PostgreSQL 이식 경로는 문서화돼 있습니다.</a:t>
            </a:r>
            <a:endParaRPr/>
          </a:p>
        </p:txBody>
      </p:sp>
      <p:sp>
        <p:nvSpPr>
          <p:cNvPr id="37" name=""/>
          <p:cNvSpPr/>
          <p:nvPr/>
        </p:nvSpPr>
        <p:spPr>
          <a:xfrm rot="0" flipH="0" flipV="0">
            <a:off x="419100" y="2647950"/>
            <a:ext cx="11353800" cy="714375"/>
          </a:xfrm>
          <a:prstGeom prst="roundRect">
            <a:avLst>
              <a:gd name="adj" fmla="val 16000"/>
            </a:avLst>
          </a:prstGeom>
          <a:solidFill>
            <a:srgbClr val="F6F8FB"/>
          </a:solidFill>
          <a:ln/>
        </p:spPr>
        <p:txBody>
          <a:bodyPr/>
          <a:p/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628650" y="2819400"/>
            <a:ext cx="10934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F6E56"/>
                </a:solidFill>
                <a:latin typeface="sans-serif"/>
                <a:ea typeface="sans-serif"/>
              </a:rPr>
              <a:t>Q. 3D 는 어디까지 했나요?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628650" y="3028950"/>
            <a:ext cx="10934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33475B"/>
                </a:solidFill>
                <a:latin typeface="sans-serif"/>
                <a:ea typeface="sans-serif"/>
              </a:rPr>
              <a:t>이번 학기 범위에서 3D 아트는 제외했습니다(실행방안 명시). GLB 교체 경로는 확보해 두었습니다.</a:t>
            </a:r>
            <a:endParaRPr/>
          </a:p>
        </p:txBody>
      </p:sp>
      <p:sp>
        <p:nvSpPr>
          <p:cNvPr id="40" name=""/>
          <p:cNvSpPr/>
          <p:nvPr/>
        </p:nvSpPr>
        <p:spPr>
          <a:xfrm rot="0" flipH="0" flipV="0">
            <a:off x="419100" y="3495675"/>
            <a:ext cx="11353800" cy="714375"/>
          </a:xfrm>
          <a:prstGeom prst="roundRect">
            <a:avLst>
              <a:gd name="adj" fmla="val 16000"/>
            </a:avLst>
          </a:prstGeom>
          <a:solidFill>
            <a:srgbClr val="F6F8FB"/>
          </a:solidFill>
          <a:ln/>
        </p:spPr>
        <p:txBody>
          <a:bodyPr/>
          <a:p/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628650" y="3667125"/>
            <a:ext cx="10934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A06A00"/>
                </a:solidFill>
                <a:latin typeface="sans-serif"/>
                <a:ea typeface="sans-serif"/>
              </a:rPr>
              <a:t>Q. 아이가 정말 다시 오나요?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628650" y="3876675"/>
            <a:ext cx="10934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33475B"/>
                </a:solidFill>
                <a:latin typeface="sans-serif"/>
                <a:ea typeface="sans-serif"/>
              </a:rPr>
              <a:t>지표 도구는 완성됐습니다. W13 에 5~10명 실측으로 답하겠습니다.</a:t>
            </a:r>
            <a:endParaRPr/>
          </a:p>
        </p:txBody>
      </p:sp>
      <p:sp>
        <p:nvSpPr>
          <p:cNvPr id="43" name=""/>
          <p:cNvSpPr/>
          <p:nvPr/>
        </p:nvSpPr>
        <p:spPr>
          <a:xfrm rot="0" flipH="0" flipV="0">
            <a:off x="419100" y="4381500"/>
            <a:ext cx="11353800" cy="1162050"/>
          </a:xfrm>
          <a:prstGeom prst="roundRect">
            <a:avLst>
              <a:gd name="adj" fmla="val 11475"/>
            </a:avLst>
          </a:prstGeom>
          <a:solidFill>
            <a:srgbClr val="0E2438"/>
          </a:solidFill>
          <a:ln/>
        </p:spPr>
        <p:txBody>
          <a:bodyPr/>
          <a:p/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647700" y="4610100"/>
            <a:ext cx="1047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 b="1">
                <a:solidFill>
                  <a:srgbClr val="9FB6CC"/>
                </a:solidFill>
                <a:latin typeface="sans-serif"/>
                <a:ea typeface="sans-serif"/>
              </a:rPr>
              <a:t>데모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1847850" y="4572000"/>
            <a:ext cx="96964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sans-serif"/>
                <a:ea typeface="sans-serif"/>
              </a:rPr>
              <a:t>https://my-dorobot.app.workbuddy.host/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647700" y="4914900"/>
            <a:ext cx="1047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9FB6CC"/>
                </a:solidFill>
                <a:latin typeface="sans-serif"/>
                <a:ea typeface="sans-serif"/>
              </a:rPr>
              <a:t>GitHub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1847850" y="4886325"/>
            <a:ext cx="9696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C7D7E6"/>
                </a:solidFill>
                <a:latin typeface="sans-serif"/>
                <a:ea typeface="sans-serif"/>
              </a:rPr>
              <a:t>https://github.com/lmm0125-art/roomi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647700" y="5200650"/>
            <a:ext cx="10896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C7D7E6"/>
                </a:solidFill>
                <a:latin typeface="sans-serif"/>
                <a:ea typeface="sans-serif"/>
              </a:rPr>
              <a:t xml:space="preserve">시작 화면 </a:t>
            </a:r>
            <a:r>
              <a:rPr lang="zh-CN" sz="975">
                <a:solidFill>
                  <a:srgbClr val="C7D7E6"/>
                </a:solidFill>
                <a:latin typeface="sans-serif"/>
                <a:ea typeface="sans-serif"/>
              </a:rPr>
              <a:t>「🎬</a:t>
            </a:r>
            <a:r>
              <a:rPr lang="en-US" sz="975">
                <a:solidFill>
                  <a:srgbClr val="C7D7E6"/>
                </a:solidFill>
                <a:latin typeface="sans-serif"/>
                <a:ea typeface="sans-serif"/>
              </a:rPr>
              <a:t xml:space="preserve"> 데모 계정으로 바로 보기</a:t>
            </a:r>
            <a:r>
              <a:rPr lang="zh-CN" sz="975">
                <a:solidFill>
                  <a:srgbClr val="C7D7E6"/>
                </a:solidFill>
                <a:latin typeface="sans-serif"/>
                <a:ea typeface="sans-serif"/>
              </a:rPr>
              <a:t>」</a:t>
            </a:r>
            <a:r>
              <a:rPr lang="en-US" sz="975">
                <a:solidFill>
                  <a:srgbClr val="C7D7E6"/>
                </a:solidFill>
                <a:latin typeface="sans-serif"/>
                <a:ea typeface="sans-serif"/>
              </a:rPr>
              <a:t xml:space="preserve"> → Lv.5 · 6일 연속 · 320셀</a:t>
            </a:r>
            <a:r>
              <a:rPr lang="zh-CN" sz="975">
                <a:solidFill>
                  <a:srgbClr val="C7D7E6"/>
                </a:solidFill>
                <a:latin typeface="sans-serif"/>
                <a:ea typeface="sans-serif"/>
              </a:rPr>
              <a:t>　│　부록</a:t>
            </a:r>
            <a:r>
              <a:rPr lang="en-US" sz="975">
                <a:solidFill>
                  <a:srgbClr val="C7D7E6"/>
                </a:solidFill>
                <a:latin typeface="sans-serif"/>
                <a:ea typeface="sans-serif"/>
              </a:rPr>
              <a:t xml:space="preserve"> p.10 = 전체 ER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419100" y="6324600"/>
            <a:ext cx="17811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DOROLINK · 순첸디 · 이명명 · 후예량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11439525" y="6324600"/>
            <a:ext cx="333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11 / 11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2026-10-19T20:53:35Z</dcterms:created>
  <dcterms:modified xsi:type="dcterms:W3CDTF">2026-10-19T20:53:35Z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{"AIGC":{"Label":"1","ContentProducer":"00119111010856365494821B355","ProduceID":"01a153feca7b7bcdbfcc8a035f95db09","ReservedCode1":"","ContentPropagator":"00119111010856365494821B355","PropagateID":"01a153feca7b7bcdbfcc8a035f95db09","ReservedCode2":""}}</vt:lpwstr>
  </property>
</Properties>
</file>