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3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'1280px', height:'720px', padding:'64px', background:'#FFFFFF', fontFamily:'sans-serif' }}&gt;&#10;  &lt;Box style={{ flexDirection:'row', alignItems:'center', gap:10 }}&gt;&#10;    &lt;Text style={{ fontSize:16, color:'#64748B', letterSpacing:0.8 }}&gt;㈜도로 × 한양대 ERICA IC-PBL 2026-2학기 · 중간발표&lt;/Text&gt;&#10;    &lt;Text style={{ fontSize:12, color:'#94A3B8' }}&gt;⏱ 0:00–0:30&lt;/Text&gt;&#10;  &lt;/Box&gt;&#10;  &lt;Text style={{ fontSize:78, fontWeight:'bold', color:'#0B2136', marginTop:36, lineHeight:1.05 }}&gt;루미 &lt;span style={{ color:'#185FA5' }}&gt;RooMi&lt;/span&gt;&lt;/Text&gt;&#10;  &lt;Text style={{ fontSize:25, color:'#33475B', marginTop:20 }}&gt;색칠한 로봇이 마이룸에 살면서,&lt;/Text&gt;&#10;  &lt;Text style={{ fontSize:25, color:'#33475B', marginTop:6 }}&gt;매일 돌아올 이유를 만든다&lt;/Text&gt;&#10;  &lt;Text style={{ fontSize:15, color:'#64748B', marginTop:18 }}&gt;2026. 10. 26 (월) · 발표 8분&lt;/Text&gt;&#10;&#10;  &lt;Box style={{ width:'100%', height:'150px', marginTop:40, flexDirection:'row', gap:16 }}&gt;&#10;    &lt;Box style={{ flex:1, background:'#EDF4FC', borderRadius:16, padding:'20px 22px' }}&gt;&#10;        &lt;Text style={{ fontSize:14, fontWeight:'bold', color:'#185FA5' }}&gt;01&lt;/Text&gt;&#10;        &lt;Text style={{ fontSize:26, fontWeight:'bold', color:'#0B2136', marginTop:6 }}&gt;기획&lt;/Text&gt;&#10;        &lt;Text style={{ fontSize:15, fontWeight:'bold', color:'#185FA5', marginTop:10 }}&gt;p.2–4&lt;/Text&gt;&#10;      &lt;/Box&gt;&lt;Box style={{ flex:1, background:'#E9F5F0', borderRadius:16, padding:'20px 22px' }}&gt;&#10;        &lt;Text style={{ fontSize:14, fontWeight:'bold', color:'#0F6E56' }}&gt;02&lt;/Text&gt;&#10;        &lt;Text style={{ fontSize:26, fontWeight:'bold', color:'#0B2136', marginTop:6 }}&gt;DB 설계&lt;/Text&gt;&#10;        &lt;Text style={{ fontSize:15, fontWeight:'bold', color:'#0F6E56', marginTop:10 }}&gt;p.5–6&lt;/Text&gt;&#10;      &lt;/Box&gt;&lt;Box style={{ flex:1, background:'#FBF3E5', borderRadius:16, padding:'20px 22px' }}&gt;&#10;        &lt;Text style={{ fontSize:14, fontWeight:'bold', color:'#A06A00' }}&gt;03&lt;/Text&gt;&#10;        &lt;Text style={{ fontSize:26, fontWeight:'bold', color:'#0B2136', marginTop:6 }}&gt;구현 화면 · 연결&lt;/Text&gt;&#10;        &lt;Text style={{ fontSize:15, fontWeight:'bold', color:'#A06A00', marginTop:10 }}&gt;p.7–9&lt;/Text&gt;&#10;      &lt;/Box&gt;&#10;  &lt;/Box&gt;&#10;  &lt;Box style={{ width:'100%', height:'28px', marginTop:30, flexDirection:'row', justifyContent:'space-between' }}&gt;&#10;    &lt;Text style={{ fontSize:12, color:'#94A3B8' }}&gt;한양대학교 ERICA · 인공지능학과&lt;/Text&gt;&#10;    &lt;Text style={{ fontSize:12, color:'#94A3B8' }}&gt;1 / 1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文本框 2" descr="{&quot;isTemplate&quot;:true,&quot;type&quot;:&quot;text&quot;}"/>
          <p:cNvSpPr txBox="1"/>
          <p:nvPr/>
        </p:nvSpPr>
        <p:spPr>
          <a:xfrm>
            <a:off x="609600" y="609600"/>
            <a:ext cx="37338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spc="60">
                <a:solidFill>
                  <a:srgbClr val="64748B"/>
                </a:solidFill>
                <a:latin typeface="sans-serif"/>
                <a:ea typeface="sans-serif"/>
              </a:rPr>
              <a:t>㈜도로 × 한양대 ERICA IC-PBL 2026-2학기 · 중간발표</a:t>
            </a:r>
            <a:endParaRPr/>
          </a:p>
        </p:txBody>
      </p:sp>
      <p:sp>
        <p:nvSpPr>
          <p:cNvPr id="5" name="文本框 4" descr="{&quot;isTemplate&quot;:true,&quot;type&quot;:&quot;text&quot;}"/>
          <p:cNvSpPr txBox="1"/>
          <p:nvPr/>
        </p:nvSpPr>
        <p:spPr>
          <a:xfrm>
            <a:off x="609600" y="1143000"/>
            <a:ext cx="10972800" cy="9429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5000"/>
              </a:lnSpc>
            </a:pPr>
            <a:r>
              <a:rPr lang="en-US" sz="5850" b="1">
                <a:solidFill>
                  <a:srgbClr val="0B2136"/>
                </a:solidFill>
                <a:latin typeface="sans-serif"/>
                <a:ea typeface="sans-serif"/>
              </a:rPr>
              <a:t>루미 </a:t>
            </a:r>
            <a:r>
              <a:rPr lang="en-US" sz="5850" b="1">
                <a:solidFill>
                  <a:srgbClr val="185FA5"/>
                </a:solidFill>
                <a:latin typeface="sans-serif"/>
                <a:ea typeface="sans-serif"/>
              </a:rPr>
              <a:t>RooMi</a:t>
            </a:r>
            <a:endParaRPr/>
          </a:p>
        </p:txBody>
      </p:sp>
      <p:sp>
        <p:nvSpPr>
          <p:cNvPr id="6" name="文本框 5" descr="{&quot;isTemplate&quot;:true,&quot;type&quot;:&quot;text&quot;}"/>
          <p:cNvSpPr txBox="1"/>
          <p:nvPr/>
        </p:nvSpPr>
        <p:spPr>
          <a:xfrm>
            <a:off x="609600" y="2276475"/>
            <a:ext cx="1097280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75">
                <a:solidFill>
                  <a:srgbClr val="33475B"/>
                </a:solidFill>
                <a:latin typeface="sans-serif"/>
                <a:ea typeface="sans-serif"/>
              </a:rPr>
              <a:t>색칠한 로봇이 마이룸에 살면서,</a:t>
            </a:r>
            <a:endParaRPr/>
          </a:p>
        </p:txBody>
      </p:sp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609600" y="2619375"/>
            <a:ext cx="1097280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75">
                <a:solidFill>
                  <a:srgbClr val="33475B"/>
                </a:solidFill>
                <a:latin typeface="sans-serif"/>
                <a:ea typeface="sans-serif"/>
              </a:rPr>
              <a:t>매일 돌아올 이유를 만든다</a:t>
            </a:r>
            <a:endParaRPr/>
          </a:p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609600" y="3076575"/>
            <a:ext cx="109728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sans-serif"/>
                <a:ea typeface="sans-serif"/>
              </a:rPr>
              <a:t>2026. 10. 26 (월) · 발표 8분</a:t>
            </a:r>
            <a:endParaRPr/>
          </a:p>
        </p:txBody>
      </p:sp>
      <p:sp>
        <p:nvSpPr>
          <p:cNvPr id="9" name="圆角矩形 8"/>
          <p:cNvSpPr/>
          <p:nvPr/>
        </p:nvSpPr>
        <p:spPr>
          <a:xfrm>
            <a:off x="609600" y="3629025"/>
            <a:ext cx="3552825" cy="1428750"/>
          </a:xfrm>
          <a:prstGeom prst="roundRect">
            <a:avLst>
              <a:gd name="adj" fmla="val 10667"/>
            </a:avLst>
          </a:prstGeom>
          <a:solidFill>
            <a:srgbClr val="EDF4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文本框 9" descr="{&quot;isTemplate&quot;:true,&quot;type&quot;:&quot;text&quot;}"/>
          <p:cNvSpPr txBox="1"/>
          <p:nvPr/>
        </p:nvSpPr>
        <p:spPr>
          <a:xfrm>
            <a:off x="819150" y="3819525"/>
            <a:ext cx="31337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85FA5"/>
                </a:solidFill>
                <a:latin typeface="sans-serif"/>
                <a:ea typeface="sans-serif"/>
              </a:rPr>
              <a:t>01</a:t>
            </a:r>
            <a:endParaRPr/>
          </a:p>
        </p:txBody>
      </p:sp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819150" y="4038600"/>
            <a:ext cx="313372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950" b="1">
                <a:solidFill>
                  <a:srgbClr val="0B2136"/>
                </a:solidFill>
                <a:latin typeface="sans-serif"/>
                <a:ea typeface="sans-serif"/>
              </a:rPr>
              <a:t>기획</a:t>
            </a:r>
            <a:endParaRPr/>
          </a:p>
        </p:txBody>
      </p:sp>
      <p:sp>
        <p:nvSpPr>
          <p:cNvPr id="12" name="文本框 11" descr="{&quot;isTemplate&quot;:true,&quot;type&quot;:&quot;text&quot;}"/>
          <p:cNvSpPr txBox="1"/>
          <p:nvPr/>
        </p:nvSpPr>
        <p:spPr>
          <a:xfrm>
            <a:off x="819150" y="4438650"/>
            <a:ext cx="31337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85FA5"/>
                </a:solidFill>
                <a:latin typeface="sans-serif"/>
                <a:ea typeface="sans-serif"/>
              </a:rPr>
              <a:t>p.2–4</a:t>
            </a:r>
            <a:endParaRPr/>
          </a:p>
        </p:txBody>
      </p:sp>
      <p:sp>
        <p:nvSpPr>
          <p:cNvPr id="13" name="圆角矩形 12"/>
          <p:cNvSpPr/>
          <p:nvPr/>
        </p:nvSpPr>
        <p:spPr>
          <a:xfrm>
            <a:off x="4314825" y="3629025"/>
            <a:ext cx="3562350" cy="1428750"/>
          </a:xfrm>
          <a:prstGeom prst="roundRect">
            <a:avLst>
              <a:gd name="adj" fmla="val 10667"/>
            </a:avLst>
          </a:prstGeom>
          <a:solidFill>
            <a:srgbClr val="E9F5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文本框 13" descr="{&quot;isTemplate&quot;:true,&quot;type&quot;:&quot;text&quot;}"/>
          <p:cNvSpPr txBox="1"/>
          <p:nvPr/>
        </p:nvSpPr>
        <p:spPr>
          <a:xfrm>
            <a:off x="4524375" y="3819525"/>
            <a:ext cx="3143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6E56"/>
                </a:solidFill>
                <a:latin typeface="sans-serif"/>
                <a:ea typeface="sans-serif"/>
              </a:rPr>
              <a:t>02</a:t>
            </a:r>
            <a:endParaRPr/>
          </a:p>
        </p:txBody>
      </p:sp>
      <p:sp>
        <p:nvSpPr>
          <p:cNvPr id="15" name="文本框 14" descr="{&quot;isTemplate&quot;:true,&quot;type&quot;:&quot;text&quot;}"/>
          <p:cNvSpPr txBox="1"/>
          <p:nvPr/>
        </p:nvSpPr>
        <p:spPr>
          <a:xfrm>
            <a:off x="4524375" y="4038600"/>
            <a:ext cx="31432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B2136"/>
                </a:solidFill>
                <a:latin typeface="sans-serif"/>
                <a:ea typeface="sans-serif"/>
              </a:rPr>
              <a:t>DB 설계</a:t>
            </a:r>
            <a:endParaRPr/>
          </a:p>
        </p:txBody>
      </p:sp>
      <p:sp>
        <p:nvSpPr>
          <p:cNvPr id="16" name="文本框 15" descr="{&quot;isTemplate&quot;:true,&quot;type&quot;:&quot;text&quot;}"/>
          <p:cNvSpPr txBox="1"/>
          <p:nvPr/>
        </p:nvSpPr>
        <p:spPr>
          <a:xfrm>
            <a:off x="4524375" y="4438650"/>
            <a:ext cx="31432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6E56"/>
                </a:solidFill>
                <a:latin typeface="sans-serif"/>
                <a:ea typeface="sans-serif"/>
              </a:rPr>
              <a:t>p.5–6</a:t>
            </a:r>
            <a:endParaRPr/>
          </a:p>
        </p:txBody>
      </p:sp>
      <p:sp>
        <p:nvSpPr>
          <p:cNvPr id="17" name="圆角矩形 16"/>
          <p:cNvSpPr/>
          <p:nvPr/>
        </p:nvSpPr>
        <p:spPr>
          <a:xfrm>
            <a:off x="8029575" y="3629025"/>
            <a:ext cx="3552825" cy="1428750"/>
          </a:xfrm>
          <a:prstGeom prst="roundRect">
            <a:avLst>
              <a:gd name="adj" fmla="val 10667"/>
            </a:avLst>
          </a:prstGeom>
          <a:solidFill>
            <a:srgbClr val="FBF3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文本框 17" descr="{&quot;isTemplate&quot;:true,&quot;type&quot;:&quot;text&quot;}"/>
          <p:cNvSpPr txBox="1"/>
          <p:nvPr/>
        </p:nvSpPr>
        <p:spPr>
          <a:xfrm>
            <a:off x="8239125" y="3819525"/>
            <a:ext cx="31337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A06A00"/>
                </a:solidFill>
                <a:latin typeface="sans-serif"/>
                <a:ea typeface="sans-serif"/>
              </a:rPr>
              <a:t>03</a:t>
            </a:r>
            <a:endParaRPr/>
          </a:p>
        </p:txBody>
      </p:sp>
      <p:sp>
        <p:nvSpPr>
          <p:cNvPr id="19" name="文本框 18" descr="{&quot;isTemplate&quot;:true,&quot;type&quot;:&quot;text&quot;}"/>
          <p:cNvSpPr txBox="1"/>
          <p:nvPr/>
        </p:nvSpPr>
        <p:spPr>
          <a:xfrm>
            <a:off x="8239125" y="4038600"/>
            <a:ext cx="313372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B2136"/>
                </a:solidFill>
                <a:latin typeface="sans-serif"/>
                <a:ea typeface="sans-serif"/>
              </a:rPr>
              <a:t>구현 화면 · 연결</a:t>
            </a:r>
            <a:endParaRPr/>
          </a:p>
        </p:txBody>
      </p:sp>
      <p:sp>
        <p:nvSpPr>
          <p:cNvPr id="20" name="文本框 19" descr="{&quot;isTemplate&quot;:true,&quot;type&quot;:&quot;text&quot;}"/>
          <p:cNvSpPr txBox="1"/>
          <p:nvPr/>
        </p:nvSpPr>
        <p:spPr>
          <a:xfrm>
            <a:off x="8239125" y="4438650"/>
            <a:ext cx="31337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A06A00"/>
                </a:solidFill>
                <a:latin typeface="sans-serif"/>
                <a:ea typeface="sans-serif"/>
              </a:rPr>
              <a:t>p.7–9</a:t>
            </a:r>
            <a:endParaRPr/>
          </a:p>
        </p:txBody>
      </p:sp>
      <p:sp>
        <p:nvSpPr>
          <p:cNvPr id="21" name="文本框 20" descr="{&quot;isTemplate&quot;:true,&quot;type&quot;:&quot;text&quot;}"/>
          <p:cNvSpPr txBox="1"/>
          <p:nvPr/>
        </p:nvSpPr>
        <p:spPr>
          <a:xfrm>
            <a:off x="609600" y="5343525"/>
            <a:ext cx="1571625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한양대학교 ERICA · 인공지능학과</a:t>
            </a:r>
            <a:endParaRPr/>
          </a:p>
        </p:txBody>
      </p:sp>
      <p:sp>
        <p:nvSpPr>
          <p:cNvPr id="22" name="文本框 21" descr="{&quot;isTemplate&quot;:true,&quot;type&quot;:&quot;text&quot;}"/>
          <p:cNvSpPr txBox="1"/>
          <p:nvPr/>
        </p:nvSpPr>
        <p:spPr>
          <a:xfrm>
            <a:off x="11287125" y="5343525"/>
            <a:ext cx="295275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1 / 10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1 · 기획&lt;/Text&gt;&#10;      &lt;Text style={{ fontSize:11, color:'#94A3B8' }}&gt;⏱ 0:30–1:40&lt;/Text&gt;&#10;    &lt;/Box&gt;&#10;    &lt;Text style={{ fontSize:40, fontWeight:'bold', color:'#0B2136', marginTop:8, lineHeight:1.1 }}&gt;수업은 주 1회, 아이는 매일 오지 않는다&lt;/Text&gt;&#10;    &lt;Text style={{ fontSize:18, color:'#64748B', marginTop:8 }}&gt;문제 정의 + 사례 조사&lt;/Text&gt;&#10;  &lt;/Box&gt;&#10;  &lt;Box style={{ width:'100%', height:'1px', background:'#E3EAF2' }} /&gt;&#10;  &lt;Box style={{ width:'100%', height:'456px', marginTop:'18px' }}&gt;&#10;&#10;    &lt;Box style={{ width:'100%', height:'120px', background:'#0E2438', borderRadius:14, padding:'22px 30px', justifyContent:'center' }}&gt;&#10;      &lt;Text style={{ fontSize:23, fontWeight:'bold', color:'#FFFFFF' }}&gt;&quot;수업이 없는 날에는 아이가 DOROBUS에 들어올 이유가 없습니다.&quot;&lt;/Text&gt;&#10;      &lt;Text style={{ fontSize:13, color:'#9FB6CC', marginTop:8 }}&gt;— 2026. 09. 28 기업 피드백&lt;/Text&gt;&#10;    &lt;/Box&gt;&#10;&#10;    &lt;Box style={{ width:'100%', height:'112px', flexDirection:'row', gap:12, marginTop:14 }}&gt;&#10;      &lt;Box style={{ flex:1, background:'#FDF2F2', borderRadius:12, padding:'14px 16px' }}&gt;&#10;          &lt;Text style={{ fontSize:15, fontWeight:'bold', color:'#A32D2D' }}&gt;①&lt;/Text&gt;&#10;          &lt;Text style={{ fontSize:17, fontWeight:'bold', color:'#0B2136', marginTop:4 }}&gt;접속 동기 없음&lt;/Text&gt;&#10;          &lt;Text style={{ fontSize:13.5, color:'#4A3030', marginTop:4 }}&gt;주 1회 수업, 나머지 6일은 빈 공간&lt;/Text&gt;&#10;        &lt;/Box&gt;&lt;Box style={{ flex:1, background:'#FDF2F2', borderRadius:12, padding:'14px 16px' }}&gt;&#10;          &lt;Text style={{ fontSize:15, fontWeight:'bold', color:'#A32D2D' }}&gt;②&lt;/Text&gt;&#10;          &lt;Text style={{ fontSize:17, fontWeight:'bold', color:'#0B2136', marginTop:4 }}&gt;셀 획득처 편중&lt;/Text&gt;&#10;          &lt;Text style={{ fontSize:13.5, color:'#4A3030', marginTop:4 }}&gt;수업·과제·타자 1등뿐&lt;/Text&gt;&#10;        &lt;/Box&gt;&lt;Box style={{ flex:1, background:'#FDF2F2', borderRadius:12, padding:'14px 16px' }}&gt;&#10;          &lt;Text style={{ fontSize:15, fontWeight:'bold', color:'#A32D2D' }}&gt;③&lt;/Text&gt;&#10;          &lt;Text style={{ fontSize:17, fontWeight:'bold', color:'#0B2136', marginTop:4 }}&gt;성장 실감 부족&lt;/Text&gt;&#10;          &lt;Text style={{ fontSize:13.5, color:'#4A3030', marginTop:4 }}&gt;&quot;어제보다&quot; 를 볼 장치가 약함&lt;/Text&gt;&#10;        &lt;/Box&gt;&#10;    &lt;/Box&gt;&#10;&#10;    &lt;Box style={{ width:'100%', background:'#E9F5F0', borderRadius:12, padding:'14px 20px', marginTop:14 }}&gt;&#10;      &lt;Text style={{ fontSize:15.5, fontWeight:'bold', color:'#0F6E56' }}&gt;사례 조사 → 공통점 3개&lt;/Text&gt;&#10;      &lt;Text style={{ fontSize:15, color:'#1F4A3A', marginTop:6 }}&gt;Duolingo = 연속 학습 · Roblox = 직접 만든 것에 대한 애착 · ZEP = 공간에 머무는 경험&lt;/Text&gt;&#10;    &lt;/Box&gt;&#10;&#10;    &lt;Text style={{ fontSize:14, color:'#64748B', marginTop:12 }}&gt;→ 매일 할 작은 과제 · 눈에 보이는 축적 · 내가 만든 것. 이 세 가지를 하나로 합쳤습니다.&lt;/Text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2 / 1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文本框 39" descr="{&quot;isTemplate&quot;:true,&quot;type&quot;:&quot;text&quot;}"/>
          <p:cNvSpPr txBox="1"/>
          <p:nvPr/>
        </p:nvSpPr>
        <p:spPr>
          <a:xfrm>
            <a:off x="419100" y="514350"/>
            <a:ext cx="5619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01 · 기획</a:t>
            </a:r>
            <a:endParaRPr/>
          </a:p>
        </p:txBody>
      </p:sp>
      <p:sp>
        <p:nvSpPr>
          <p:cNvPr id="42" name="文本框 41" descr="{&quot;isTemplate&quot;:true,&quot;type&quot;:&quot;text&quot;}"/>
          <p:cNvSpPr txBox="1"/>
          <p:nvPr/>
        </p:nvSpPr>
        <p:spPr>
          <a:xfrm>
            <a:off x="419100" y="742950"/>
            <a:ext cx="11353800" cy="504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수업은 주 1회, 아이는 매일 오지 않는다</a:t>
            </a:r>
            <a:endParaRPr/>
          </a:p>
        </p:txBody>
      </p:sp>
      <p:sp>
        <p:nvSpPr>
          <p:cNvPr id="43" name="文本框 42" descr="{&quot;isTemplate&quot;:true,&quot;type&quot;:&quot;text&quot;}"/>
          <p:cNvSpPr txBox="1"/>
          <p:nvPr/>
        </p:nvSpPr>
        <p:spPr>
          <a:xfrm>
            <a:off x="419100" y="1323975"/>
            <a:ext cx="113538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dirty="0" err="1">
                <a:solidFill>
                  <a:srgbClr val="64748B"/>
                </a:solidFill>
                <a:latin typeface="sans-serif"/>
                <a:ea typeface="sans-serif"/>
              </a:rPr>
              <a:t>문제</a:t>
            </a:r>
            <a:r>
              <a:rPr lang="en-US" sz="1350" dirty="0">
                <a:solidFill>
                  <a:srgbClr val="64748B"/>
                </a:solidFill>
                <a:latin typeface="sans-serif"/>
                <a:ea typeface="sans-serif"/>
              </a:rPr>
              <a:t> </a:t>
            </a:r>
            <a:r>
              <a:rPr lang="en-US" sz="1350" dirty="0" err="1">
                <a:solidFill>
                  <a:srgbClr val="64748B"/>
                </a:solidFill>
                <a:latin typeface="sans-serif"/>
                <a:ea typeface="sans-serif"/>
              </a:rPr>
              <a:t>정의</a:t>
            </a:r>
            <a:r>
              <a:rPr lang="en-US" sz="1350" dirty="0">
                <a:solidFill>
                  <a:srgbClr val="64748B"/>
                </a:solidFill>
                <a:latin typeface="sans-serif"/>
                <a:ea typeface="sans-serif"/>
              </a:rPr>
              <a:t> + </a:t>
            </a:r>
            <a:r>
              <a:rPr lang="en-US" sz="1350" dirty="0" err="1">
                <a:solidFill>
                  <a:srgbClr val="64748B"/>
                </a:solidFill>
                <a:latin typeface="sans-serif"/>
                <a:ea typeface="sans-serif"/>
              </a:rPr>
              <a:t>사례</a:t>
            </a:r>
            <a:r>
              <a:rPr lang="en-US" sz="1350" dirty="0">
                <a:solidFill>
                  <a:srgbClr val="64748B"/>
                </a:solidFill>
                <a:latin typeface="sans-serif"/>
                <a:ea typeface="sans-serif"/>
              </a:rPr>
              <a:t> </a:t>
            </a:r>
            <a:r>
              <a:rPr lang="en-US" sz="1350" dirty="0" err="1">
                <a:solidFill>
                  <a:srgbClr val="64748B"/>
                </a:solidFill>
                <a:latin typeface="sans-serif"/>
                <a:ea typeface="sans-serif"/>
              </a:rPr>
              <a:t>조사</a:t>
            </a:r>
            <a:endParaRPr dirty="0"/>
          </a:p>
        </p:txBody>
      </p:sp>
      <p:sp>
        <p:nvSpPr>
          <p:cNvPr id="44" name="矩形 43"/>
          <p:cNvSpPr/>
          <p:nvPr/>
        </p:nvSpPr>
        <p:spPr>
          <a:xfrm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" name="圆角矩形 44"/>
          <p:cNvSpPr/>
          <p:nvPr/>
        </p:nvSpPr>
        <p:spPr>
          <a:xfrm>
            <a:off x="419100" y="1800225"/>
            <a:ext cx="11353800" cy="1143000"/>
          </a:xfrm>
          <a:prstGeom prst="roundRect">
            <a:avLst>
              <a:gd name="adj" fmla="val 11667"/>
            </a:avLst>
          </a:prstGeom>
          <a:solidFill>
            <a:srgbClr val="0E24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文本框 45" descr="{&quot;isTemplate&quot;:true,&quot;type&quot;:&quot;text&quot;}"/>
          <p:cNvSpPr txBox="1"/>
          <p:nvPr/>
        </p:nvSpPr>
        <p:spPr>
          <a:xfrm>
            <a:off x="704850" y="2124075"/>
            <a:ext cx="1078230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FFFFFF"/>
                </a:solidFill>
                <a:latin typeface="sans-serif"/>
                <a:ea typeface="sans-serif"/>
              </a:rPr>
              <a:t>"수업이 없는 날에는 아이가 DOROBUS에 들어올 이유가 없습니다."</a:t>
            </a:r>
            <a:endParaRPr/>
          </a:p>
        </p:txBody>
      </p:sp>
      <p:sp>
        <p:nvSpPr>
          <p:cNvPr id="47" name="文本框 46" descr="{&quot;isTemplate&quot;:true,&quot;type&quot;:&quot;text&quot;}"/>
          <p:cNvSpPr txBox="1"/>
          <p:nvPr/>
        </p:nvSpPr>
        <p:spPr>
          <a:xfrm>
            <a:off x="704850" y="2466975"/>
            <a:ext cx="107823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9FB6CC"/>
                </a:solidFill>
                <a:latin typeface="sans-serif"/>
                <a:ea typeface="sans-serif"/>
              </a:rPr>
              <a:t>— 2026. 09. 28 기업 피드백</a:t>
            </a:r>
            <a:endParaRPr/>
          </a:p>
        </p:txBody>
      </p:sp>
      <p:sp>
        <p:nvSpPr>
          <p:cNvPr id="48" name="圆角矩形 47"/>
          <p:cNvSpPr/>
          <p:nvPr/>
        </p:nvSpPr>
        <p:spPr>
          <a:xfrm>
            <a:off x="419100" y="3076575"/>
            <a:ext cx="3705225" cy="1066800"/>
          </a:xfrm>
          <a:prstGeom prst="roundRect">
            <a:avLst>
              <a:gd name="adj" fmla="val 10714"/>
            </a:avLst>
          </a:prstGeom>
          <a:solidFill>
            <a:srgbClr val="FDF2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文本框 48" descr="{&quot;isTemplate&quot;:true,&quot;type&quot;:&quot;text&quot;}"/>
          <p:cNvSpPr txBox="1"/>
          <p:nvPr/>
        </p:nvSpPr>
        <p:spPr>
          <a:xfrm>
            <a:off x="571500" y="3209925"/>
            <a:ext cx="34004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125" b="1">
                <a:solidFill>
                  <a:srgbClr val="A32D2D"/>
                </a:solidFill>
                <a:latin typeface="sans-serif"/>
                <a:ea typeface="sans-serif"/>
              </a:rPr>
              <a:t>①</a:t>
            </a:r>
            <a:endParaRPr/>
          </a:p>
        </p:txBody>
      </p:sp>
      <p:sp>
        <p:nvSpPr>
          <p:cNvPr id="50" name="文本框 49" descr="{&quot;isTemplate&quot;:true,&quot;type&quot;:&quot;text&quot;}"/>
          <p:cNvSpPr txBox="1"/>
          <p:nvPr/>
        </p:nvSpPr>
        <p:spPr>
          <a:xfrm>
            <a:off x="571500" y="3419475"/>
            <a:ext cx="340042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B2136"/>
                </a:solidFill>
                <a:latin typeface="sans-serif"/>
                <a:ea typeface="sans-serif"/>
              </a:rPr>
              <a:t>접속 동기 없음</a:t>
            </a:r>
            <a:endParaRPr/>
          </a:p>
        </p:txBody>
      </p:sp>
      <p:sp>
        <p:nvSpPr>
          <p:cNvPr id="51" name="文本框 50" descr="{&quot;isTemplate&quot;:true,&quot;type&quot;:&quot;text&quot;}"/>
          <p:cNvSpPr txBox="1"/>
          <p:nvPr/>
        </p:nvSpPr>
        <p:spPr>
          <a:xfrm>
            <a:off x="571500" y="3657600"/>
            <a:ext cx="34004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13">
                <a:solidFill>
                  <a:srgbClr val="4A3030"/>
                </a:solidFill>
                <a:latin typeface="sans-serif"/>
                <a:ea typeface="sans-serif"/>
              </a:rPr>
              <a:t>주 1회 수업, 나머지 6일은 빈 공간</a:t>
            </a:r>
            <a:endParaRPr/>
          </a:p>
        </p:txBody>
      </p:sp>
      <p:sp>
        <p:nvSpPr>
          <p:cNvPr id="52" name="圆角矩形 51"/>
          <p:cNvSpPr/>
          <p:nvPr/>
        </p:nvSpPr>
        <p:spPr>
          <a:xfrm>
            <a:off x="4238625" y="3076575"/>
            <a:ext cx="3714750" cy="1066800"/>
          </a:xfrm>
          <a:prstGeom prst="roundRect">
            <a:avLst>
              <a:gd name="adj" fmla="val 10714"/>
            </a:avLst>
          </a:prstGeom>
          <a:solidFill>
            <a:srgbClr val="FDF2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" name="文本框 52" descr="{&quot;isTemplate&quot;:true,&quot;type&quot;:&quot;text&quot;}"/>
          <p:cNvSpPr txBox="1"/>
          <p:nvPr/>
        </p:nvSpPr>
        <p:spPr>
          <a:xfrm>
            <a:off x="4391025" y="3209925"/>
            <a:ext cx="34099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125" b="1">
                <a:solidFill>
                  <a:srgbClr val="A32D2D"/>
                </a:solidFill>
                <a:latin typeface="sans-serif"/>
                <a:ea typeface="sans-serif"/>
              </a:rPr>
              <a:t>②</a:t>
            </a:r>
            <a:endParaRPr/>
          </a:p>
        </p:txBody>
      </p:sp>
      <p:sp>
        <p:nvSpPr>
          <p:cNvPr id="54" name="文本框 53" descr="{&quot;isTemplate&quot;:true,&quot;type&quot;:&quot;text&quot;}"/>
          <p:cNvSpPr txBox="1"/>
          <p:nvPr/>
        </p:nvSpPr>
        <p:spPr>
          <a:xfrm>
            <a:off x="4391025" y="3419475"/>
            <a:ext cx="34099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B2136"/>
                </a:solidFill>
                <a:latin typeface="sans-serif"/>
                <a:ea typeface="sans-serif"/>
              </a:rPr>
              <a:t>셀 획득처 편중</a:t>
            </a:r>
            <a:endParaRPr/>
          </a:p>
        </p:txBody>
      </p:sp>
      <p:sp>
        <p:nvSpPr>
          <p:cNvPr id="55" name="文本框 54" descr="{&quot;isTemplate&quot;:true,&quot;type&quot;:&quot;text&quot;}"/>
          <p:cNvSpPr txBox="1"/>
          <p:nvPr/>
        </p:nvSpPr>
        <p:spPr>
          <a:xfrm>
            <a:off x="4391025" y="3657600"/>
            <a:ext cx="34099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13">
                <a:solidFill>
                  <a:srgbClr val="4A3030"/>
                </a:solidFill>
                <a:latin typeface="sans-serif"/>
                <a:ea typeface="sans-serif"/>
              </a:rPr>
              <a:t>수업·과제·타자 1등뿐</a:t>
            </a:r>
            <a:endParaRPr/>
          </a:p>
        </p:txBody>
      </p:sp>
      <p:sp>
        <p:nvSpPr>
          <p:cNvPr id="56" name="圆角矩形 55"/>
          <p:cNvSpPr/>
          <p:nvPr/>
        </p:nvSpPr>
        <p:spPr>
          <a:xfrm>
            <a:off x="8067675" y="3076575"/>
            <a:ext cx="3705225" cy="1066800"/>
          </a:xfrm>
          <a:prstGeom prst="roundRect">
            <a:avLst>
              <a:gd name="adj" fmla="val 10714"/>
            </a:avLst>
          </a:prstGeom>
          <a:solidFill>
            <a:srgbClr val="FDF2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7" name="文本框 56" descr="{&quot;isTemplate&quot;:true,&quot;type&quot;:&quot;text&quot;}"/>
          <p:cNvSpPr txBox="1"/>
          <p:nvPr/>
        </p:nvSpPr>
        <p:spPr>
          <a:xfrm>
            <a:off x="8220075" y="3209925"/>
            <a:ext cx="34004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125" b="1">
                <a:solidFill>
                  <a:srgbClr val="A32D2D"/>
                </a:solidFill>
                <a:latin typeface="sans-serif"/>
                <a:ea typeface="sans-serif"/>
              </a:rPr>
              <a:t>③</a:t>
            </a:r>
            <a:endParaRPr/>
          </a:p>
        </p:txBody>
      </p:sp>
      <p:sp>
        <p:nvSpPr>
          <p:cNvPr id="58" name="文本框 57" descr="{&quot;isTemplate&quot;:true,&quot;type&quot;:&quot;text&quot;}"/>
          <p:cNvSpPr txBox="1"/>
          <p:nvPr/>
        </p:nvSpPr>
        <p:spPr>
          <a:xfrm>
            <a:off x="8220075" y="3419475"/>
            <a:ext cx="340042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B2136"/>
                </a:solidFill>
                <a:latin typeface="sans-serif"/>
                <a:ea typeface="sans-serif"/>
              </a:rPr>
              <a:t>성장 실감 부족</a:t>
            </a:r>
            <a:endParaRPr/>
          </a:p>
        </p:txBody>
      </p:sp>
      <p:sp>
        <p:nvSpPr>
          <p:cNvPr id="59" name="文本框 58" descr="{&quot;isTemplate&quot;:true,&quot;type&quot;:&quot;text&quot;}"/>
          <p:cNvSpPr txBox="1"/>
          <p:nvPr/>
        </p:nvSpPr>
        <p:spPr>
          <a:xfrm>
            <a:off x="8220075" y="3657600"/>
            <a:ext cx="34004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13">
                <a:solidFill>
                  <a:srgbClr val="4A3030"/>
                </a:solidFill>
                <a:latin typeface="sans-serif"/>
                <a:ea typeface="sans-serif"/>
              </a:rPr>
              <a:t>"어제보다" 를 볼 장치가 약함</a:t>
            </a:r>
            <a:endParaRPr/>
          </a:p>
        </p:txBody>
      </p:sp>
      <p:sp>
        <p:nvSpPr>
          <p:cNvPr id="60" name="圆角矩形 59"/>
          <p:cNvSpPr/>
          <p:nvPr/>
        </p:nvSpPr>
        <p:spPr>
          <a:xfrm>
            <a:off x="419100" y="4276725"/>
            <a:ext cx="11353800" cy="676275"/>
          </a:xfrm>
          <a:prstGeom prst="roundRect">
            <a:avLst>
              <a:gd name="adj" fmla="val 16901"/>
            </a:avLst>
          </a:prstGeom>
          <a:solidFill>
            <a:srgbClr val="E9F5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1" name="文本框 60" descr="{&quot;isTemplate&quot;:true,&quot;type&quot;:&quot;text&quot;}"/>
          <p:cNvSpPr txBox="1"/>
          <p:nvPr/>
        </p:nvSpPr>
        <p:spPr>
          <a:xfrm>
            <a:off x="609600" y="4410075"/>
            <a:ext cx="10972800" cy="1809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0F6E56"/>
                </a:solidFill>
                <a:latin typeface="sans-serif"/>
                <a:ea typeface="sans-serif"/>
              </a:rPr>
              <a:t>사례 조사 → 공통점 3개</a:t>
            </a:r>
            <a:endParaRPr/>
          </a:p>
        </p:txBody>
      </p:sp>
      <p:sp>
        <p:nvSpPr>
          <p:cNvPr id="62" name="文本框 61" descr="{&quot;isTemplate&quot;:true,&quot;type&quot;:&quot;text&quot;}"/>
          <p:cNvSpPr txBox="1"/>
          <p:nvPr/>
        </p:nvSpPr>
        <p:spPr>
          <a:xfrm>
            <a:off x="609600" y="4648200"/>
            <a:ext cx="109728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1F4A3A"/>
                </a:solidFill>
                <a:latin typeface="sans-serif"/>
                <a:ea typeface="sans-serif"/>
              </a:rPr>
              <a:t>Duolingo = 연속 학습 · Roblox = 직접 만든 것에 대한 애착 · ZEP = 공간에 머무는 경험</a:t>
            </a:r>
            <a:endParaRPr/>
          </a:p>
        </p:txBody>
      </p:sp>
      <p:sp>
        <p:nvSpPr>
          <p:cNvPr id="63" name="文本框 62" descr="{&quot;isTemplate&quot;:true,&quot;type&quot;:&quot;text&quot;}"/>
          <p:cNvSpPr txBox="1"/>
          <p:nvPr/>
        </p:nvSpPr>
        <p:spPr>
          <a:xfrm>
            <a:off x="419100" y="5067300"/>
            <a:ext cx="113538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sans-serif"/>
                <a:ea typeface="sans-serif"/>
              </a:rPr>
              <a:t>→ 매일 할 작은 과제 · 눈에 보이는 축적 · 내가 만든 것. 이 세 가지를 하나로 합쳤습니다.</a:t>
            </a:r>
            <a:endParaRPr/>
          </a:p>
        </p:txBody>
      </p:sp>
      <p:sp>
        <p:nvSpPr>
          <p:cNvPr id="64" name="文本框 63" descr="{&quot;isTemplate&quot;:true,&quot;type&quot;:&quot;text&quot;}"/>
          <p:cNvSpPr txBox="1"/>
          <p:nvPr/>
        </p:nvSpPr>
        <p:spPr>
          <a:xfrm>
            <a:off x="419100" y="6324600"/>
            <a:ext cx="22098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65" name="文本框 64" descr="{&quot;isTemplate&quot;:true,&quot;type&quot;:&quot;text&quot;}"/>
          <p:cNvSpPr txBox="1"/>
          <p:nvPr/>
        </p:nvSpPr>
        <p:spPr>
          <a:xfrm>
            <a:off x="11477625" y="6324600"/>
            <a:ext cx="2952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2 / 10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1 · 기획&lt;/Text&gt;&#10;      &lt;Text style={{ fontSize:11, color:'#94A3B8' }}&gt;⏱ 1:40–2:50&lt;/Text&gt;&#10;    &lt;/Box&gt;&#10;    &lt;Text style={{ fontSize:40, fontWeight:'bold', color:'#0B2136', marginTop:8, lineHeight:1.1 }}&gt;기대효과 3가지에 이렇게 답한다&lt;/Text&gt;&#10;    &lt;Text style={{ fontSize:18, color:'#64748B', marginTop:8 }}&gt;회사 요구 + 평가 기준(창의성) 동시 대응&lt;/Text&gt;&#10;  &lt;/Box&gt;&#10;  &lt;Box style={{ width:'100%', height:'1px', background:'#E3EAF2' }} /&gt;&#10;  &lt;Box style={{ width:'100%', height:'456px', marginTop:'18px' }}&gt;&#10;&#10;    &lt;Box style={{ width:'100%', height:'270px', flexDirection:'column', gap:12 }}&gt;&#10;      &lt;Box style={{ background:'#E9F5F0', borderRadius:12, padding:'14px 24px', flexDirection:'row', alignItems:'center', gap:22 }}&gt;&#10;          &lt;Text style={{ fontSize:30, fontWeight:'bold', color:'#0F6E56', width:40 }}&gt;①&lt;/Text&gt;&#10;          &lt;Text style={{ fontSize:20, fontWeight:'bold', color:'#0B2136', width:230 }}&gt;성장 경험&lt;/Text&gt;&#10;          &lt;Text style={{ flex:1, fontSize:16, color:'#33475B' }}&gt;Lv · 성장 단계 · 7일 순환 스트릭&lt;/Text&gt;&#10;        &lt;/Box&gt;&lt;Box style={{ background:'#FBF3E5', borderRadius:12, padding:'14px 24px', flexDirection:'row', alignItems:'center', gap:22 }}&gt;&#10;          &lt;Text style={{ fontSize:30, fontWeight:'bold', color:'#A06A00', width:40 }}&gt;②&lt;/Text&gt;&#10;          &lt;Text style={{ fontSize:20, fontWeight:'bold', color:'#0B2136', width:230 }}&gt;수업도 콘텐츠&lt;/Text&gt;&#10;          &lt;Text style={{ flex:1, fontSize:16, color:'#33475B' }}&gt;수업 코드 출석 → +100셀 (과제 +30보다 큼)&lt;/Text&gt;&#10;        &lt;/Box&gt;&lt;Box style={{ background:'#EFEEFB', borderRadius:12, padding:'14px 24px', flexDirection:'row', alignItems:'center', gap:22 }}&gt;&#10;          &lt;Text style={{ fontSize:30, fontWeight:'bold', color:'#534AB7', width:40 }}&gt;③&lt;/Text&gt;&#10;          &lt;Text style={{ fontSize:20, fontWeight:'bold', color:'#0B2136', width:230 }}&gt;수업 없는 날&lt;/Text&gt;&#10;          &lt;Text style={{ flex:1, fontSize:16, color:'#33475B' }}&gt;매일 AI 과제 · 미니게임 · 공작소 AI · 우편함&lt;/Text&gt;&#10;        &lt;/Box&gt;&#10;    &lt;/Box&gt;&#10;&#10;    &lt;Box style={{ width:'100%', height:'156px', background:'#EDF4FC', borderRadius:12, padding:'16px 22px', marginTop:14 }}&gt;&#10;      &lt;Text style={{ fontSize:16, fontWeight:'bold', color:'#185FA5' }}&gt;평가 기준 「창의성」 3문항에 대한 답&lt;/Text&gt;&#10;      &lt;Text style={{ fontSize:15, color:'#33475B', marginTop:10, lineHeight:1.8 }}&gt;① 학습 관여 — 이번 주 수업 주제가 AI 과제 문제로 그대로 들어감&lt;br/&gt;② 새 이유 — 보상을 즉시 주지 않고 &lt;b&gt;우편함에 담아 직접 열게&lt;/b&gt; 함&lt;br/&gt;③ 독자 개발 — 15개 테이블·AI 파이프라인·화면 전부 자체 설계 (외부 에셋 0)&lt;/Text&gt;&#10;    &lt;/Box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3 / 1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矩形 6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8" name="文本框 67" descr="{&quot;isTemplate&quot;:true,&quot;type&quot;:&quot;text&quot;}"/>
          <p:cNvSpPr txBox="1"/>
          <p:nvPr/>
        </p:nvSpPr>
        <p:spPr>
          <a:xfrm>
            <a:off x="419100" y="514350"/>
            <a:ext cx="5619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01 · 기획</a:t>
            </a:r>
            <a:endParaRPr/>
          </a:p>
        </p:txBody>
      </p:sp>
      <p:sp>
        <p:nvSpPr>
          <p:cNvPr id="70" name="文本框 69" descr="{&quot;isTemplate&quot;:true,&quot;type&quot;:&quot;text&quot;}"/>
          <p:cNvSpPr txBox="1"/>
          <p:nvPr/>
        </p:nvSpPr>
        <p:spPr>
          <a:xfrm>
            <a:off x="419100" y="742950"/>
            <a:ext cx="11353800" cy="504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기대효과 3가지에 이렇게 답한다</a:t>
            </a:r>
            <a:endParaRPr/>
          </a:p>
        </p:txBody>
      </p:sp>
      <p:sp>
        <p:nvSpPr>
          <p:cNvPr id="71" name="文本框 70" descr="{&quot;isTemplate&quot;:true,&quot;type&quot;:&quot;text&quot;}"/>
          <p:cNvSpPr txBox="1"/>
          <p:nvPr/>
        </p:nvSpPr>
        <p:spPr>
          <a:xfrm>
            <a:off x="419100" y="1323975"/>
            <a:ext cx="113538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dirty="0" err="1">
                <a:solidFill>
                  <a:srgbClr val="64748B"/>
                </a:solidFill>
                <a:latin typeface="sans-serif"/>
                <a:ea typeface="sans-serif"/>
              </a:rPr>
              <a:t>회사</a:t>
            </a:r>
            <a:r>
              <a:rPr lang="en-US" sz="1350" dirty="0">
                <a:solidFill>
                  <a:srgbClr val="64748B"/>
                </a:solidFill>
                <a:latin typeface="sans-serif"/>
                <a:ea typeface="sans-serif"/>
              </a:rPr>
              <a:t> </a:t>
            </a:r>
            <a:r>
              <a:rPr lang="en-US" sz="1350" dirty="0" err="1">
                <a:solidFill>
                  <a:srgbClr val="64748B"/>
                </a:solidFill>
                <a:latin typeface="sans-serif"/>
                <a:ea typeface="sans-serif"/>
              </a:rPr>
              <a:t>요구</a:t>
            </a:r>
            <a:r>
              <a:rPr lang="en-US" sz="1350" dirty="0">
                <a:solidFill>
                  <a:srgbClr val="64748B"/>
                </a:solidFill>
                <a:latin typeface="sans-serif"/>
                <a:ea typeface="sans-serif"/>
              </a:rPr>
              <a:t> + </a:t>
            </a:r>
            <a:r>
              <a:rPr lang="en-US" sz="1350" dirty="0" err="1">
                <a:solidFill>
                  <a:srgbClr val="64748B"/>
                </a:solidFill>
                <a:latin typeface="sans-serif"/>
                <a:ea typeface="sans-serif"/>
              </a:rPr>
              <a:t>평가</a:t>
            </a:r>
            <a:r>
              <a:rPr lang="en-US" sz="1350" dirty="0">
                <a:solidFill>
                  <a:srgbClr val="64748B"/>
                </a:solidFill>
                <a:latin typeface="sans-serif"/>
                <a:ea typeface="sans-serif"/>
              </a:rPr>
              <a:t> </a:t>
            </a:r>
            <a:r>
              <a:rPr lang="en-US" sz="1350" dirty="0" err="1">
                <a:solidFill>
                  <a:srgbClr val="64748B"/>
                </a:solidFill>
                <a:latin typeface="sans-serif"/>
                <a:ea typeface="sans-serif"/>
              </a:rPr>
              <a:t>기준</a:t>
            </a:r>
            <a:r>
              <a:rPr lang="en-US" sz="1350" dirty="0">
                <a:solidFill>
                  <a:srgbClr val="64748B"/>
                </a:solidFill>
                <a:latin typeface="sans-serif"/>
                <a:ea typeface="sans-serif"/>
              </a:rPr>
              <a:t>(</a:t>
            </a:r>
            <a:r>
              <a:rPr lang="en-US" sz="1350" dirty="0" err="1">
                <a:solidFill>
                  <a:srgbClr val="64748B"/>
                </a:solidFill>
                <a:latin typeface="sans-serif"/>
                <a:ea typeface="sans-serif"/>
              </a:rPr>
              <a:t>창의성</a:t>
            </a:r>
            <a:r>
              <a:rPr lang="en-US" sz="1350" dirty="0">
                <a:solidFill>
                  <a:srgbClr val="64748B"/>
                </a:solidFill>
                <a:latin typeface="sans-serif"/>
                <a:ea typeface="sans-serif"/>
              </a:rPr>
              <a:t>) </a:t>
            </a:r>
            <a:r>
              <a:rPr lang="en-US" sz="1350" dirty="0" err="1">
                <a:solidFill>
                  <a:srgbClr val="64748B"/>
                </a:solidFill>
                <a:latin typeface="sans-serif"/>
                <a:ea typeface="sans-serif"/>
              </a:rPr>
              <a:t>동시</a:t>
            </a:r>
            <a:r>
              <a:rPr lang="en-US" sz="1350" dirty="0">
                <a:solidFill>
                  <a:srgbClr val="64748B"/>
                </a:solidFill>
                <a:latin typeface="sans-serif"/>
                <a:ea typeface="sans-serif"/>
              </a:rPr>
              <a:t> </a:t>
            </a:r>
            <a:r>
              <a:rPr lang="en-US" sz="1350" dirty="0" err="1">
                <a:solidFill>
                  <a:srgbClr val="64748B"/>
                </a:solidFill>
                <a:latin typeface="sans-serif"/>
                <a:ea typeface="sans-serif"/>
              </a:rPr>
              <a:t>대응</a:t>
            </a:r>
            <a:endParaRPr dirty="0"/>
          </a:p>
        </p:txBody>
      </p:sp>
      <p:sp>
        <p:nvSpPr>
          <p:cNvPr id="72" name="矩形 71"/>
          <p:cNvSpPr/>
          <p:nvPr/>
        </p:nvSpPr>
        <p:spPr>
          <a:xfrm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3" name="圆角矩形 72"/>
          <p:cNvSpPr/>
          <p:nvPr/>
        </p:nvSpPr>
        <p:spPr>
          <a:xfrm>
            <a:off x="419100" y="1800225"/>
            <a:ext cx="11353800" cy="609600"/>
          </a:xfrm>
          <a:prstGeom prst="roundRect">
            <a:avLst>
              <a:gd name="adj" fmla="val 18750"/>
            </a:avLst>
          </a:prstGeom>
          <a:solidFill>
            <a:srgbClr val="E9F5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4" name="文本框 73" descr="{&quot;isTemplate&quot;:true,&quot;type&quot;:&quot;text&quot;}"/>
          <p:cNvSpPr txBox="1"/>
          <p:nvPr/>
        </p:nvSpPr>
        <p:spPr>
          <a:xfrm>
            <a:off x="647700" y="1933575"/>
            <a:ext cx="3810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2250" b="1">
                <a:solidFill>
                  <a:srgbClr val="0F6E56"/>
                </a:solidFill>
                <a:latin typeface="sans-serif"/>
                <a:ea typeface="sans-serif"/>
              </a:rPr>
              <a:t>①</a:t>
            </a:r>
            <a:endParaRPr/>
          </a:p>
        </p:txBody>
      </p:sp>
      <p:sp>
        <p:nvSpPr>
          <p:cNvPr id="75" name="文本框 74" descr="{&quot;isTemplate&quot;:true,&quot;type&quot;:&quot;text&quot;}"/>
          <p:cNvSpPr txBox="1"/>
          <p:nvPr/>
        </p:nvSpPr>
        <p:spPr>
          <a:xfrm>
            <a:off x="1238250" y="1990725"/>
            <a:ext cx="21907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2136"/>
                </a:solidFill>
                <a:latin typeface="sans-serif"/>
                <a:ea typeface="sans-serif"/>
              </a:rPr>
              <a:t>성장 경험</a:t>
            </a:r>
            <a:endParaRPr/>
          </a:p>
        </p:txBody>
      </p:sp>
      <p:sp>
        <p:nvSpPr>
          <p:cNvPr id="76" name="文本框 75" descr="{&quot;isTemplate&quot;:true,&quot;type&quot;:&quot;text&quot;}"/>
          <p:cNvSpPr txBox="1"/>
          <p:nvPr/>
        </p:nvSpPr>
        <p:spPr>
          <a:xfrm>
            <a:off x="3638550" y="2009775"/>
            <a:ext cx="79057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33475B"/>
                </a:solidFill>
                <a:latin typeface="sans-serif"/>
                <a:ea typeface="sans-serif"/>
              </a:rPr>
              <a:t>Lv · 성장 단계 · 7일 순환 스트릭</a:t>
            </a:r>
            <a:endParaRPr/>
          </a:p>
        </p:txBody>
      </p:sp>
      <p:sp>
        <p:nvSpPr>
          <p:cNvPr id="77" name="圆角矩形 76"/>
          <p:cNvSpPr/>
          <p:nvPr/>
        </p:nvSpPr>
        <p:spPr>
          <a:xfrm>
            <a:off x="419100" y="2524125"/>
            <a:ext cx="11353800" cy="609600"/>
          </a:xfrm>
          <a:prstGeom prst="roundRect">
            <a:avLst>
              <a:gd name="adj" fmla="val 18750"/>
            </a:avLst>
          </a:prstGeom>
          <a:solidFill>
            <a:srgbClr val="FBF3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8" name="文本框 77" descr="{&quot;isTemplate&quot;:true,&quot;type&quot;:&quot;text&quot;}"/>
          <p:cNvSpPr txBox="1"/>
          <p:nvPr/>
        </p:nvSpPr>
        <p:spPr>
          <a:xfrm>
            <a:off x="647700" y="2657475"/>
            <a:ext cx="3810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2250" b="1">
                <a:solidFill>
                  <a:srgbClr val="A06A00"/>
                </a:solidFill>
                <a:latin typeface="sans-serif"/>
                <a:ea typeface="sans-serif"/>
              </a:rPr>
              <a:t>②</a:t>
            </a:r>
            <a:endParaRPr/>
          </a:p>
        </p:txBody>
      </p:sp>
      <p:sp>
        <p:nvSpPr>
          <p:cNvPr id="79" name="文本框 78" descr="{&quot;isTemplate&quot;:true,&quot;type&quot;:&quot;text&quot;}"/>
          <p:cNvSpPr txBox="1"/>
          <p:nvPr/>
        </p:nvSpPr>
        <p:spPr>
          <a:xfrm>
            <a:off x="1238250" y="2714625"/>
            <a:ext cx="21907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2136"/>
                </a:solidFill>
                <a:latin typeface="sans-serif"/>
                <a:ea typeface="sans-serif"/>
              </a:rPr>
              <a:t>수업도 콘텐츠</a:t>
            </a:r>
            <a:endParaRPr/>
          </a:p>
        </p:txBody>
      </p:sp>
      <p:sp>
        <p:nvSpPr>
          <p:cNvPr id="80" name="文本框 79" descr="{&quot;isTemplate&quot;:true,&quot;type&quot;:&quot;text&quot;}"/>
          <p:cNvSpPr txBox="1"/>
          <p:nvPr/>
        </p:nvSpPr>
        <p:spPr>
          <a:xfrm>
            <a:off x="3638550" y="2733675"/>
            <a:ext cx="79057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33475B"/>
                </a:solidFill>
                <a:latin typeface="sans-serif"/>
                <a:ea typeface="sans-serif"/>
              </a:rPr>
              <a:t>수업 코드 출석 → +100셀 (과제 +30보다 큼)</a:t>
            </a:r>
            <a:endParaRPr/>
          </a:p>
        </p:txBody>
      </p:sp>
      <p:sp>
        <p:nvSpPr>
          <p:cNvPr id="81" name="圆角矩形 80"/>
          <p:cNvSpPr/>
          <p:nvPr/>
        </p:nvSpPr>
        <p:spPr>
          <a:xfrm>
            <a:off x="419100" y="3248025"/>
            <a:ext cx="11353800" cy="609600"/>
          </a:xfrm>
          <a:prstGeom prst="roundRect">
            <a:avLst>
              <a:gd name="adj" fmla="val 18750"/>
            </a:avLst>
          </a:prstGeom>
          <a:solidFill>
            <a:srgbClr val="EFEE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2" name="文本框 81" descr="{&quot;isTemplate&quot;:true,&quot;type&quot;:&quot;text&quot;}"/>
          <p:cNvSpPr txBox="1"/>
          <p:nvPr/>
        </p:nvSpPr>
        <p:spPr>
          <a:xfrm>
            <a:off x="647700" y="3381375"/>
            <a:ext cx="3810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2250" b="1">
                <a:solidFill>
                  <a:srgbClr val="534AB7"/>
                </a:solidFill>
                <a:latin typeface="sans-serif"/>
                <a:ea typeface="sans-serif"/>
              </a:rPr>
              <a:t>③</a:t>
            </a:r>
            <a:endParaRPr/>
          </a:p>
        </p:txBody>
      </p:sp>
      <p:sp>
        <p:nvSpPr>
          <p:cNvPr id="83" name="文本框 82" descr="{&quot;isTemplate&quot;:true,&quot;type&quot;:&quot;text&quot;}"/>
          <p:cNvSpPr txBox="1"/>
          <p:nvPr/>
        </p:nvSpPr>
        <p:spPr>
          <a:xfrm>
            <a:off x="1238250" y="3438525"/>
            <a:ext cx="21907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2136"/>
                </a:solidFill>
                <a:latin typeface="sans-serif"/>
                <a:ea typeface="sans-serif"/>
              </a:rPr>
              <a:t>수업 없는 날</a:t>
            </a:r>
            <a:endParaRPr/>
          </a:p>
        </p:txBody>
      </p:sp>
      <p:sp>
        <p:nvSpPr>
          <p:cNvPr id="84" name="文本框 83" descr="{&quot;isTemplate&quot;:true,&quot;type&quot;:&quot;text&quot;}"/>
          <p:cNvSpPr txBox="1"/>
          <p:nvPr/>
        </p:nvSpPr>
        <p:spPr>
          <a:xfrm>
            <a:off x="3638550" y="3457575"/>
            <a:ext cx="79057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33475B"/>
                </a:solidFill>
                <a:latin typeface="sans-serif"/>
                <a:ea typeface="sans-serif"/>
              </a:rPr>
              <a:t>매일 AI 과제 · 미니게임 · 공작소 AI · 우편함</a:t>
            </a:r>
            <a:endParaRPr/>
          </a:p>
        </p:txBody>
      </p:sp>
      <p:sp>
        <p:nvSpPr>
          <p:cNvPr id="85" name="圆角矩形 84"/>
          <p:cNvSpPr/>
          <p:nvPr/>
        </p:nvSpPr>
        <p:spPr>
          <a:xfrm>
            <a:off x="419100" y="4505325"/>
            <a:ext cx="11353800" cy="1485900"/>
          </a:xfrm>
          <a:prstGeom prst="roundRect">
            <a:avLst>
              <a:gd name="adj" fmla="val 7692"/>
            </a:avLst>
          </a:prstGeom>
          <a:solidFill>
            <a:srgbClr val="EDF4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6" name="文本框 85" descr="{&quot;isTemplate&quot;:true,&quot;type&quot;:&quot;text&quot;}"/>
          <p:cNvSpPr txBox="1"/>
          <p:nvPr/>
        </p:nvSpPr>
        <p:spPr>
          <a:xfrm>
            <a:off x="628650" y="4657725"/>
            <a:ext cx="109347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85FA5"/>
                </a:solidFill>
                <a:latin typeface="sans-serif"/>
                <a:ea typeface="sans-serif"/>
              </a:rPr>
              <a:t>평가 기준 </a:t>
            </a:r>
            <a:r>
              <a:rPr lang="zh-CN" sz="1200" b="1">
                <a:solidFill>
                  <a:srgbClr val="185FA5"/>
                </a:solidFill>
                <a:latin typeface="sans-serif"/>
                <a:ea typeface="sans-serif"/>
              </a:rPr>
              <a:t>「창의성」</a:t>
            </a:r>
            <a:r>
              <a:rPr lang="en-US" sz="1200" b="1">
                <a:solidFill>
                  <a:srgbClr val="185FA5"/>
                </a:solidFill>
                <a:latin typeface="sans-serif"/>
                <a:ea typeface="sans-serif"/>
              </a:rPr>
              <a:t> 3문항에 대한 답</a:t>
            </a:r>
            <a:endParaRPr/>
          </a:p>
        </p:txBody>
      </p:sp>
      <p:sp>
        <p:nvSpPr>
          <p:cNvPr id="87" name="文本框 86" descr="{&quot;isTemplate&quot;:true,&quot;type&quot;:&quot;text&quot;}"/>
          <p:cNvSpPr txBox="1"/>
          <p:nvPr/>
        </p:nvSpPr>
        <p:spPr>
          <a:xfrm>
            <a:off x="628650" y="4943475"/>
            <a:ext cx="10934700" cy="933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8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① 학습 관여 — 이번 주 수업 주제가 AI 과제 문제로 그대로 들어감</a:t>
            </a:r>
            <a:endParaRPr/>
          </a:p>
          <a:p>
            <a:pPr>
              <a:lnSpc>
                <a:spcPct val="18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② 새 이유 — 보상을 즉시 주지 않고 우편함에 담아 직접 열게 함</a:t>
            </a:r>
            <a:endParaRPr/>
          </a:p>
          <a:p>
            <a:pPr>
              <a:lnSpc>
                <a:spcPct val="18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③ 독자 개발 — 15개 테이블·AI 파이프라인·화면 전부 자체 설계 (외부 에셋 0)</a:t>
            </a:r>
            <a:endParaRPr/>
          </a:p>
        </p:txBody>
      </p:sp>
      <p:sp>
        <p:nvSpPr>
          <p:cNvPr id="88" name="文本框 87" descr="{&quot;isTemplate&quot;:true,&quot;type&quot;:&quot;text&quot;}"/>
          <p:cNvSpPr txBox="1"/>
          <p:nvPr/>
        </p:nvSpPr>
        <p:spPr>
          <a:xfrm>
            <a:off x="419100" y="6324600"/>
            <a:ext cx="22098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89" name="文本框 88" descr="{&quot;isTemplate&quot;:true,&quot;type&quot;:&quot;text&quot;}"/>
          <p:cNvSpPr txBox="1"/>
          <p:nvPr/>
        </p:nvSpPr>
        <p:spPr>
          <a:xfrm>
            <a:off x="11477625" y="6324600"/>
            <a:ext cx="2952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3 / 10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1 · 기획&lt;/Text&gt;&#10;      &lt;Text style={{ fontSize:11, color:'#94A3B8' }}&gt;⏱ 2:50–4:00&lt;/Text&gt;&#10;    &lt;/Box&gt;&#10;    &lt;Text style={{ fontSize:40, fontWeight:'bold', color:'#0B2136', marginTop:8, lineHeight:1.1 }}&gt;접속 → 사용 → 보상 → 재접속&lt;/Text&gt;&#10;    &lt;Text style={{ fontSize:18, color:'#64748B', marginTop:8 }}&gt;순환 구조와 셀 흐름 (한 장 요약)&lt;/Text&gt;&#10;  &lt;/Box&gt;&#10;  &lt;Box style={{ width:'100%', height:'1px', background:'#E3EAF2' }} /&gt;&#10;  &lt;Box style={{ width:'100%', height:'456px', marginTop:'18px' }}&gt;&#10;&#10;    &lt;Box style={{ width:'100%', height:'456px', flexDirection:'row', gap:22 }}&gt;&#10;      &lt;Box style={{ width:760, height:456, background:'#F6F8FB', borderRadius:14, padding:8, alignItems:'center', justifyContent:'center' }}&gt;&#10;        &lt;Image src=&quot;assets/flow.png&quot; style={{ width:744, height:438 }} /&gt;&#10;      &lt;/Box&gt;&#10;      &lt;Box style={{ flex:1, justifyContent:'center', gap:12 }}&gt;&#10;        &lt;Text style={{ fontSize:19, fontWeight:'bold', color:'#0B2136' }}&gt;핵심은 ⑤ → ②&lt;/Text&gt;&#10;        &lt;Text style={{ fontSize:15.5, color:'#33475B', lineHeight:1.6 }}&gt;부품을 사서 꾸미고 싶어지면 다시 접속합니다.&lt;/Text&gt;&#10;        &lt;Box style={{ height:1, background:'#E3EAF2' }} /&gt;&#10;        &lt;Text style={{ fontSize:19, fontWeight:'bold', color:'#A06A00' }}&gt;획득 6곳 · 소비 5곳&lt;/Text&gt;&#10;        &lt;Text style={{ fontSize:15, color:'#33475B', lineHeight:1.65 }}&gt;가입 · 로봇 완성 · 매일 과제 · 게임 · 스트릭 · &lt;b&gt;수업 출석&lt;/b&gt;&lt;br/&gt;부품 · 장식 · 스킨 · 조각 교환&lt;/Text&gt;&#10;        &lt;Text style={{ fontSize:13.5, color:'#A32D2D', lineHeight:1.5 }}&gt;교환은 정가 기준 — 가격표가 유지됩니다&lt;/Text&gt;&#10;      &lt;/Box&gt;&#10;    &lt;/Box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4 / 1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矩形 9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2" name="文本框 91" descr="{&quot;isTemplate&quot;:true,&quot;type&quot;:&quot;text&quot;}"/>
          <p:cNvSpPr txBox="1"/>
          <p:nvPr/>
        </p:nvSpPr>
        <p:spPr>
          <a:xfrm>
            <a:off x="419100" y="514350"/>
            <a:ext cx="5619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01 · 기획</a:t>
            </a:r>
            <a:endParaRPr/>
          </a:p>
        </p:txBody>
      </p:sp>
      <p:sp>
        <p:nvSpPr>
          <p:cNvPr id="94" name="文本框 93" descr="{&quot;isTemplate&quot;:true,&quot;type&quot;:&quot;text&quot;}"/>
          <p:cNvSpPr txBox="1"/>
          <p:nvPr/>
        </p:nvSpPr>
        <p:spPr>
          <a:xfrm>
            <a:off x="419100" y="742950"/>
            <a:ext cx="11353800" cy="504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접속 → 사용 → 보상 → 재접속</a:t>
            </a:r>
            <a:endParaRPr/>
          </a:p>
        </p:txBody>
      </p:sp>
      <p:sp>
        <p:nvSpPr>
          <p:cNvPr id="95" name="文本框 94" descr="{&quot;isTemplate&quot;:true,&quot;type&quot;:&quot;text&quot;}"/>
          <p:cNvSpPr txBox="1"/>
          <p:nvPr/>
        </p:nvSpPr>
        <p:spPr>
          <a:xfrm>
            <a:off x="419100" y="1323975"/>
            <a:ext cx="113538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dirty="0" err="1">
                <a:solidFill>
                  <a:srgbClr val="64748B"/>
                </a:solidFill>
                <a:latin typeface="sans-serif"/>
                <a:ea typeface="sans-serif"/>
              </a:rPr>
              <a:t>순환</a:t>
            </a:r>
            <a:r>
              <a:rPr lang="en-US" sz="1350" dirty="0">
                <a:solidFill>
                  <a:srgbClr val="64748B"/>
                </a:solidFill>
                <a:latin typeface="sans-serif"/>
                <a:ea typeface="sans-serif"/>
              </a:rPr>
              <a:t> </a:t>
            </a:r>
            <a:r>
              <a:rPr lang="en-US" sz="1350" dirty="0" err="1">
                <a:solidFill>
                  <a:srgbClr val="64748B"/>
                </a:solidFill>
                <a:latin typeface="sans-serif"/>
                <a:ea typeface="sans-serif"/>
              </a:rPr>
              <a:t>구조와</a:t>
            </a:r>
            <a:r>
              <a:rPr lang="en-US" sz="1350" dirty="0">
                <a:solidFill>
                  <a:srgbClr val="64748B"/>
                </a:solidFill>
                <a:latin typeface="sans-serif"/>
                <a:ea typeface="sans-serif"/>
              </a:rPr>
              <a:t> </a:t>
            </a:r>
            <a:r>
              <a:rPr lang="en-US" sz="1350" dirty="0" err="1">
                <a:solidFill>
                  <a:srgbClr val="64748B"/>
                </a:solidFill>
                <a:latin typeface="sans-serif"/>
                <a:ea typeface="sans-serif"/>
              </a:rPr>
              <a:t>셀</a:t>
            </a:r>
            <a:r>
              <a:rPr lang="en-US" sz="1350" dirty="0">
                <a:solidFill>
                  <a:srgbClr val="64748B"/>
                </a:solidFill>
                <a:latin typeface="sans-serif"/>
                <a:ea typeface="sans-serif"/>
              </a:rPr>
              <a:t> </a:t>
            </a:r>
            <a:r>
              <a:rPr lang="en-US" sz="1350" dirty="0" err="1">
                <a:solidFill>
                  <a:srgbClr val="64748B"/>
                </a:solidFill>
                <a:latin typeface="sans-serif"/>
                <a:ea typeface="sans-serif"/>
              </a:rPr>
              <a:t>흐름</a:t>
            </a:r>
            <a:r>
              <a:rPr lang="en-US" sz="1350" dirty="0">
                <a:solidFill>
                  <a:srgbClr val="64748B"/>
                </a:solidFill>
                <a:latin typeface="sans-serif"/>
                <a:ea typeface="sans-serif"/>
              </a:rPr>
              <a:t> (</a:t>
            </a:r>
            <a:r>
              <a:rPr lang="en-US" sz="1350" dirty="0" err="1">
                <a:solidFill>
                  <a:srgbClr val="64748B"/>
                </a:solidFill>
                <a:latin typeface="sans-serif"/>
                <a:ea typeface="sans-serif"/>
              </a:rPr>
              <a:t>한</a:t>
            </a:r>
            <a:r>
              <a:rPr lang="en-US" sz="1350" dirty="0">
                <a:solidFill>
                  <a:srgbClr val="64748B"/>
                </a:solidFill>
                <a:latin typeface="sans-serif"/>
                <a:ea typeface="sans-serif"/>
              </a:rPr>
              <a:t> </a:t>
            </a:r>
            <a:r>
              <a:rPr lang="en-US" sz="1350" dirty="0" err="1">
                <a:solidFill>
                  <a:srgbClr val="64748B"/>
                </a:solidFill>
                <a:latin typeface="sans-serif"/>
                <a:ea typeface="sans-serif"/>
              </a:rPr>
              <a:t>장</a:t>
            </a:r>
            <a:r>
              <a:rPr lang="en-US" sz="1350" dirty="0">
                <a:solidFill>
                  <a:srgbClr val="64748B"/>
                </a:solidFill>
                <a:latin typeface="sans-serif"/>
                <a:ea typeface="sans-serif"/>
              </a:rPr>
              <a:t> </a:t>
            </a:r>
            <a:r>
              <a:rPr lang="en-US" sz="1350" dirty="0" err="1">
                <a:solidFill>
                  <a:srgbClr val="64748B"/>
                </a:solidFill>
                <a:latin typeface="sans-serif"/>
                <a:ea typeface="sans-serif"/>
              </a:rPr>
              <a:t>요약</a:t>
            </a:r>
            <a:r>
              <a:rPr lang="en-US" sz="1350" dirty="0">
                <a:solidFill>
                  <a:srgbClr val="64748B"/>
                </a:solidFill>
                <a:latin typeface="sans-serif"/>
                <a:ea typeface="sans-serif"/>
              </a:rPr>
              <a:t>)</a:t>
            </a:r>
            <a:endParaRPr dirty="0"/>
          </a:p>
        </p:txBody>
      </p:sp>
      <p:sp>
        <p:nvSpPr>
          <p:cNvPr id="96" name="矩形 95"/>
          <p:cNvSpPr/>
          <p:nvPr/>
        </p:nvSpPr>
        <p:spPr>
          <a:xfrm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7" name="圆角矩形 96"/>
          <p:cNvSpPr/>
          <p:nvPr/>
        </p:nvSpPr>
        <p:spPr>
          <a:xfrm>
            <a:off x="419100" y="1800225"/>
            <a:ext cx="7239000" cy="4343400"/>
          </a:xfrm>
          <a:prstGeom prst="roundRect">
            <a:avLst>
              <a:gd name="adj" fmla="val 3070"/>
            </a:avLst>
          </a:prstGeom>
          <a:solidFill>
            <a:srgbClr val="F6F8F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98" name="图片 97"/>
          <p:cNvPicPr>
            <a:picLocks noChangeAspect="1"/>
          </p:cNvPicPr>
          <p:nvPr/>
        </p:nvPicPr>
        <p:blipFill>
          <a:blip r:embed="rId2"/>
          <a:srcRect l="11" r="11"/>
          <a:stretch>
            <a:fillRect/>
          </a:stretch>
        </p:blipFill>
        <p:spPr>
          <a:xfrm>
            <a:off x="495300" y="1885950"/>
            <a:ext cx="7086600" cy="4171950"/>
          </a:xfrm>
          <a:prstGeom prst="rect">
            <a:avLst/>
          </a:prstGeom>
          <a:ln/>
        </p:spPr>
      </p:pic>
      <p:sp>
        <p:nvSpPr>
          <p:cNvPr id="99" name="文本框 98" descr="{&quot;isTemplate&quot;:true,&quot;type&quot;:&quot;text&quot;}"/>
          <p:cNvSpPr txBox="1"/>
          <p:nvPr/>
        </p:nvSpPr>
        <p:spPr>
          <a:xfrm>
            <a:off x="7867650" y="2914650"/>
            <a:ext cx="39052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B2136"/>
                </a:solidFill>
                <a:latin typeface="sans-serif"/>
                <a:ea typeface="sans-serif"/>
              </a:rPr>
              <a:t>핵심은 ⑤ → ②</a:t>
            </a:r>
            <a:endParaRPr/>
          </a:p>
        </p:txBody>
      </p:sp>
      <p:sp>
        <p:nvSpPr>
          <p:cNvPr id="100" name="文本框 99" descr="{&quot;isTemplate&quot;:true,&quot;type&quot;:&quot;text&quot;}"/>
          <p:cNvSpPr txBox="1"/>
          <p:nvPr/>
        </p:nvSpPr>
        <p:spPr>
          <a:xfrm>
            <a:off x="7867650" y="3248025"/>
            <a:ext cx="390525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부품을 사서 꾸미고 싶어지면 다시 접속합니다.</a:t>
            </a:r>
            <a:endParaRPr/>
          </a:p>
        </p:txBody>
      </p:sp>
      <p:sp>
        <p:nvSpPr>
          <p:cNvPr id="101" name="矩形 100"/>
          <p:cNvSpPr/>
          <p:nvPr/>
        </p:nvSpPr>
        <p:spPr>
          <a:xfrm>
            <a:off x="7867650" y="3648075"/>
            <a:ext cx="390525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2" name="文本框 101" descr="{&quot;isTemplate&quot;:true,&quot;type&quot;:&quot;text&quot;}"/>
          <p:cNvSpPr txBox="1"/>
          <p:nvPr/>
        </p:nvSpPr>
        <p:spPr>
          <a:xfrm>
            <a:off x="7867650" y="3771900"/>
            <a:ext cx="39052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A06A00"/>
                </a:solidFill>
                <a:latin typeface="sans-serif"/>
                <a:ea typeface="sans-serif"/>
              </a:rPr>
              <a:t>획득 6곳 · 소비 5곳</a:t>
            </a:r>
            <a:endParaRPr/>
          </a:p>
        </p:txBody>
      </p:sp>
      <p:sp>
        <p:nvSpPr>
          <p:cNvPr id="103" name="文本框 102" descr="{&quot;isTemplate&quot;:true,&quot;type&quot;:&quot;text&quot;}"/>
          <p:cNvSpPr txBox="1"/>
          <p:nvPr/>
        </p:nvSpPr>
        <p:spPr>
          <a:xfrm>
            <a:off x="7867650" y="4105275"/>
            <a:ext cx="3905250" cy="571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5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가입 · 로봇 완성 · 매일 과제 · 게임 · 스트릭 · 수업 출석</a:t>
            </a:r>
            <a:endParaRPr/>
          </a:p>
          <a:p>
            <a:pPr>
              <a:lnSpc>
                <a:spcPct val="165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부품 · 장식 · 스킨 · 조각 교환</a:t>
            </a:r>
            <a:endParaRPr/>
          </a:p>
        </p:txBody>
      </p:sp>
      <p:sp>
        <p:nvSpPr>
          <p:cNvPr id="104" name="文本框 103" descr="{&quot;isTemplate&quot;:true,&quot;type&quot;:&quot;text&quot;}"/>
          <p:cNvSpPr txBox="1"/>
          <p:nvPr/>
        </p:nvSpPr>
        <p:spPr>
          <a:xfrm>
            <a:off x="7867650" y="4791075"/>
            <a:ext cx="3905250" cy="2381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1013">
                <a:solidFill>
                  <a:srgbClr val="A32D2D"/>
                </a:solidFill>
                <a:latin typeface="sans-serif"/>
                <a:ea typeface="sans-serif"/>
              </a:rPr>
              <a:t>교환은 정가 기준 — 가격표가 유지됩니다</a:t>
            </a:r>
            <a:endParaRPr/>
          </a:p>
        </p:txBody>
      </p:sp>
      <p:sp>
        <p:nvSpPr>
          <p:cNvPr id="105" name="文本框 104" descr="{&quot;isTemplate&quot;:true,&quot;type&quot;:&quot;text&quot;}"/>
          <p:cNvSpPr txBox="1"/>
          <p:nvPr/>
        </p:nvSpPr>
        <p:spPr>
          <a:xfrm>
            <a:off x="419100" y="6324600"/>
            <a:ext cx="22098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106" name="文本框 105" descr="{&quot;isTemplate&quot;:true,&quot;type&quot;:&quot;text&quot;}"/>
          <p:cNvSpPr txBox="1"/>
          <p:nvPr/>
        </p:nvSpPr>
        <p:spPr>
          <a:xfrm>
            <a:off x="11477625" y="6324600"/>
            <a:ext cx="2952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4 / 10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2 · DB 설계&lt;/Text&gt;&#10;      &lt;Text style={{ fontSize:11, color:'#94A3B8' }}&gt;⏱ 4:00–4:50&lt;/Text&gt;&#10;    &lt;/Box&gt;&#10;    &lt;Text style={{ fontSize:40, fontWeight:'bold', color:'#0B2136', marginTop:8, lineHeight:1.1 }}&gt;DB 설계 ① — 데이터 모델&lt;/Text&gt;&#10;    &lt;Text style={{ fontSize:18, color:'#64748B', marginTop:8 }}&gt;15개 테이블 · users 중심 1:N&lt;/Text&gt;&#10;  &lt;/Box&gt;&#10;  &lt;Box style={{ width:'100%', height:'1px', background:'#E3EAF2' }} /&gt;&#10;  &lt;Box style={{ width:'100%', height:'456px', marginTop:'18px' }}&gt;&#10;&#10;    &lt;Box style={{ width:'100%', height:'456px', flexDirection:'row', gap:20 }}&gt;&#10;      &lt;Box style={{ width:749, height:456, background:'#F6F8FB', borderRadius:14, padding:8, alignItems:'center', justifyContent:'center' }}&gt;&#10;        &lt;Image src=&quot;assets/er6.png&quot; style={{ width:733, height:440 }} /&gt;&#10;      &lt;/Box&gt;&#10;      &lt;Box style={{ flex:1, justifyContent:'center', gap:12 }}&gt;&#10;        &lt;Text style={{ fontSize:19, fontWeight:'bold', color:'#0B2136' }}&gt;왜 관계형인가&lt;/Text&gt;&#10;        &lt;Text style={{ fontSize:14.5, color:'#33475B', lineHeight:1.65 }}&gt;로봇·재화·과제 이력이 모두 사용자에 귀속 → &quot;다시 접속해도 어제의 내 상태&quot;가 성립&lt;/Text&gt;&#10;        &lt;Box style={{ height:1, background:'#E3EAF2' }} /&gt;&#10;        &lt;Text style={{ fontSize:19, fontWeight:'bold', color:'#A32D2D' }}&gt;UNIQUE = 게임 규칙&lt;/Text&gt;&#10;        &lt;Text style={{ fontSize:14.5, color:'#33475B', lineHeight:1.65 }}&gt;과제 1일 1회·게임 1일 1회·수업 주 1회를 DB가 강제&lt;/Text&gt;&#10;        &lt;Text style={{ fontSize:13, color:'#64748B' }}&gt;전체 15개는 p.10 부록&lt;/Text&gt;&#10;      &lt;/Box&gt;&#10;    &lt;/Box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5 / 1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矩形 10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9" name="文本框 108" descr="{&quot;isTemplate&quot;:true,&quot;type&quot;:&quot;text&quot;}"/>
          <p:cNvSpPr txBox="1"/>
          <p:nvPr/>
        </p:nvSpPr>
        <p:spPr>
          <a:xfrm>
            <a:off x="419100" y="514350"/>
            <a:ext cx="8286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02 · DB 설계</a:t>
            </a:r>
            <a:endParaRPr/>
          </a:p>
        </p:txBody>
      </p:sp>
      <p:sp>
        <p:nvSpPr>
          <p:cNvPr id="111" name="文本框 110" descr="{&quot;isTemplate&quot;:true,&quot;type&quot;:&quot;text&quot;}"/>
          <p:cNvSpPr txBox="1"/>
          <p:nvPr/>
        </p:nvSpPr>
        <p:spPr>
          <a:xfrm>
            <a:off x="419100" y="742950"/>
            <a:ext cx="11353800" cy="504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DB 설계 ① — 데이터 모델</a:t>
            </a:r>
            <a:endParaRPr/>
          </a:p>
        </p:txBody>
      </p:sp>
      <p:sp>
        <p:nvSpPr>
          <p:cNvPr id="112" name="文本框 111" descr="{&quot;isTemplate&quot;:true,&quot;type&quot;:&quot;text&quot;}"/>
          <p:cNvSpPr txBox="1"/>
          <p:nvPr/>
        </p:nvSpPr>
        <p:spPr>
          <a:xfrm>
            <a:off x="419100" y="1323975"/>
            <a:ext cx="113538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15개 테이블 · users 중심 1:N</a:t>
            </a:r>
            <a:endParaRPr/>
          </a:p>
        </p:txBody>
      </p:sp>
      <p:sp>
        <p:nvSpPr>
          <p:cNvPr id="113" name="矩形 112"/>
          <p:cNvSpPr/>
          <p:nvPr/>
        </p:nvSpPr>
        <p:spPr>
          <a:xfrm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4" name="圆角矩形 113"/>
          <p:cNvSpPr/>
          <p:nvPr/>
        </p:nvSpPr>
        <p:spPr>
          <a:xfrm>
            <a:off x="419100" y="1800225"/>
            <a:ext cx="7134225" cy="4343400"/>
          </a:xfrm>
          <a:prstGeom prst="roundRect">
            <a:avLst>
              <a:gd name="adj" fmla="val 3070"/>
            </a:avLst>
          </a:prstGeom>
          <a:solidFill>
            <a:srgbClr val="F6F8F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5" name="图片 114"/>
          <p:cNvPicPr>
            <a:picLocks noChangeAspect="1"/>
          </p:cNvPicPr>
          <p:nvPr/>
        </p:nvPicPr>
        <p:blipFill>
          <a:blip r:embed="rId2"/>
          <a:srcRect l="22" r="22"/>
          <a:stretch>
            <a:fillRect/>
          </a:stretch>
        </p:blipFill>
        <p:spPr>
          <a:xfrm>
            <a:off x="495300" y="1876425"/>
            <a:ext cx="6981825" cy="4191000"/>
          </a:xfrm>
          <a:prstGeom prst="rect">
            <a:avLst/>
          </a:prstGeom>
          <a:ln/>
        </p:spPr>
      </p:pic>
      <p:sp>
        <p:nvSpPr>
          <p:cNvPr id="116" name="文本框 115" descr="{&quot;isTemplate&quot;:true,&quot;type&quot;:&quot;text&quot;}"/>
          <p:cNvSpPr txBox="1"/>
          <p:nvPr/>
        </p:nvSpPr>
        <p:spPr>
          <a:xfrm>
            <a:off x="7743825" y="2971800"/>
            <a:ext cx="402907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B2136"/>
                </a:solidFill>
                <a:latin typeface="sans-serif"/>
                <a:ea typeface="sans-serif"/>
              </a:rPr>
              <a:t>왜 관계형인가</a:t>
            </a:r>
            <a:endParaRPr/>
          </a:p>
        </p:txBody>
      </p:sp>
      <p:sp>
        <p:nvSpPr>
          <p:cNvPr id="117" name="文本框 116" descr="{&quot;isTemplate&quot;:true,&quot;type&quot;:&quot;text&quot;}"/>
          <p:cNvSpPr txBox="1"/>
          <p:nvPr/>
        </p:nvSpPr>
        <p:spPr>
          <a:xfrm>
            <a:off x="7743825" y="3305175"/>
            <a:ext cx="4029075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5000"/>
              </a:lnSpc>
            </a:pPr>
            <a:r>
              <a:rPr lang="en-US" sz="1088">
                <a:solidFill>
                  <a:srgbClr val="33475B"/>
                </a:solidFill>
                <a:latin typeface="sans-serif"/>
                <a:ea typeface="sans-serif"/>
              </a:rPr>
              <a:t>로봇·재화·과제 이력이 모두 사용자에 귀속 → "다시 접속해도 어제의 내 상태"가 성립</a:t>
            </a:r>
            <a:endParaRPr/>
          </a:p>
        </p:txBody>
      </p:sp>
      <p:sp>
        <p:nvSpPr>
          <p:cNvPr id="118" name="矩形 117"/>
          <p:cNvSpPr/>
          <p:nvPr/>
        </p:nvSpPr>
        <p:spPr>
          <a:xfrm>
            <a:off x="7743825" y="3971925"/>
            <a:ext cx="4029075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9" name="文本框 118" descr="{&quot;isTemplate&quot;:true,&quot;type&quot;:&quot;text&quot;}"/>
          <p:cNvSpPr txBox="1"/>
          <p:nvPr/>
        </p:nvSpPr>
        <p:spPr>
          <a:xfrm>
            <a:off x="7743825" y="4095750"/>
            <a:ext cx="402907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A32D2D"/>
                </a:solidFill>
                <a:latin typeface="sans-serif"/>
                <a:ea typeface="sans-serif"/>
              </a:rPr>
              <a:t>UNIQUE = 게임 규칙</a:t>
            </a:r>
            <a:endParaRPr/>
          </a:p>
        </p:txBody>
      </p:sp>
      <p:sp>
        <p:nvSpPr>
          <p:cNvPr id="120" name="文本框 119" descr="{&quot;isTemplate&quot;:true,&quot;type&quot;:&quot;text&quot;}"/>
          <p:cNvSpPr txBox="1"/>
          <p:nvPr/>
        </p:nvSpPr>
        <p:spPr>
          <a:xfrm>
            <a:off x="7743825" y="4429125"/>
            <a:ext cx="402907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5000"/>
              </a:lnSpc>
            </a:pPr>
            <a:r>
              <a:rPr lang="en-US" sz="1088">
                <a:solidFill>
                  <a:srgbClr val="33475B"/>
                </a:solidFill>
                <a:latin typeface="sans-serif"/>
                <a:ea typeface="sans-serif"/>
              </a:rPr>
              <a:t>과제 1일 1회·게임 1일 1회·수업 주 1회를 DB가 강제</a:t>
            </a:r>
            <a:endParaRPr/>
          </a:p>
        </p:txBody>
      </p:sp>
      <p:sp>
        <p:nvSpPr>
          <p:cNvPr id="121" name="文本框 120" descr="{&quot;isTemplate&quot;:true,&quot;type&quot;:&quot;text&quot;}"/>
          <p:cNvSpPr txBox="1"/>
          <p:nvPr/>
        </p:nvSpPr>
        <p:spPr>
          <a:xfrm>
            <a:off x="7743825" y="4819650"/>
            <a:ext cx="40290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sans-serif"/>
                <a:ea typeface="sans-serif"/>
              </a:rPr>
              <a:t>전체 15개는 p.10 부록</a:t>
            </a:r>
            <a:endParaRPr/>
          </a:p>
        </p:txBody>
      </p:sp>
      <p:sp>
        <p:nvSpPr>
          <p:cNvPr id="122" name="文本框 121" descr="{&quot;isTemplate&quot;:true,&quot;type&quot;:&quot;text&quot;}"/>
          <p:cNvSpPr txBox="1"/>
          <p:nvPr/>
        </p:nvSpPr>
        <p:spPr>
          <a:xfrm>
            <a:off x="419100" y="6324600"/>
            <a:ext cx="22098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123" name="文本框 122" descr="{&quot;isTemplate&quot;:true,&quot;type&quot;:&quot;text&quot;}"/>
          <p:cNvSpPr txBox="1"/>
          <p:nvPr/>
        </p:nvSpPr>
        <p:spPr>
          <a:xfrm>
            <a:off x="11477625" y="6324600"/>
            <a:ext cx="2952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5 / 10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2 · DB 설계&lt;/Text&gt;&#10;      &lt;Text style={{ fontSize:11, color:'#94A3B8' }}&gt;⏱ 4:50–5:50&lt;/Text&gt;&#10;    &lt;/Box&gt;&#10;    &lt;Text style={{ fontSize:40, fontWeight:'bold', color:'#0B2136', marginTop:8, lineHeight:1.1 }}&gt;DB 설계 ② — 제약 8종 · 지표 4종&lt;/Text&gt;&#10;    &lt;Text style={{ fontSize:18, color:'#64748B', marginTop:8 }}&gt;규칙은 DB가 지키고, 지표도 DB가 계산&lt;/Text&gt;&#10;  &lt;/Box&gt;&#10;  &lt;Box style={{ width:'100%', height:'1px', background:'#E3EAF2' }} /&gt;&#10;  &lt;Box style={{ width:'100%', height:'456px', marginTop:'18px' }}&gt;&#10;&#10;    &lt;Box style={{ width:'100%', height:'456px', flexDirection:'column', gap:12 }}&gt;&#10;      &lt;Box style={{ height:88, background:'#F6F8FB', borderRadius:12, padding:'14px 20px' }}&gt;&#10;        &lt;Text style={{ fontSize:17, fontWeight:'bold', color:'#185FA5' }}&gt;15개 테이블 · 4개 도메인&lt;/Text&gt;&#10;        &lt;Text style={{ fontSize:15.5, color:'#33475B', marginTop:6 }}&gt;사용자·자산 4　·　기준 데이터 3　·　학습 콘텐츠 2　·　활동·지표 6&lt;/Text&gt;&#10;      &lt;/Box&gt;&#10;&#10;      &lt;Box style={{ height:186, background:'#FDF2F2', borderRadius:12, padding:'14px 20px' }}&gt;&#10;        &lt;Text style={{ fontSize:17, fontWeight:'bold', color:'#A32D2D' }}&gt;UNIQUE 8종 = 어뷰징 차단&lt;/Text&gt;&#10;        &lt;Box style={{ flexDirection:'row', gap:26, marginTop:10 }}&gt;&#10;          &lt;Text style={{ flex:1, fontSize:14.5, color:'#4A2A2A', lineHeight:1.75 }}&gt;· 로봇 1기 — robots(user_id)&lt;br/&gt;· 과제 1일 1회 — quest_logs&lt;br/&gt;· 게임 종류별 1일 1회 — game_logs&lt;br/&gt;· 수업 출석 주 1회 — class_logs&lt;/Text&gt;&#10;          &lt;Text style={{ flex:1, fontSize:14.5, color:'#4A2A2A', lineHeight:1.75 }}&gt;· 공작소 일일 1회 — workshop_logs&lt;br/&gt;· 상호작용 1일 1회 — interact_logs&lt;br/&gt;· 우편 중복 차단 — mailbox(tag)&lt;br/&gt;· 주제 주 1회 — weekly_topics&lt;/Text&gt;&#10;        &lt;/Box&gt;&#10;      &lt;/Box&gt;&#10;&#10;      &lt;Box style={{ flex:1, background:'#E9F5F0', borderRadius:12, padding:'14px 20px' }}&gt;&#10;        &lt;Box style={{ flexDirection:'row', alignItems:'center', gap:16 }}&gt;&#10;          &lt;Box style={{ width:150 }}&gt;&#10;            &lt;Text style={{ fontSize:17, fontWeight:'bold', color:'#0F6E56' }}&gt;평가 4대 지표&lt;/Text&gt;&#10;            &lt;Text style={{ fontSize:13, color:'#0F6E56', marginTop:2 }}&gt;= SQL 집계&lt;/Text&gt;&#10;          &lt;/Box&gt;&#10;          &lt;Text style={{ flex:1, fontSize:14.5, color:'#1F4A3A', lineHeight:1.8 }}&gt;재접속률 — visits&lt;br/&gt;체류시간 — visits.duration&lt;/Text&gt;&#10;          &lt;Text style={{ flex:1, fontSize:14.5, color:'#1F4A3A', lineHeight:1.8 }}&gt;셀 사용량 — cell_tx&lt;br/&gt;과제 제출률 — quest_logs&lt;/Text&gt;&#10;        &lt;/Box&gt;&#10;      &lt;/Box&gt;&#10;    &lt;/Box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6 / 1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矩形 1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6" name="文本框 125" descr="{&quot;isTemplate&quot;:true,&quot;type&quot;:&quot;text&quot;}"/>
          <p:cNvSpPr txBox="1"/>
          <p:nvPr/>
        </p:nvSpPr>
        <p:spPr>
          <a:xfrm>
            <a:off x="419100" y="514350"/>
            <a:ext cx="8286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02 · DB 설계</a:t>
            </a:r>
            <a:endParaRPr/>
          </a:p>
        </p:txBody>
      </p:sp>
      <p:sp>
        <p:nvSpPr>
          <p:cNvPr id="128" name="文本框 127" descr="{&quot;isTemplate&quot;:true,&quot;type&quot;:&quot;text&quot;}"/>
          <p:cNvSpPr txBox="1"/>
          <p:nvPr/>
        </p:nvSpPr>
        <p:spPr>
          <a:xfrm>
            <a:off x="419100" y="742950"/>
            <a:ext cx="11353800" cy="504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DB 설계 ② — 제약 8종 · 지표 4종</a:t>
            </a:r>
            <a:endParaRPr/>
          </a:p>
        </p:txBody>
      </p:sp>
      <p:sp>
        <p:nvSpPr>
          <p:cNvPr id="129" name="文本框 128" descr="{&quot;isTemplate&quot;:true,&quot;type&quot;:&quot;text&quot;}"/>
          <p:cNvSpPr txBox="1"/>
          <p:nvPr/>
        </p:nvSpPr>
        <p:spPr>
          <a:xfrm>
            <a:off x="419100" y="1323975"/>
            <a:ext cx="113538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규칙은 DB가 지키고, 지표도 DB가 계산</a:t>
            </a:r>
            <a:endParaRPr/>
          </a:p>
        </p:txBody>
      </p:sp>
      <p:sp>
        <p:nvSpPr>
          <p:cNvPr id="130" name="矩形 129"/>
          <p:cNvSpPr/>
          <p:nvPr/>
        </p:nvSpPr>
        <p:spPr>
          <a:xfrm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1" name="圆角矩形 130"/>
          <p:cNvSpPr/>
          <p:nvPr/>
        </p:nvSpPr>
        <p:spPr>
          <a:xfrm>
            <a:off x="419100" y="1800225"/>
            <a:ext cx="11353800" cy="838200"/>
          </a:xfrm>
          <a:prstGeom prst="roundRect">
            <a:avLst>
              <a:gd name="adj" fmla="val 13636"/>
            </a:avLst>
          </a:prstGeom>
          <a:solidFill>
            <a:srgbClr val="F6F8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2" name="文本框 131" descr="{&quot;isTemplate&quot;:true,&quot;type&quot;:&quot;text&quot;}"/>
          <p:cNvSpPr txBox="1"/>
          <p:nvPr/>
        </p:nvSpPr>
        <p:spPr>
          <a:xfrm>
            <a:off x="609600" y="1933575"/>
            <a:ext cx="109728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85FA5"/>
                </a:solidFill>
                <a:latin typeface="sans-serif"/>
                <a:ea typeface="sans-serif"/>
              </a:rPr>
              <a:t>15개 테이블 · 4개 도메인</a:t>
            </a:r>
            <a:endParaRPr/>
          </a:p>
        </p:txBody>
      </p:sp>
      <p:sp>
        <p:nvSpPr>
          <p:cNvPr id="133" name="文本框 132" descr="{&quot;isTemplate&quot;:true,&quot;type&quot;:&quot;text&quot;}"/>
          <p:cNvSpPr txBox="1"/>
          <p:nvPr/>
        </p:nvSpPr>
        <p:spPr>
          <a:xfrm>
            <a:off x="609600" y="2190750"/>
            <a:ext cx="10972800" cy="1809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사용자·자산 4</a:t>
            </a:r>
            <a:r>
              <a:rPr lang="zh-CN" sz="1163">
                <a:solidFill>
                  <a:srgbClr val="33475B"/>
                </a:solidFill>
                <a:latin typeface="sans-serif"/>
                <a:ea typeface="sans-serif"/>
              </a:rPr>
              <a:t>　·　기준</a:t>
            </a: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 데이터 3</a:t>
            </a:r>
            <a:r>
              <a:rPr lang="zh-CN" sz="1163">
                <a:solidFill>
                  <a:srgbClr val="33475B"/>
                </a:solidFill>
                <a:latin typeface="sans-serif"/>
                <a:ea typeface="sans-serif"/>
              </a:rPr>
              <a:t>　·　학습</a:t>
            </a: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 콘텐츠 2</a:t>
            </a:r>
            <a:r>
              <a:rPr lang="zh-CN" sz="1163">
                <a:solidFill>
                  <a:srgbClr val="33475B"/>
                </a:solidFill>
                <a:latin typeface="sans-serif"/>
                <a:ea typeface="sans-serif"/>
              </a:rPr>
              <a:t>　·　활동·지표</a:t>
            </a: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 6</a:t>
            </a:r>
            <a:endParaRPr/>
          </a:p>
        </p:txBody>
      </p:sp>
      <p:sp>
        <p:nvSpPr>
          <p:cNvPr id="134" name="圆角矩形 133"/>
          <p:cNvSpPr/>
          <p:nvPr/>
        </p:nvSpPr>
        <p:spPr>
          <a:xfrm>
            <a:off x="419100" y="2752725"/>
            <a:ext cx="11353800" cy="1771650"/>
          </a:xfrm>
          <a:prstGeom prst="roundRect">
            <a:avLst>
              <a:gd name="adj" fmla="val 6452"/>
            </a:avLst>
          </a:prstGeom>
          <a:solidFill>
            <a:srgbClr val="FDF2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5" name="文本框 134" descr="{&quot;isTemplate&quot;:true,&quot;type&quot;:&quot;text&quot;}"/>
          <p:cNvSpPr txBox="1"/>
          <p:nvPr/>
        </p:nvSpPr>
        <p:spPr>
          <a:xfrm>
            <a:off x="609600" y="2886075"/>
            <a:ext cx="109728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A32D2D"/>
                </a:solidFill>
                <a:latin typeface="sans-serif"/>
                <a:ea typeface="sans-serif"/>
              </a:rPr>
              <a:t>UNIQUE 8종 = 어뷰징 차단</a:t>
            </a:r>
            <a:endParaRPr/>
          </a:p>
        </p:txBody>
      </p:sp>
      <p:sp>
        <p:nvSpPr>
          <p:cNvPr id="136" name="文本框 135" descr="{&quot;isTemplate&quot;:true,&quot;type&quot;:&quot;text&quot;}"/>
          <p:cNvSpPr txBox="1"/>
          <p:nvPr/>
        </p:nvSpPr>
        <p:spPr>
          <a:xfrm>
            <a:off x="609600" y="3181350"/>
            <a:ext cx="5362575" cy="11620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로봇 1기 — robots(user_id)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과제 1일 1회 — quest_logs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게임 종류별 1일 1회 — game_logs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수업 출석 주 1회 — class_logs</a:t>
            </a:r>
            <a:endParaRPr/>
          </a:p>
        </p:txBody>
      </p:sp>
      <p:sp>
        <p:nvSpPr>
          <p:cNvPr id="137" name="文本框 136" descr="{&quot;isTemplate&quot;:true,&quot;type&quot;:&quot;text&quot;}"/>
          <p:cNvSpPr txBox="1"/>
          <p:nvPr/>
        </p:nvSpPr>
        <p:spPr>
          <a:xfrm>
            <a:off x="6219825" y="3181350"/>
            <a:ext cx="5362575" cy="11620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공작소 일일 1회 — workshop_logs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상호작용 1일 1회 — interact_logs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우편 중복 차단 — mailbox(tag)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주제 주 1회 — weekly_topics</a:t>
            </a:r>
            <a:endParaRPr/>
          </a:p>
        </p:txBody>
      </p:sp>
      <p:sp>
        <p:nvSpPr>
          <p:cNvPr id="138" name="圆角矩形 137"/>
          <p:cNvSpPr/>
          <p:nvPr/>
        </p:nvSpPr>
        <p:spPr>
          <a:xfrm>
            <a:off x="419100" y="4638675"/>
            <a:ext cx="11353800" cy="1504950"/>
          </a:xfrm>
          <a:prstGeom prst="roundRect">
            <a:avLst>
              <a:gd name="adj" fmla="val 7595"/>
            </a:avLst>
          </a:prstGeom>
          <a:solidFill>
            <a:srgbClr val="E9F5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9" name="文本框 138" descr="{&quot;isTemplate&quot;:true,&quot;type&quot;:&quot;text&quot;}"/>
          <p:cNvSpPr txBox="1"/>
          <p:nvPr/>
        </p:nvSpPr>
        <p:spPr>
          <a:xfrm>
            <a:off x="609600" y="4886325"/>
            <a:ext cx="14287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F6E56"/>
                </a:solidFill>
                <a:latin typeface="sans-serif"/>
                <a:ea typeface="sans-serif"/>
              </a:rPr>
              <a:t>평가 4대 지표</a:t>
            </a:r>
            <a:endParaRPr/>
          </a:p>
        </p:txBody>
      </p:sp>
      <p:sp>
        <p:nvSpPr>
          <p:cNvPr id="140" name="文本框 139" descr="{&quot;isTemplate&quot;:true,&quot;type&quot;:&quot;text&quot;}"/>
          <p:cNvSpPr txBox="1"/>
          <p:nvPr/>
        </p:nvSpPr>
        <p:spPr>
          <a:xfrm>
            <a:off x="609600" y="5105400"/>
            <a:ext cx="14287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0F6E56"/>
                </a:solidFill>
                <a:latin typeface="sans-serif"/>
                <a:ea typeface="sans-serif"/>
              </a:rPr>
              <a:t>= SQL 집계</a:t>
            </a:r>
            <a:endParaRPr/>
          </a:p>
        </p:txBody>
      </p:sp>
      <p:sp>
        <p:nvSpPr>
          <p:cNvPr id="141" name="文本框 140" descr="{&quot;isTemplate&quot;:true,&quot;type&quot;:&quot;text&quot;}"/>
          <p:cNvSpPr txBox="1"/>
          <p:nvPr/>
        </p:nvSpPr>
        <p:spPr>
          <a:xfrm>
            <a:off x="2190750" y="4772025"/>
            <a:ext cx="4619625" cy="600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80000"/>
              </a:lnSpc>
            </a:pPr>
            <a:r>
              <a:rPr lang="en-US" sz="1088">
                <a:solidFill>
                  <a:srgbClr val="1F4A3A"/>
                </a:solidFill>
                <a:latin typeface="sans-serif"/>
                <a:ea typeface="sans-serif"/>
              </a:rPr>
              <a:t>재접속률 — visits</a:t>
            </a:r>
            <a:endParaRPr/>
          </a:p>
          <a:p>
            <a:pPr>
              <a:lnSpc>
                <a:spcPct val="180000"/>
              </a:lnSpc>
            </a:pPr>
            <a:r>
              <a:rPr lang="en-US" sz="1088">
                <a:solidFill>
                  <a:srgbClr val="1F4A3A"/>
                </a:solidFill>
                <a:latin typeface="sans-serif"/>
                <a:ea typeface="sans-serif"/>
              </a:rPr>
              <a:t>체류시간 — visits.duration</a:t>
            </a:r>
            <a:endParaRPr/>
          </a:p>
        </p:txBody>
      </p:sp>
      <p:sp>
        <p:nvSpPr>
          <p:cNvPr id="142" name="文本框 141" descr="{&quot;isTemplate&quot;:true,&quot;type&quot;:&quot;text&quot;}"/>
          <p:cNvSpPr txBox="1"/>
          <p:nvPr/>
        </p:nvSpPr>
        <p:spPr>
          <a:xfrm>
            <a:off x="6962775" y="4772025"/>
            <a:ext cx="4619625" cy="600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80000"/>
              </a:lnSpc>
            </a:pPr>
            <a:r>
              <a:rPr lang="en-US" sz="1088">
                <a:solidFill>
                  <a:srgbClr val="1F4A3A"/>
                </a:solidFill>
                <a:latin typeface="sans-serif"/>
                <a:ea typeface="sans-serif"/>
              </a:rPr>
              <a:t>셀 사용량 — cell_tx</a:t>
            </a:r>
            <a:endParaRPr/>
          </a:p>
          <a:p>
            <a:pPr>
              <a:lnSpc>
                <a:spcPct val="180000"/>
              </a:lnSpc>
            </a:pPr>
            <a:r>
              <a:rPr lang="en-US" sz="1088">
                <a:solidFill>
                  <a:srgbClr val="1F4A3A"/>
                </a:solidFill>
                <a:latin typeface="sans-serif"/>
                <a:ea typeface="sans-serif"/>
              </a:rPr>
              <a:t>과제 제출률 — quest_logs</a:t>
            </a:r>
            <a:endParaRPr/>
          </a:p>
        </p:txBody>
      </p:sp>
      <p:sp>
        <p:nvSpPr>
          <p:cNvPr id="143" name="文本框 142" descr="{&quot;isTemplate&quot;:true,&quot;type&quot;:&quot;text&quot;}"/>
          <p:cNvSpPr txBox="1"/>
          <p:nvPr/>
        </p:nvSpPr>
        <p:spPr>
          <a:xfrm>
            <a:off x="419100" y="6324600"/>
            <a:ext cx="22098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144" name="文本框 143" descr="{&quot;isTemplate&quot;:true,&quot;type&quot;:&quot;text&quot;}"/>
          <p:cNvSpPr txBox="1"/>
          <p:nvPr/>
        </p:nvSpPr>
        <p:spPr>
          <a:xfrm>
            <a:off x="11477625" y="6324600"/>
            <a:ext cx="2952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6 / 10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3 · 구현 화면&lt;/Text&gt;&#10;      &lt;Text style={{ fontSize:11, color:'#94A3B8' }}&gt;⏱ 5:50–7:00&lt;/Text&gt;&#10;    &lt;/Box&gt;&#10;    &lt;Text style={{ fontSize:40, fontWeight:'bold', color:'#0B2136', marginTop:8, lineHeight:1.1 }}&gt;구현 화면 — 공작소와 우편함&lt;/Text&gt;&#10;    &lt;Text style={{ fontSize:18, color:'#64748B', marginTop:8 }}&gt;데모 대신 실제 동작 화면으로&lt;/Text&gt;&#10;  &lt;/Box&gt;&#10;  &lt;Box style={{ width:'100%', height:'1px', background:'#E3EAF2' }} /&gt;&#10;&#10;  &lt;Box style={{ width:'100%', height:'456px', marginTop:'18px', flexDirection:'column' }}&gt;&#10;    &lt;Box style={{ width:'100%', flexDirection:'row', gap:20 }}&gt;&#10;      &lt;Box style={{ width:536 }}&gt;&#10;        &lt;Box style={{ width:536, height:339, background:'#F6F8FB', borderRadius:14, padding:8, alignItems:'center', justifyContent:'center' }}&gt;&#10;          &lt;Image src=&quot;assets/s_workshop.png&quot; style={{ width:520, height:329, borderRadius:8 }} /&gt;&#10;        &lt;/Box&gt;&#10;        &lt;Text style={{ fontSize:20, fontWeight:'bold', color:'#0B2136', marginTop:8 }}&gt;공작소 — 공작소 안의 AI 모듈&lt;/Text&gt;&#10;        &lt;Text style={{ fontSize:15, color:'#33475B', marginTop:2 }}&gt;색칠 다시 하기 · AI 성격 재생성 · 로봇에게 질문&lt;/Text&gt;&#10;      &lt;/Box&gt;&#10;      &lt;Box style={{ width:536 }}&gt;&#10;        &lt;Box style={{ width:536, height:339, background:'#F6F8FB', borderRadius:14, padding:8, alignItems:'center', justifyContent:'center' }}&gt;&#10;          &lt;Image src=&quot;assets/s_mail.png&quot; style={{ width:520, height:329, borderRadius:8 }} /&gt;&#10;        &lt;/Box&gt;&#10;        &lt;Text style={{ fontSize:20, fontWeight:'bold', color:'#0B2136', marginTop:8 }}&gt;우편함 — 수령형 보상&lt;/Text&gt;&#10;        &lt;Text style={{ fontSize:15, color:'#33475B', marginTop:2 }}&gt;공지·선물을 직접 열어야 받음 (재방문 동기)&lt;/Text&gt;&#10;      &lt;/Box&gt;&#10;    &lt;/Box&gt;&#10;&#10;    &lt;Box style={{ width:'100%', background:'#EDF4FC', borderRadius:12, padding:'12px 20px', marginTop:12 }}&gt;&#10;      &lt;Text style={{ fontSize:15, color:'#33475B' }}&gt;&lt;b style={{ color:'#185FA5' }}&gt;그 외&lt;/b&gt;　상점 = 부품·장식·스킨　|　리포트 = 재접속률·7일 추이　|　&lt;b&gt;수업 출석 = 주 1회 +100셀&lt;/b&gt;&lt;/Text&gt;&#10;    &lt;/Box&gt;&#10;  &lt;/Box&gt;&#10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7 / 1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矩形 1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7" name="文本框 146" descr="{&quot;isTemplate&quot;:true,&quot;type&quot;:&quot;text&quot;}"/>
          <p:cNvSpPr txBox="1"/>
          <p:nvPr/>
        </p:nvSpPr>
        <p:spPr>
          <a:xfrm>
            <a:off x="419100" y="514350"/>
            <a:ext cx="8572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03 · 구현 화면</a:t>
            </a:r>
            <a:endParaRPr/>
          </a:p>
        </p:txBody>
      </p:sp>
      <p:sp>
        <p:nvSpPr>
          <p:cNvPr id="149" name="文本框 148" descr="{&quot;isTemplate&quot;:true,&quot;type&quot;:&quot;text&quot;}"/>
          <p:cNvSpPr txBox="1"/>
          <p:nvPr/>
        </p:nvSpPr>
        <p:spPr>
          <a:xfrm>
            <a:off x="419100" y="742950"/>
            <a:ext cx="11353800" cy="504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구현 화면 — 공작소와 우편함</a:t>
            </a:r>
            <a:endParaRPr/>
          </a:p>
        </p:txBody>
      </p:sp>
      <p:sp>
        <p:nvSpPr>
          <p:cNvPr id="150" name="文本框 149" descr="{&quot;isTemplate&quot;:true,&quot;type&quot;:&quot;text&quot;}"/>
          <p:cNvSpPr txBox="1"/>
          <p:nvPr/>
        </p:nvSpPr>
        <p:spPr>
          <a:xfrm>
            <a:off x="419100" y="1323975"/>
            <a:ext cx="113538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데모 대신 실제 동작 화면으로</a:t>
            </a:r>
            <a:endParaRPr/>
          </a:p>
        </p:txBody>
      </p:sp>
      <p:sp>
        <p:nvSpPr>
          <p:cNvPr id="151" name="矩形 150"/>
          <p:cNvSpPr/>
          <p:nvPr/>
        </p:nvSpPr>
        <p:spPr>
          <a:xfrm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2" name="圆角矩形 151"/>
          <p:cNvSpPr/>
          <p:nvPr/>
        </p:nvSpPr>
        <p:spPr>
          <a:xfrm>
            <a:off x="419100" y="1800225"/>
            <a:ext cx="5105400" cy="3228975"/>
          </a:xfrm>
          <a:prstGeom prst="roundRect">
            <a:avLst>
              <a:gd name="adj" fmla="val 4130"/>
            </a:avLst>
          </a:prstGeom>
          <a:solidFill>
            <a:srgbClr val="F6F8F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3" name="图片 152"/>
          <p:cNvPicPr>
            <a:picLocks noChangeAspect="1"/>
          </p:cNvPicPr>
          <p:nvPr/>
        </p:nvPicPr>
        <p:blipFill>
          <a:blip r:embed="rId2"/>
          <a:srcRect l="26" r="26"/>
          <a:stretch>
            <a:fillRect/>
          </a:stretch>
        </p:blipFill>
        <p:spPr>
          <a:xfrm>
            <a:off x="495300" y="1847850"/>
            <a:ext cx="4953000" cy="3133725"/>
          </a:xfrm>
          <a:prstGeom prst="roundRect">
            <a:avLst>
              <a:gd name="adj" fmla="val 2432"/>
            </a:avLst>
          </a:prstGeom>
          <a:ln/>
        </p:spPr>
      </p:pic>
      <p:sp>
        <p:nvSpPr>
          <p:cNvPr id="154" name="文本框 153" descr="{&quot;isTemplate&quot;:true,&quot;type&quot;:&quot;text&quot;}"/>
          <p:cNvSpPr txBox="1"/>
          <p:nvPr/>
        </p:nvSpPr>
        <p:spPr>
          <a:xfrm>
            <a:off x="419100" y="5105400"/>
            <a:ext cx="51054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2136"/>
                </a:solidFill>
                <a:latin typeface="sans-serif"/>
                <a:ea typeface="sans-serif"/>
              </a:rPr>
              <a:t>공작소 — 공작소 안의 AI 모듈</a:t>
            </a:r>
            <a:endParaRPr/>
          </a:p>
        </p:txBody>
      </p:sp>
      <p:sp>
        <p:nvSpPr>
          <p:cNvPr id="155" name="文本框 154" descr="{&quot;isTemplate&quot;:true,&quot;type&quot;:&quot;text&quot;}"/>
          <p:cNvSpPr txBox="1"/>
          <p:nvPr/>
        </p:nvSpPr>
        <p:spPr>
          <a:xfrm>
            <a:off x="419100" y="5353050"/>
            <a:ext cx="51054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색칠 다시 하기 · AI 성격 재생성 · 로봇에게 질문</a:t>
            </a:r>
            <a:endParaRPr/>
          </a:p>
        </p:txBody>
      </p:sp>
      <p:sp>
        <p:nvSpPr>
          <p:cNvPr id="156" name="圆角矩形 155"/>
          <p:cNvSpPr/>
          <p:nvPr/>
        </p:nvSpPr>
        <p:spPr>
          <a:xfrm>
            <a:off x="5715000" y="1800225"/>
            <a:ext cx="5105400" cy="3228975"/>
          </a:xfrm>
          <a:prstGeom prst="roundRect">
            <a:avLst>
              <a:gd name="adj" fmla="val 4130"/>
            </a:avLst>
          </a:prstGeom>
          <a:solidFill>
            <a:srgbClr val="F6F8F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7" name="图片 156"/>
          <p:cNvPicPr>
            <a:picLocks noChangeAspect="1"/>
          </p:cNvPicPr>
          <p:nvPr/>
        </p:nvPicPr>
        <p:blipFill>
          <a:blip r:embed="rId3"/>
          <a:srcRect l="26" r="26"/>
          <a:stretch>
            <a:fillRect/>
          </a:stretch>
        </p:blipFill>
        <p:spPr>
          <a:xfrm>
            <a:off x="5791200" y="1847850"/>
            <a:ext cx="4953000" cy="3133725"/>
          </a:xfrm>
          <a:prstGeom prst="roundRect">
            <a:avLst>
              <a:gd name="adj" fmla="val 2432"/>
            </a:avLst>
          </a:prstGeom>
          <a:ln/>
        </p:spPr>
      </p:pic>
      <p:sp>
        <p:nvSpPr>
          <p:cNvPr id="158" name="文本框 157" descr="{&quot;isTemplate&quot;:true,&quot;type&quot;:&quot;text&quot;}"/>
          <p:cNvSpPr txBox="1"/>
          <p:nvPr/>
        </p:nvSpPr>
        <p:spPr>
          <a:xfrm>
            <a:off x="5715000" y="5105400"/>
            <a:ext cx="51054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2136"/>
                </a:solidFill>
                <a:latin typeface="sans-serif"/>
                <a:ea typeface="sans-serif"/>
              </a:rPr>
              <a:t>우편함 — 수령형 보상</a:t>
            </a:r>
            <a:endParaRPr/>
          </a:p>
        </p:txBody>
      </p:sp>
      <p:sp>
        <p:nvSpPr>
          <p:cNvPr id="159" name="文本框 158" descr="{&quot;isTemplate&quot;:true,&quot;type&quot;:&quot;text&quot;}"/>
          <p:cNvSpPr txBox="1"/>
          <p:nvPr/>
        </p:nvSpPr>
        <p:spPr>
          <a:xfrm>
            <a:off x="5715000" y="5353050"/>
            <a:ext cx="51054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공지·선물을 직접 열어야 받음 (재방문 동기)</a:t>
            </a:r>
            <a:endParaRPr/>
          </a:p>
        </p:txBody>
      </p:sp>
      <p:sp>
        <p:nvSpPr>
          <p:cNvPr id="160" name="圆角矩形 159"/>
          <p:cNvSpPr/>
          <p:nvPr/>
        </p:nvSpPr>
        <p:spPr>
          <a:xfrm>
            <a:off x="419100" y="5638800"/>
            <a:ext cx="11353800" cy="400050"/>
          </a:xfrm>
          <a:prstGeom prst="roundRect">
            <a:avLst>
              <a:gd name="adj" fmla="val 28571"/>
            </a:avLst>
          </a:prstGeom>
          <a:solidFill>
            <a:srgbClr val="EDF4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1" name="文本框 160" descr="{&quot;isTemplate&quot;:true,&quot;type&quot;:&quot;text&quot;}"/>
          <p:cNvSpPr txBox="1"/>
          <p:nvPr/>
        </p:nvSpPr>
        <p:spPr>
          <a:xfrm>
            <a:off x="609600" y="5753100"/>
            <a:ext cx="109728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그 외</a:t>
            </a:r>
            <a:r>
              <a:rPr lang="zh-CN" sz="1125">
                <a:solidFill>
                  <a:srgbClr val="33475B"/>
                </a:solidFill>
                <a:latin typeface="sans-serif"/>
                <a:ea typeface="sans-serif"/>
              </a:rPr>
              <a:t>　상점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 = 부품·장식·스킨</a:t>
            </a:r>
            <a:r>
              <a:rPr lang="zh-CN" sz="1125">
                <a:solidFill>
                  <a:srgbClr val="33475B"/>
                </a:solidFill>
                <a:latin typeface="sans-serif"/>
                <a:ea typeface="sans-serif"/>
              </a:rPr>
              <a:t>　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|</a:t>
            </a:r>
            <a:r>
              <a:rPr lang="zh-CN" sz="1125">
                <a:solidFill>
                  <a:srgbClr val="33475B"/>
                </a:solidFill>
                <a:latin typeface="sans-serif"/>
                <a:ea typeface="sans-serif"/>
              </a:rPr>
              <a:t>　리포트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 = 재접속률·7일 추이</a:t>
            </a:r>
            <a:r>
              <a:rPr lang="zh-CN" sz="1125">
                <a:solidFill>
                  <a:srgbClr val="33475B"/>
                </a:solidFill>
                <a:latin typeface="sans-serif"/>
                <a:ea typeface="sans-serif"/>
              </a:rPr>
              <a:t>　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|</a:t>
            </a:r>
            <a:r>
              <a:rPr lang="zh-CN" sz="1125">
                <a:solidFill>
                  <a:srgbClr val="33475B"/>
                </a:solidFill>
                <a:latin typeface="sans-serif"/>
                <a:ea typeface="sans-serif"/>
              </a:rPr>
              <a:t>　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수업 출석 = 주 1회 +100셀</a:t>
            </a:r>
            <a:endParaRPr/>
          </a:p>
        </p:txBody>
      </p:sp>
      <p:sp>
        <p:nvSpPr>
          <p:cNvPr id="162" name="文本框 161" descr="{&quot;isTemplate&quot;:true,&quot;type&quot;:&quot;text&quot;}"/>
          <p:cNvSpPr txBox="1"/>
          <p:nvPr/>
        </p:nvSpPr>
        <p:spPr>
          <a:xfrm>
            <a:off x="419100" y="6324600"/>
            <a:ext cx="22098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163" name="文本框 162" descr="{&quot;isTemplate&quot;:true,&quot;type&quot;:&quot;text&quot;}"/>
          <p:cNvSpPr txBox="1"/>
          <p:nvPr/>
        </p:nvSpPr>
        <p:spPr>
          <a:xfrm>
            <a:off x="11477625" y="6324600"/>
            <a:ext cx="2952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7 / 10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1 · 기획&lt;/Text&gt;&#10;      &lt;Text style={{ fontSize:11, color:'#94A3B8' }}&gt;⏱ 7:00–7:40&lt;/Text&gt;&#10;    &lt;/Box&gt;&#10;    &lt;Text style={{ fontSize:40, fontWeight:'bold', color:'#0B2136', marginTop:8, lineHeight:1.1 }}&gt;연결점과 확인 요청&lt;/Text&gt;&#10;    &lt;Text style={{ fontSize:18, color:'#64748B', marginTop:8 }}&gt;DOROBUS 스택과 맞물리는 지점&lt;/Text&gt;&#10;  &lt;/Box&gt;&#10;  &lt;Box style={{ width:'100%', height:'1px', background:'#E3EAF2' }} /&gt;&#10;  &lt;Box style={{ width:'100%', height:'456px', marginTop:'18px' }}&gt;&#10;&#10;    &lt;Box style={{ width:'100%', height:'150px', flexDirection:'row', gap:14 }}&gt;&#10;      &lt;Box style={{ flex:1, background:'#FFFFFF', border:'1px solid #E3EAF2', borderRadius:12, padding:'18px 20px' }}&gt;&#10;          &lt;Text style={{ fontSize:21, fontWeight:'bold', color:'#185FA5' }}&gt;셀(재화)&lt;/Text&gt;&#10;          &lt;Text style={{ fontSize:15.5, color:'#33475B', marginTop:8 }}&gt;획득 6 · 소비 5&lt;/Text&gt;&#10;        &lt;/Box&gt;&lt;Box style={{ flex:1, background:'#FFFFFF', border:'1px solid #E3EAF2', borderRadius:12, padding:'18px 20px' }}&gt;&#10;          &lt;Text style={{ fontSize:21, fontWeight:'bold', color:'#0F6E56' }}&gt;공작소&lt;/Text&gt;&#10;          &lt;Text style={{ fontSize:15.5, color:'#33475B', marginTop:8 }}&gt;커스터마이징 + AI 모듈&lt;/Text&gt;&#10;        &lt;/Box&gt;&lt;Box style={{ flex:1, background:'#FFFFFF', border:'1px solid #E3EAF2', borderRadius:12, padding:'18px 20px' }}&gt;&#10;          &lt;Text style={{ fontSize:21, fontWeight:'bold', color:'#A06A00' }}&gt;우편함&lt;/Text&gt;&#10;          &lt;Text style={{ fontSize:15.5, color:'#33475B', marginTop:8 }}&gt;운영자 공지·보상&lt;/Text&gt;&#10;        &lt;/Box&gt;&#10;    &lt;/Box&gt;&#10;&#10;    &lt;Box style={{ width:'100%', height:'216px', background:'#FBF3E5', borderRadius:12, padding:'20px 24px', marginTop:16 }}&gt;&#10;      &lt;Text style={{ fontSize:18, fontWeight:'bold', color:'#A06A00' }}&gt;오늘 확인받고 싶은 것&lt;/Text&gt;&#10;      &lt;Text style={{ fontSize:16, color:'#4A3A18', marginTop:12, lineHeight:1.9 }}&gt;① 공작소 &lt;b&gt;안&lt;/b&gt;에 탑재하는 형태가 맞는지&lt;br/&gt;② 정식 계정 · 공식 에셋(로봇 선화·GLB) 지원 가능 여부&lt;br/&gt;③ 체험 계정 유효기간(12/25) 내 최종 발표 가능 여부&lt;/Text&gt;&#10;    &lt;/Box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8 / 1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矩形 16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6" name="文本框 165" descr="{&quot;isTemplate&quot;:true,&quot;type&quot;:&quot;text&quot;}"/>
          <p:cNvSpPr txBox="1"/>
          <p:nvPr/>
        </p:nvSpPr>
        <p:spPr>
          <a:xfrm>
            <a:off x="419100" y="514350"/>
            <a:ext cx="5619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01 · 기획</a:t>
            </a:r>
            <a:endParaRPr/>
          </a:p>
        </p:txBody>
      </p:sp>
      <p:sp>
        <p:nvSpPr>
          <p:cNvPr id="168" name="文本框 167" descr="{&quot;isTemplate&quot;:true,&quot;type&quot;:&quot;text&quot;}"/>
          <p:cNvSpPr txBox="1"/>
          <p:nvPr/>
        </p:nvSpPr>
        <p:spPr>
          <a:xfrm>
            <a:off x="419100" y="742950"/>
            <a:ext cx="11353800" cy="504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연결점과 확인 요청</a:t>
            </a:r>
            <a:endParaRPr/>
          </a:p>
        </p:txBody>
      </p:sp>
      <p:sp>
        <p:nvSpPr>
          <p:cNvPr id="169" name="文本框 168" descr="{&quot;isTemplate&quot;:true,&quot;type&quot;:&quot;text&quot;}"/>
          <p:cNvSpPr txBox="1"/>
          <p:nvPr/>
        </p:nvSpPr>
        <p:spPr>
          <a:xfrm>
            <a:off x="419100" y="1323975"/>
            <a:ext cx="113538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DOROBUS 스택과 맞물리는 지점</a:t>
            </a:r>
            <a:endParaRPr/>
          </a:p>
        </p:txBody>
      </p:sp>
      <p:sp>
        <p:nvSpPr>
          <p:cNvPr id="170" name="矩形 169"/>
          <p:cNvSpPr/>
          <p:nvPr/>
        </p:nvSpPr>
        <p:spPr>
          <a:xfrm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1" name="圆角矩形 170"/>
          <p:cNvSpPr/>
          <p:nvPr/>
        </p:nvSpPr>
        <p:spPr>
          <a:xfrm>
            <a:off x="419100" y="1800225"/>
            <a:ext cx="36957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2" name="文本框 171" descr="{&quot;isTemplate&quot;:true,&quot;type&quot;:&quot;text&quot;}"/>
          <p:cNvSpPr txBox="1"/>
          <p:nvPr/>
        </p:nvSpPr>
        <p:spPr>
          <a:xfrm>
            <a:off x="609600" y="1971675"/>
            <a:ext cx="33147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85FA5"/>
                </a:solidFill>
                <a:latin typeface="sans-serif"/>
                <a:ea typeface="sans-serif"/>
              </a:rPr>
              <a:t>셀(재화)</a:t>
            </a:r>
            <a:endParaRPr/>
          </a:p>
        </p:txBody>
      </p:sp>
      <p:sp>
        <p:nvSpPr>
          <p:cNvPr id="173" name="文本框 172" descr="{&quot;isTemplate&quot;:true,&quot;type&quot;:&quot;text&quot;}"/>
          <p:cNvSpPr txBox="1"/>
          <p:nvPr/>
        </p:nvSpPr>
        <p:spPr>
          <a:xfrm>
            <a:off x="609600" y="2295525"/>
            <a:ext cx="3314700" cy="1809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획득 6 · 소비 5</a:t>
            </a:r>
            <a:endParaRPr/>
          </a:p>
        </p:txBody>
      </p:sp>
      <p:sp>
        <p:nvSpPr>
          <p:cNvPr id="174" name="圆角矩形 173"/>
          <p:cNvSpPr/>
          <p:nvPr/>
        </p:nvSpPr>
        <p:spPr>
          <a:xfrm>
            <a:off x="4248150" y="1800225"/>
            <a:ext cx="36957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5" name="文本框 174" descr="{&quot;isTemplate&quot;:true,&quot;type&quot;:&quot;text&quot;}"/>
          <p:cNvSpPr txBox="1"/>
          <p:nvPr/>
        </p:nvSpPr>
        <p:spPr>
          <a:xfrm>
            <a:off x="4438650" y="1971675"/>
            <a:ext cx="33147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575" b="1">
                <a:solidFill>
                  <a:srgbClr val="0F6E56"/>
                </a:solidFill>
                <a:latin typeface="sans-serif"/>
                <a:ea typeface="sans-serif"/>
              </a:rPr>
              <a:t>공작소</a:t>
            </a:r>
            <a:endParaRPr/>
          </a:p>
        </p:txBody>
      </p:sp>
      <p:sp>
        <p:nvSpPr>
          <p:cNvPr id="176" name="文本框 175" descr="{&quot;isTemplate&quot;:true,&quot;type&quot;:&quot;text&quot;}"/>
          <p:cNvSpPr txBox="1"/>
          <p:nvPr/>
        </p:nvSpPr>
        <p:spPr>
          <a:xfrm>
            <a:off x="4438650" y="2295525"/>
            <a:ext cx="3314700" cy="1809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커스터마이징 + AI 모듈</a:t>
            </a:r>
            <a:endParaRPr/>
          </a:p>
        </p:txBody>
      </p:sp>
      <p:sp>
        <p:nvSpPr>
          <p:cNvPr id="177" name="圆角矩形 176"/>
          <p:cNvSpPr/>
          <p:nvPr/>
        </p:nvSpPr>
        <p:spPr>
          <a:xfrm>
            <a:off x="8077200" y="1800225"/>
            <a:ext cx="36957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8" name="文本框 177" descr="{&quot;isTemplate&quot;:true,&quot;type&quot;:&quot;text&quot;}"/>
          <p:cNvSpPr txBox="1"/>
          <p:nvPr/>
        </p:nvSpPr>
        <p:spPr>
          <a:xfrm>
            <a:off x="8267700" y="1971675"/>
            <a:ext cx="33147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575" b="1">
                <a:solidFill>
                  <a:srgbClr val="A06A00"/>
                </a:solidFill>
                <a:latin typeface="sans-serif"/>
                <a:ea typeface="sans-serif"/>
              </a:rPr>
              <a:t>우편함</a:t>
            </a:r>
            <a:endParaRPr/>
          </a:p>
        </p:txBody>
      </p:sp>
      <p:sp>
        <p:nvSpPr>
          <p:cNvPr id="179" name="文本框 178" descr="{&quot;isTemplate&quot;:true,&quot;type&quot;:&quot;text&quot;}"/>
          <p:cNvSpPr txBox="1"/>
          <p:nvPr/>
        </p:nvSpPr>
        <p:spPr>
          <a:xfrm>
            <a:off x="8267700" y="2295525"/>
            <a:ext cx="3314700" cy="1809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운영자 공지·보상</a:t>
            </a:r>
            <a:endParaRPr/>
          </a:p>
        </p:txBody>
      </p:sp>
      <p:sp>
        <p:nvSpPr>
          <p:cNvPr id="180" name="圆角矩形 179"/>
          <p:cNvSpPr/>
          <p:nvPr/>
        </p:nvSpPr>
        <p:spPr>
          <a:xfrm>
            <a:off x="419100" y="3381375"/>
            <a:ext cx="11353800" cy="2057400"/>
          </a:xfrm>
          <a:prstGeom prst="roundRect">
            <a:avLst>
              <a:gd name="adj" fmla="val 5556"/>
            </a:avLst>
          </a:prstGeom>
          <a:solidFill>
            <a:srgbClr val="FBF3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1" name="文本框 180" descr="{&quot;isTemplate&quot;:true,&quot;type&quot;:&quot;text&quot;}"/>
          <p:cNvSpPr txBox="1"/>
          <p:nvPr/>
        </p:nvSpPr>
        <p:spPr>
          <a:xfrm>
            <a:off x="647700" y="3571875"/>
            <a:ext cx="108966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A06A00"/>
                </a:solidFill>
                <a:latin typeface="sans-serif"/>
                <a:ea typeface="sans-serif"/>
              </a:rPr>
              <a:t>오늘 확인받고 싶은 것</a:t>
            </a:r>
            <a:endParaRPr/>
          </a:p>
        </p:txBody>
      </p:sp>
      <p:sp>
        <p:nvSpPr>
          <p:cNvPr id="182" name="文本框 181" descr="{&quot;isTemplate&quot;:true,&quot;type&quot;:&quot;text&quot;}"/>
          <p:cNvSpPr txBox="1"/>
          <p:nvPr/>
        </p:nvSpPr>
        <p:spPr>
          <a:xfrm>
            <a:off x="647700" y="3895725"/>
            <a:ext cx="10896600" cy="1047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90000"/>
              </a:lnSpc>
            </a:pPr>
            <a:r>
              <a:rPr lang="en-US" sz="1200">
                <a:solidFill>
                  <a:srgbClr val="4A3A18"/>
                </a:solidFill>
                <a:latin typeface="sans-serif"/>
                <a:ea typeface="sans-serif"/>
              </a:rPr>
              <a:t>① 공작소 </a:t>
            </a:r>
            <a:r>
              <a:rPr sz="1200">
                <a:solidFill>
                  <a:srgbClr val="4A3A18"/>
                </a:solidFill>
                <a:latin typeface="sans-serif"/>
                <a:ea typeface="sans-serif"/>
              </a:rPr>
              <a:t>안</a:t>
            </a:r>
            <a:r>
              <a:rPr lang="en-US" sz="1200">
                <a:solidFill>
                  <a:srgbClr val="4A3A18"/>
                </a:solidFill>
                <a:latin typeface="sans-serif"/>
                <a:ea typeface="sans-serif"/>
              </a:rPr>
              <a:t>에 탑재하는 형태가 맞는지</a:t>
            </a:r>
            <a:endParaRPr/>
          </a:p>
          <a:p>
            <a:pPr>
              <a:lnSpc>
                <a:spcPct val="190000"/>
              </a:lnSpc>
            </a:pPr>
            <a:r>
              <a:rPr lang="en-US" sz="1200">
                <a:solidFill>
                  <a:srgbClr val="4A3A18"/>
                </a:solidFill>
                <a:latin typeface="sans-serif"/>
                <a:ea typeface="sans-serif"/>
              </a:rPr>
              <a:t>② 정식 계정 · 공식 에셋(로봇 선화·GLB) 지원 가능 여부</a:t>
            </a:r>
            <a:endParaRPr/>
          </a:p>
          <a:p>
            <a:pPr>
              <a:lnSpc>
                <a:spcPct val="190000"/>
              </a:lnSpc>
            </a:pPr>
            <a:r>
              <a:rPr lang="en-US" sz="1200">
                <a:solidFill>
                  <a:srgbClr val="4A3A18"/>
                </a:solidFill>
                <a:latin typeface="sans-serif"/>
                <a:ea typeface="sans-serif"/>
              </a:rPr>
              <a:t>③ 체험 계정 유효기간(12/25) 내 최종 발표 가능 여부</a:t>
            </a:r>
            <a:endParaRPr/>
          </a:p>
        </p:txBody>
      </p:sp>
      <p:sp>
        <p:nvSpPr>
          <p:cNvPr id="183" name="文本框 182" descr="{&quot;isTemplate&quot;:true,&quot;type&quot;:&quot;text&quot;}"/>
          <p:cNvSpPr txBox="1"/>
          <p:nvPr/>
        </p:nvSpPr>
        <p:spPr>
          <a:xfrm>
            <a:off x="419100" y="6324600"/>
            <a:ext cx="22098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184" name="文本框 183" descr="{&quot;isTemplate&quot;:true,&quot;type&quot;:&quot;text&quot;}"/>
          <p:cNvSpPr txBox="1"/>
          <p:nvPr/>
        </p:nvSpPr>
        <p:spPr>
          <a:xfrm>
            <a:off x="11477625" y="6324600"/>
            <a:ext cx="2952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8 / 10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3 · 이후&lt;/Text&gt;&#10;      &lt;Text style={{ fontSize:11, color:'#94A3B8' }}&gt;⏱ 7:40–8:00&lt;/Text&gt;&#10;    &lt;/Box&gt;&#10;    &lt;Text style={{ fontSize:40, fontWeight:'bold', color:'#0B2136', marginTop:8, lineHeight:1.1 }}&gt;앞으로의 계획&lt;/Text&gt;&#10;    &lt;Text style={{ fontSize:18, color:'#64748B', marginTop:8 }}&gt;남은 것은 기능이 아니라 검증 데이터&lt;/Text&gt;&#10;  &lt;/Box&gt;&#10;  &lt;Box style={{ width:'100%', height:'1px', background:'#E3EAF2' }} /&gt;&#10;  &lt;Box style={{ width:'100%', height:'456px', marginTop:'18px' }}&gt;&#10;&#10;    &lt;Box style={{ width:'100%', height:'230px', flexDirection:'row', gap:14 }}&gt;&#10;      &lt;Box style={{ flex:1, background:'#E9F5F0', borderRadius:12, padding:'20px' }}&gt;&#10;          &lt;Text style={{ fontSize:14, fontWeight:'bold', color:'#0F6E56' }}&gt;W9 – 11&lt;/Text&gt;&#10;          &lt;Text style={{ fontSize:22, fontWeight:'bold', color:'#0B2136', marginTop:6 }}&gt;사용자 테스트&lt;/Text&gt;&#10;          &lt;Text style={{ fontSize:15.5, color:'#33475B', marginTop:12, lineHeight:1.8 }}&gt;· 중학생 5~10명&lt;br/&gt;· 보호자 동의&lt;br/&gt;· 불편 즉시 수정&lt;/Text&gt;&#10;        &lt;/Box&gt;&lt;Box style={{ flex:1, background:'#FBF3E5', borderRadius:12, padding:'20px' }}&gt;&#10;          &lt;Text style={{ fontSize:14, fontWeight:'bold', color:'#A06A00' }}&gt;W12 – 13&lt;/Text&gt;&#10;          &lt;Text style={{ fontSize:22, fontWeight:'bold', color:'#0B2136', marginTop:6 }}&gt;효과 검증&lt;/Text&gt;&#10;          &lt;Text style={{ fontSize:15.5, color:'#33475B', marginTop:12, lineHeight:1.8 }}&gt;· 4대 지표 전후 비교&lt;br/&gt;· CSV 로 표 작성&lt;br/&gt;· 사례 조사 보강&lt;/Text&gt;&#10;        &lt;/Box&gt;&lt;Box style={{ flex:1, background:'#EFEEFB', borderRadius:12, padding:'20px' }}&gt;&#10;          &lt;Text style={{ fontSize:14, fontWeight:'bold', color:'#534AB7' }}&gt;W14 – 15&lt;/Text&gt;&#10;          &lt;Text style={{ fontSize:22, fontWeight:'bold', color:'#0B2136', marginTop:6 }}&gt;최종 발표&lt;/Text&gt;&#10;          &lt;Text style={{ fontSize:15.5, color:'#33475B', marginTop:12, lineHeight:1.8 }}&gt;· 공작소 형태 반영&lt;br/&gt;· 시즌 확장안&lt;br/&gt;· 리허설 2회&lt;/Text&gt;&#10;        &lt;/Box&gt;&#10;    &lt;/Box&gt;&#10;    &lt;Text style={{ fontSize:15, color:'#64748B', marginTop:16 }}&gt;현재 W9 — 계획상 '핵심 loop 진행 중'이 요구치, 실제는 W6에 완료 (약 3주 선행)&lt;/Text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9 / 1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矩形 18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7" name="文本框 186" descr="{&quot;isTemplate&quot;:true,&quot;type&quot;:&quot;text&quot;}"/>
          <p:cNvSpPr txBox="1"/>
          <p:nvPr/>
        </p:nvSpPr>
        <p:spPr>
          <a:xfrm>
            <a:off x="419100" y="514350"/>
            <a:ext cx="5619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03 · 이후</a:t>
            </a:r>
            <a:endParaRPr/>
          </a:p>
        </p:txBody>
      </p:sp>
      <p:sp>
        <p:nvSpPr>
          <p:cNvPr id="189" name="文本框 188" descr="{&quot;isTemplate&quot;:true,&quot;type&quot;:&quot;text&quot;}"/>
          <p:cNvSpPr txBox="1"/>
          <p:nvPr/>
        </p:nvSpPr>
        <p:spPr>
          <a:xfrm>
            <a:off x="419100" y="742950"/>
            <a:ext cx="11353800" cy="504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앞으로의 계획</a:t>
            </a:r>
            <a:endParaRPr/>
          </a:p>
        </p:txBody>
      </p:sp>
      <p:sp>
        <p:nvSpPr>
          <p:cNvPr id="190" name="文本框 189" descr="{&quot;isTemplate&quot;:true,&quot;type&quot;:&quot;text&quot;}"/>
          <p:cNvSpPr txBox="1"/>
          <p:nvPr/>
        </p:nvSpPr>
        <p:spPr>
          <a:xfrm>
            <a:off x="419100" y="1323975"/>
            <a:ext cx="113538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남은 것은 기능이 아니라 검증 데이터</a:t>
            </a:r>
            <a:endParaRPr/>
          </a:p>
        </p:txBody>
      </p:sp>
      <p:sp>
        <p:nvSpPr>
          <p:cNvPr id="191" name="矩形 190"/>
          <p:cNvSpPr/>
          <p:nvPr/>
        </p:nvSpPr>
        <p:spPr>
          <a:xfrm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2" name="圆角矩形 191"/>
          <p:cNvSpPr/>
          <p:nvPr/>
        </p:nvSpPr>
        <p:spPr>
          <a:xfrm>
            <a:off x="419100" y="1800225"/>
            <a:ext cx="3695700" cy="2190750"/>
          </a:xfrm>
          <a:prstGeom prst="roundRect">
            <a:avLst>
              <a:gd name="adj" fmla="val 5217"/>
            </a:avLst>
          </a:prstGeom>
          <a:solidFill>
            <a:srgbClr val="E9F5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3" name="文本框 192" descr="{&quot;isTemplate&quot;:true,&quot;type&quot;:&quot;text&quot;}"/>
          <p:cNvSpPr txBox="1"/>
          <p:nvPr/>
        </p:nvSpPr>
        <p:spPr>
          <a:xfrm>
            <a:off x="609600" y="1990725"/>
            <a:ext cx="33147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6E56"/>
                </a:solidFill>
                <a:latin typeface="sans-serif"/>
                <a:ea typeface="sans-serif"/>
              </a:rPr>
              <a:t>W9 – 11</a:t>
            </a:r>
            <a:endParaRPr/>
          </a:p>
        </p:txBody>
      </p:sp>
      <p:sp>
        <p:nvSpPr>
          <p:cNvPr id="194" name="文本框 193" descr="{&quot;isTemplate&quot;:true,&quot;type&quot;:&quot;text&quot;}"/>
          <p:cNvSpPr txBox="1"/>
          <p:nvPr/>
        </p:nvSpPr>
        <p:spPr>
          <a:xfrm>
            <a:off x="609600" y="2209800"/>
            <a:ext cx="33147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B2136"/>
                </a:solidFill>
                <a:latin typeface="sans-serif"/>
                <a:ea typeface="sans-serif"/>
              </a:rPr>
              <a:t>사용자 테스트</a:t>
            </a:r>
            <a:endParaRPr/>
          </a:p>
        </p:txBody>
      </p:sp>
      <p:sp>
        <p:nvSpPr>
          <p:cNvPr id="195" name="文本框 194" descr="{&quot;isTemplate&quot;:true,&quot;type&quot;:&quot;text&quot;}"/>
          <p:cNvSpPr txBox="1"/>
          <p:nvPr/>
        </p:nvSpPr>
        <p:spPr>
          <a:xfrm>
            <a:off x="609600" y="2581275"/>
            <a:ext cx="3314700" cy="962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중학생 5~10명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보호자 동의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불편 즉시 수정</a:t>
            </a:r>
            <a:endParaRPr/>
          </a:p>
        </p:txBody>
      </p:sp>
      <p:sp>
        <p:nvSpPr>
          <p:cNvPr id="196" name="圆角矩形 195"/>
          <p:cNvSpPr/>
          <p:nvPr/>
        </p:nvSpPr>
        <p:spPr>
          <a:xfrm>
            <a:off x="4248150" y="1800225"/>
            <a:ext cx="3695700" cy="2190750"/>
          </a:xfrm>
          <a:prstGeom prst="roundRect">
            <a:avLst>
              <a:gd name="adj" fmla="val 5217"/>
            </a:avLst>
          </a:prstGeom>
          <a:solidFill>
            <a:srgbClr val="FBF3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7" name="文本框 196" descr="{&quot;isTemplate&quot;:true,&quot;type&quot;:&quot;text&quot;}"/>
          <p:cNvSpPr txBox="1"/>
          <p:nvPr/>
        </p:nvSpPr>
        <p:spPr>
          <a:xfrm>
            <a:off x="4438650" y="1990725"/>
            <a:ext cx="33147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A06A00"/>
                </a:solidFill>
                <a:latin typeface="sans-serif"/>
                <a:ea typeface="sans-serif"/>
              </a:rPr>
              <a:t>W12 – 13</a:t>
            </a:r>
            <a:endParaRPr/>
          </a:p>
        </p:txBody>
      </p:sp>
      <p:sp>
        <p:nvSpPr>
          <p:cNvPr id="198" name="文本框 197" descr="{&quot;isTemplate&quot;:true,&quot;type&quot;:&quot;text&quot;}"/>
          <p:cNvSpPr txBox="1"/>
          <p:nvPr/>
        </p:nvSpPr>
        <p:spPr>
          <a:xfrm>
            <a:off x="4438650" y="2209800"/>
            <a:ext cx="33147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B2136"/>
                </a:solidFill>
                <a:latin typeface="sans-serif"/>
                <a:ea typeface="sans-serif"/>
              </a:rPr>
              <a:t>효과 검증</a:t>
            </a:r>
            <a:endParaRPr/>
          </a:p>
        </p:txBody>
      </p:sp>
      <p:sp>
        <p:nvSpPr>
          <p:cNvPr id="199" name="文本框 198" descr="{&quot;isTemplate&quot;:true,&quot;type&quot;:&quot;text&quot;}"/>
          <p:cNvSpPr txBox="1"/>
          <p:nvPr/>
        </p:nvSpPr>
        <p:spPr>
          <a:xfrm>
            <a:off x="4438650" y="2581275"/>
            <a:ext cx="3314700" cy="962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4대 지표 전후 비교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CSV 로 표 작성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사례 조사 보강</a:t>
            </a:r>
            <a:endParaRPr/>
          </a:p>
        </p:txBody>
      </p:sp>
      <p:sp>
        <p:nvSpPr>
          <p:cNvPr id="200" name="圆角矩形 199"/>
          <p:cNvSpPr/>
          <p:nvPr/>
        </p:nvSpPr>
        <p:spPr>
          <a:xfrm>
            <a:off x="8077200" y="1800225"/>
            <a:ext cx="3695700" cy="2190750"/>
          </a:xfrm>
          <a:prstGeom prst="roundRect">
            <a:avLst>
              <a:gd name="adj" fmla="val 5217"/>
            </a:avLst>
          </a:prstGeom>
          <a:solidFill>
            <a:srgbClr val="EFEE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1" name="文本框 200" descr="{&quot;isTemplate&quot;:true,&quot;type&quot;:&quot;text&quot;}"/>
          <p:cNvSpPr txBox="1"/>
          <p:nvPr/>
        </p:nvSpPr>
        <p:spPr>
          <a:xfrm>
            <a:off x="8267700" y="1990725"/>
            <a:ext cx="33147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534AB7"/>
                </a:solidFill>
                <a:latin typeface="sans-serif"/>
                <a:ea typeface="sans-serif"/>
              </a:rPr>
              <a:t>W14 – 15</a:t>
            </a:r>
            <a:endParaRPr/>
          </a:p>
        </p:txBody>
      </p:sp>
      <p:sp>
        <p:nvSpPr>
          <p:cNvPr id="202" name="文本框 201" descr="{&quot;isTemplate&quot;:true,&quot;type&quot;:&quot;text&quot;}"/>
          <p:cNvSpPr txBox="1"/>
          <p:nvPr/>
        </p:nvSpPr>
        <p:spPr>
          <a:xfrm>
            <a:off x="8267700" y="2209800"/>
            <a:ext cx="33147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B2136"/>
                </a:solidFill>
                <a:latin typeface="sans-serif"/>
                <a:ea typeface="sans-serif"/>
              </a:rPr>
              <a:t>최종 발표</a:t>
            </a:r>
            <a:endParaRPr/>
          </a:p>
        </p:txBody>
      </p:sp>
      <p:sp>
        <p:nvSpPr>
          <p:cNvPr id="203" name="文本框 202" descr="{&quot;isTemplate&quot;:true,&quot;type&quot;:&quot;text&quot;}"/>
          <p:cNvSpPr txBox="1"/>
          <p:nvPr/>
        </p:nvSpPr>
        <p:spPr>
          <a:xfrm>
            <a:off x="8267700" y="2581275"/>
            <a:ext cx="3314700" cy="962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공작소 형태 반영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시즌 확장안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리허설 2회</a:t>
            </a:r>
            <a:endParaRPr/>
          </a:p>
        </p:txBody>
      </p:sp>
      <p:sp>
        <p:nvSpPr>
          <p:cNvPr id="204" name="文本框 203" descr="{&quot;isTemplate&quot;:true,&quot;type&quot;:&quot;text&quot;}"/>
          <p:cNvSpPr txBox="1"/>
          <p:nvPr/>
        </p:nvSpPr>
        <p:spPr>
          <a:xfrm>
            <a:off x="419100" y="4143375"/>
            <a:ext cx="113538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sans-serif"/>
                <a:ea typeface="sans-serif"/>
              </a:rPr>
              <a:t>현재 W9 — 계획상 '핵심 loop 진행 중'이 요구치, 실제는 W6에 완료 (약 3주 선행)</a:t>
            </a:r>
            <a:endParaRPr/>
          </a:p>
        </p:txBody>
      </p:sp>
      <p:sp>
        <p:nvSpPr>
          <p:cNvPr id="205" name="文本框 204" descr="{&quot;isTemplate&quot;:true,&quot;type&quot;:&quot;text&quot;}"/>
          <p:cNvSpPr txBox="1"/>
          <p:nvPr/>
        </p:nvSpPr>
        <p:spPr>
          <a:xfrm>
            <a:off x="419100" y="6324600"/>
            <a:ext cx="22098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206" name="文本框 205" descr="{&quot;isTemplate&quot;:true,&quot;type&quot;:&quot;text&quot;}"/>
          <p:cNvSpPr txBox="1"/>
          <p:nvPr/>
        </p:nvSpPr>
        <p:spPr>
          <a:xfrm>
            <a:off x="11477625" y="6324600"/>
            <a:ext cx="2952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9 / 10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부록&lt;/Text&gt;&#10;      &lt;Text style={{ fontSize:11, color:'#94A3B8' }}&gt;⏱ Q&amp;A&lt;/Text&gt;&#10;    &lt;/Box&gt;&#10;    &lt;Text style={{ fontSize:40, fontWeight:'bold', color:'#0B2136', marginTop:8, lineHeight:1.1 }}&gt;전체 스키마 — 15개 테이블&lt;/Text&gt;&#10;    &lt;Text style={{ fontSize:18, color:'#64748B', marginTop:8 }}&gt;질문 대응용&lt;/Text&gt;&#10;  &lt;/Box&gt;&#10;  &lt;Box style={{ width:'100%', height:'1px', background:'#E3EAF2' }} /&gt;&#10;  &lt;Box style={{ width:'100%', height:'456px', marginTop:'18px' }}&gt;&#10;&#10;    &lt;Box style={{ width:'100%', height:'456px', flexDirection:'row', gap:20 }}&gt;&#10;      &lt;Box style={{ width:587, height:456, background:'#F6F8FB', borderRadius:14, padding:8, alignItems:'center', justifyContent:'center' }}&gt;&#10;        &lt;Image src=&quot;assets/er_full.png&quot; style={{ width:571, height:440 }} /&gt;&#10;      &lt;/Box&gt;&#10;      &lt;Box style={{ flex:1, justifyContent:'center', gap:12 }}&gt;&#10;        &lt;Text style={{ fontSize:18, fontWeight:'bold', color:'#0B2136' }}&gt;15개 엔터티&lt;/Text&gt;&#10;        &lt;Text style={{ fontSize:13.5, color:'#33475B', lineHeight:1.8 }}&gt;users · robots · robot_lines · items · inventory · cell_tx · daily_quests · quest_logs · visits · weekly_topics · mailbox · class_logs · interact_logs · workshop_logs · game_logs&lt;/Text&gt;&#10;        &lt;Box style={{ height:1, background:'#E3EAF2' }} /&gt;&#10;        &lt;Text style={{ fontSize:14, color:'#A32D2D' }}&gt;UNIQUE 8종 · 성능 인덱스 3종&lt;/Text&gt;&#10;      &lt;/Box&gt;&#10;    &lt;/Box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10 / 1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36739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文本框 24" descr="{&quot;isTemplate&quot;:true,&quot;type&quot;:&quot;text&quot;}"/>
          <p:cNvSpPr txBox="1"/>
          <p:nvPr/>
        </p:nvSpPr>
        <p:spPr>
          <a:xfrm>
            <a:off x="419100" y="514350"/>
            <a:ext cx="2476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975" b="1" spc="120">
                <a:solidFill>
                  <a:srgbClr val="185FA5"/>
                </a:solidFill>
                <a:latin typeface="sans-serif"/>
                <a:ea typeface="sans-serif"/>
              </a:rPr>
              <a:t>부록</a:t>
            </a:r>
            <a:endParaRPr/>
          </a:p>
        </p:txBody>
      </p:sp>
      <p:sp>
        <p:nvSpPr>
          <p:cNvPr id="27" name="文本框 26" descr="{&quot;isTemplate&quot;:true,&quot;type&quot;:&quot;text&quot;}"/>
          <p:cNvSpPr txBox="1"/>
          <p:nvPr/>
        </p:nvSpPr>
        <p:spPr>
          <a:xfrm>
            <a:off x="419100" y="742950"/>
            <a:ext cx="11353800" cy="5048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전체 스키마 — 15개 테이블</a:t>
            </a:r>
            <a:endParaRPr/>
          </a:p>
        </p:txBody>
      </p:sp>
      <p:sp>
        <p:nvSpPr>
          <p:cNvPr id="29" name="矩形 28"/>
          <p:cNvSpPr/>
          <p:nvPr/>
        </p:nvSpPr>
        <p:spPr>
          <a:xfrm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圆角矩形 29"/>
          <p:cNvSpPr/>
          <p:nvPr/>
        </p:nvSpPr>
        <p:spPr>
          <a:xfrm>
            <a:off x="419100" y="1800225"/>
            <a:ext cx="5591175" cy="4343400"/>
          </a:xfrm>
          <a:prstGeom prst="roundRect">
            <a:avLst>
              <a:gd name="adj" fmla="val 3070"/>
            </a:avLst>
          </a:prstGeom>
          <a:solidFill>
            <a:srgbClr val="F6F8F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2"/>
          <a:srcRect t="5" b="5"/>
          <a:stretch>
            <a:fillRect/>
          </a:stretch>
        </p:blipFill>
        <p:spPr>
          <a:xfrm>
            <a:off x="495300" y="1876425"/>
            <a:ext cx="5438775" cy="4191000"/>
          </a:xfrm>
          <a:prstGeom prst="rect">
            <a:avLst/>
          </a:prstGeom>
          <a:ln/>
        </p:spPr>
      </p:pic>
      <p:sp>
        <p:nvSpPr>
          <p:cNvPr id="32" name="文本框 31" descr="{&quot;isTemplate&quot;:true,&quot;type&quot;:&quot;text&quot;}"/>
          <p:cNvSpPr txBox="1"/>
          <p:nvPr/>
        </p:nvSpPr>
        <p:spPr>
          <a:xfrm>
            <a:off x="6200775" y="3333750"/>
            <a:ext cx="55721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B2136"/>
                </a:solidFill>
                <a:latin typeface="sans-serif"/>
                <a:ea typeface="sans-serif"/>
              </a:rPr>
              <a:t>15개 엔터티</a:t>
            </a:r>
            <a:endParaRPr/>
          </a:p>
        </p:txBody>
      </p:sp>
      <p:sp>
        <p:nvSpPr>
          <p:cNvPr id="33" name="文本框 32" descr="{&quot;isTemplate&quot;:true,&quot;type&quot;:&quot;text&quot;}"/>
          <p:cNvSpPr txBox="1"/>
          <p:nvPr/>
        </p:nvSpPr>
        <p:spPr>
          <a:xfrm>
            <a:off x="6200775" y="3657600"/>
            <a:ext cx="5572125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80000"/>
              </a:lnSpc>
            </a:pPr>
            <a:r>
              <a:rPr lang="en-US" sz="1013">
                <a:solidFill>
                  <a:srgbClr val="33475B"/>
                </a:solidFill>
                <a:latin typeface="sans-serif"/>
                <a:ea typeface="sans-serif"/>
              </a:rPr>
              <a:t>users · robots · robot_lines · items · inventory · cell_tx · daily_quests · quest_logs · visits · weekly_topics · mailbox · class_logs · interact_logs · workshop_logs · game_logs</a:t>
            </a:r>
            <a:endParaRPr/>
          </a:p>
        </p:txBody>
      </p:sp>
      <p:sp>
        <p:nvSpPr>
          <p:cNvPr id="34" name="矩形 33"/>
          <p:cNvSpPr/>
          <p:nvPr/>
        </p:nvSpPr>
        <p:spPr>
          <a:xfrm>
            <a:off x="6200775" y="4333875"/>
            <a:ext cx="5572125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文本框 34" descr="{&quot;isTemplate&quot;:true,&quot;type&quot;:&quot;text&quot;}"/>
          <p:cNvSpPr txBox="1"/>
          <p:nvPr/>
        </p:nvSpPr>
        <p:spPr>
          <a:xfrm>
            <a:off x="6200775" y="4457700"/>
            <a:ext cx="55721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A32D2D"/>
                </a:solidFill>
                <a:latin typeface="sans-serif"/>
                <a:ea typeface="sans-serif"/>
              </a:rPr>
              <a:t>UNIQUE 8종 · 성능 인덱스 3종</a:t>
            </a:r>
            <a:endParaRPr/>
          </a:p>
        </p:txBody>
      </p:sp>
      <p:sp>
        <p:nvSpPr>
          <p:cNvPr id="36" name="文本框 35" descr="{&quot;isTemplate&quot;:true,&quot;type&quot;:&quot;text&quot;}"/>
          <p:cNvSpPr txBox="1"/>
          <p:nvPr/>
        </p:nvSpPr>
        <p:spPr>
          <a:xfrm>
            <a:off x="419100" y="6324600"/>
            <a:ext cx="22098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37" name="文本框 36" descr="{&quot;isTemplate&quot;:true,&quot;type&quot;:&quot;text&quot;}"/>
          <p:cNvSpPr txBox="1"/>
          <p:nvPr/>
        </p:nvSpPr>
        <p:spPr>
          <a:xfrm>
            <a:off x="11420475" y="6324600"/>
            <a:ext cx="3524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10 / 10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1001</Words>
  <Application>Microsoft Macintosh PowerPoint</Application>
  <PresentationFormat>宽屏</PresentationFormat>
  <Paragraphs>149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sans-serif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蒙蒙 李</cp:lastModifiedBy>
  <cp:revision>2</cp:revision>
  <dcterms:created xsi:type="dcterms:W3CDTF">2026-10-19T11:00:56Z</dcterms:created>
  <dcterms:modified xsi:type="dcterms:W3CDTF">2026-10-19T02:23:47Z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{"AIGC":{"Label":"1","ContentProducer":"00119111010856365494821B355","ProduceID":"01a151ddbfe0732cb4871f218eb5f12c","ReservedCode1":"","ContentPropagator":"00119111010856365494821B355","PropagateID":"01a151ddbfe0732cb4871f218eb5f12c","ReservedCode2":""}}</vt:lpwstr>
  </property>
</Properties>
</file>