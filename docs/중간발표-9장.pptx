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332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E3EDFB"/>
                </a:solidFill>
                <a:latin typeface="Malgun Gothic"/>
                <a:ea typeface="Malgun Gothic"/>
                <a:cs typeface="Malgun Gothic"/>
              </a:rPr>
              <a:t>㈜도로 × 한양대 ERICA IC-PBL 2026-2학기  ·  중간발표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32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루미 (RooMi)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017520"/>
            <a:ext cx="1828800" cy="54864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273552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색칠해서 만든 로봇이 마이룸에 살면서,</a:t>
            </a:r>
          </a:p>
          <a:p>
            <a:pPr algn="l">
              <a:lnSpc>
                <a:spcPct val="135000"/>
              </a:lnSpc>
            </a:pPr>
            <a:r>
              <a:rPr sz="21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매일 돌아올 이유를 만들어 주는 콘텐츠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617720"/>
            <a:ext cx="10332720" cy="1051560"/>
          </a:xfrm>
          <a:prstGeom prst="rect">
            <a:avLst/>
          </a:prstGeom>
          <a:solidFill>
            <a:srgbClr val="243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4617720"/>
            <a:ext cx="54864" cy="105156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4773168"/>
            <a:ext cx="9784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B020"/>
                </a:solidFill>
                <a:latin typeface="Malgun Gothic"/>
                <a:ea typeface="Malgun Gothic"/>
                <a:cs typeface="Malgun Gothic"/>
              </a:rPr>
              <a:t>오늘 확인받고 싶은 것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기존 DOROBUS(셀 · 상점 · 마이룸)와의 연결점이 이 방향으로 맞는지 — 특히 공작소 탑재 형태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03504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3EDFB"/>
                </a:solidFill>
                <a:latin typeface="Malgun Gothic"/>
                <a:ea typeface="Malgun Gothic"/>
                <a:cs typeface="Malgun Gothic"/>
              </a:rPr>
              <a:t>인공지능학과 · 조이름 / 조원        2026. 10.        https://my-dorobot.app.workbuddy.host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50292" cy="45720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058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문제 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96112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기업이 제시한 문제 — DLS 수업은 주 1회, 그런데 아이는 매일 오지 않는다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32764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2 / 9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508760"/>
            <a:ext cx="10771632" cy="1234440"/>
          </a:xfrm>
          <a:prstGeom prst="rect">
            <a:avLst/>
          </a:prstGeom>
          <a:solidFill>
            <a:srgbClr val="EEF4FB"/>
          </a:solidFill>
          <a:ln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737360"/>
            <a:ext cx="10149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B020"/>
                </a:solidFill>
                <a:latin typeface="Malgun Gothic"/>
                <a:ea typeface="Malgun Gothic"/>
                <a:cs typeface="Malgun Gothic"/>
              </a:rPr>
              <a:t>“</a:t>
            </a:r>
          </a:p>
          <a:p>
            <a:pPr algn="l"/>
            <a:r>
              <a:rPr sz="2000" b="1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  수업이 없는 날에는 아이가 DOROBUS에 들어올 이유가 없다.  </a:t>
            </a:r>
          </a:p>
          <a:p>
            <a:pPr algn="l"/>
            <a:r>
              <a:rPr sz="2800" b="1">
                <a:solidFill>
                  <a:srgbClr val="FFB020"/>
                </a:solidFill>
                <a:latin typeface="Malgun Gothic"/>
                <a:ea typeface="Malgun Gothic"/>
                <a:cs typeface="Malgun Gothic"/>
              </a:rPr>
              <a:t>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2971800"/>
            <a:ext cx="5212080" cy="2926080"/>
          </a:xfrm>
          <a:prstGeom prst="rect">
            <a:avLst/>
          </a:prstGeom>
          <a:solidFill>
            <a:srgbClr val="FFFFFF"/>
          </a:solidFill>
          <a:ln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2971800"/>
            <a:ext cx="5212080" cy="548640"/>
          </a:xfrm>
          <a:prstGeom prst="rect">
            <a:avLst/>
          </a:prstGeom>
          <a:solidFill>
            <a:srgbClr val="C9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081528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① 접속 동기의 부재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703320"/>
            <a:ext cx="47548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수업이 있는 날에만 접속 이유가 생긴다.</a:t>
            </a:r>
          </a:p>
          <a:p>
            <a:pPr algn="l"/>
            <a:r>
              <a:rPr sz="125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주 1회 수업  →  나머지 6일은 방문 이유가 없음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72784" y="2971800"/>
            <a:ext cx="5212080" cy="2926080"/>
          </a:xfrm>
          <a:prstGeom prst="rect">
            <a:avLst/>
          </a:prstGeom>
          <a:solidFill>
            <a:srgbClr val="FFFFFF"/>
          </a:solidFill>
          <a:ln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72784" y="2971800"/>
            <a:ext cx="5212080" cy="548640"/>
          </a:xfrm>
          <a:prstGeom prst="rect">
            <a:avLst/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3081528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② 재화 구조의 불균형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3703320"/>
            <a:ext cx="47548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셀을 ‘얻는 곳’보다 ‘쓰는 곳’이 많다.</a:t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획득  수업 · 과제 · 타자게임 · 이벤트</a:t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소비  마이룸 꾸미기 · 상점 가챠(장비·펫·스킨)</a:t>
            </a:r>
          </a:p>
          <a:p>
            <a:pPr algn="l">
              <a:spcAft>
                <a:spcPts val="0"/>
              </a:spcAft>
            </a:pPr>
            <a:r>
              <a:rPr sz="1250" b="1">
                <a:solidFill>
                  <a:srgbClr val="C92A2A"/>
                </a:solidFill>
                <a:latin typeface="Malgun Gothic"/>
                <a:ea typeface="Malgun Gothic"/>
                <a:cs typeface="Malgun Gothic"/>
              </a:rPr>
              <a:t>→  수업 없는 날에는 아무것도 얻을 수 없다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50292" cy="45720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058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사례조사 — 아이는 왜 다음 날 다시 여는가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96112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재방문 장치를 이미 검증한 서비스 3개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32764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3 / 9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600200"/>
            <a:ext cx="3493008" cy="2834640"/>
          </a:xfrm>
          <a:prstGeom prst="rect">
            <a:avLst/>
          </a:prstGeom>
          <a:solidFill>
            <a:srgbClr val="FFFFFF"/>
          </a:solidFill>
          <a:ln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600200"/>
            <a:ext cx="3493008" cy="45720"/>
          </a:xfrm>
          <a:prstGeom prst="rect">
            <a:avLst/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1828800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F6FD6"/>
                </a:solidFill>
                <a:latin typeface="Malgun Gothic"/>
                <a:ea typeface="Malgun Gothic"/>
                <a:cs typeface="Malgun Gothic"/>
              </a:rPr>
              <a:t>Duolingo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2304288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연속 학습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761488"/>
            <a:ext cx="30175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2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· 하루 빠지면 0 — 손실 회피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· 달력으로 채워진 칸을 보여줌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· 하루 목표 5분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25696" y="1600200"/>
            <a:ext cx="3493008" cy="2834640"/>
          </a:xfrm>
          <a:prstGeom prst="rect">
            <a:avLst/>
          </a:prstGeom>
          <a:solidFill>
            <a:srgbClr val="FFFFFF"/>
          </a:solidFill>
          <a:ln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25696" y="1600200"/>
            <a:ext cx="3493008" cy="45720"/>
          </a:xfrm>
          <a:prstGeom prst="rect">
            <a:avLst/>
          </a:prstGeom>
          <a:solidFill>
            <a:srgbClr val="2B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1728" y="1828800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8A3E"/>
                </a:solidFill>
                <a:latin typeface="Malgun Gothic"/>
                <a:ea typeface="Malgun Gothic"/>
                <a:cs typeface="Malgun Gothic"/>
              </a:rPr>
              <a:t>Roblox · MC 교육판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8" y="2304288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내가 만든 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2761488"/>
            <a:ext cx="30175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2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· 자기 세계에 대한 소유감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· 친구에게 보여주고 싶다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· 실패가 없다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59" y="1600200"/>
            <a:ext cx="3493008" cy="2834640"/>
          </a:xfrm>
          <a:prstGeom prst="rect">
            <a:avLst/>
          </a:prstGeom>
          <a:solidFill>
            <a:srgbClr val="FFFFFF"/>
          </a:solidFill>
          <a:ln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59" y="1600200"/>
            <a:ext cx="3493008" cy="45720"/>
          </a:xfrm>
          <a:prstGeom prst="rect">
            <a:avLst/>
          </a:prstGeom>
          <a:solidFill>
            <a:srgbClr val="70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1" y="1828800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7048E8"/>
                </a:solidFill>
                <a:latin typeface="Malgun Gothic"/>
                <a:ea typeface="Malgun Gothic"/>
                <a:cs typeface="Malgun Gothic"/>
              </a:rPr>
              <a:t>ZEP · 게더타운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1" y="2304288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공간에 머문다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1" y="2761488"/>
            <a:ext cx="30175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2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· 약속된 만남이 접속을 만든다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· 사람 없으면 빈 공간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· 사회적 상호작용이 보상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4663440"/>
            <a:ext cx="10771632" cy="685800"/>
          </a:xfrm>
          <a:prstGeom prst="rect">
            <a:avLst/>
          </a:prstGeom>
          <a:solidFill>
            <a:srgbClr val="2B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809744"/>
            <a:ext cx="10332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공통 결론 — 하루 목표가 작고 · 보상이 예고되고 · 내가 만든 것이 남아 있기 때문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486400"/>
            <a:ext cx="10771632" cy="713232"/>
          </a:xfrm>
          <a:prstGeom prst="rect">
            <a:avLst/>
          </a:prstGeom>
          <a:solidFill>
            <a:srgbClr val="FFFFFF"/>
          </a:solidFill>
          <a:ln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5605272"/>
            <a:ext cx="10332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C92A2A"/>
                </a:solidFill>
                <a:latin typeface="Malgun Gothic"/>
                <a:ea typeface="Malgun Gothic"/>
                <a:cs typeface="Malgun Gothic"/>
              </a:rPr>
              <a:t>의도적으로 채택하지 않은 것</a:t>
            </a:r>
          </a:p>
          <a:p>
            <a:pPr algn="l"/>
            <a:r>
              <a:rPr sz="115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재촉하는 알림(아동 심리 부담)  ·  실시간 만남(안전·운영 부담)  ·  외부 화폐 결제(미성년자)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50292" cy="45720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058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전략과 기대효과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96112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기업이 제시한 기대효과 3가지에 대한 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32764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4 / 9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481328"/>
            <a:ext cx="10771632" cy="1005840"/>
          </a:xfrm>
          <a:prstGeom prst="rect">
            <a:avLst/>
          </a:prstGeom>
          <a:solidFill>
            <a:srgbClr val="1B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64208"/>
            <a:ext cx="10058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“수업에서만 얻던 셀을, </a:t>
            </a:r>
          </a:p>
          <a:p>
            <a:pPr algn="l"/>
            <a:r>
              <a:rPr sz="1900" b="1">
                <a:solidFill>
                  <a:srgbClr val="FFB020"/>
                </a:solidFill>
                <a:latin typeface="Malgun Gothic"/>
                <a:ea typeface="Malgun Gothic"/>
                <a:cs typeface="Malgun Gothic"/>
              </a:rPr>
              <a:t>매일 얻는 5가지 경로</a:t>
            </a:r>
          </a:p>
          <a:p>
            <a:pPr algn="l"/>
            <a:r>
              <a:rPr sz="1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로 바꾼다”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2697480"/>
            <a:ext cx="3493008" cy="3200400"/>
          </a:xfrm>
          <a:prstGeom prst="rect">
            <a:avLst/>
          </a:prstGeom>
          <a:solidFill>
            <a:srgbClr val="FFFFFF"/>
          </a:solidFill>
          <a:ln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2697480"/>
            <a:ext cx="3493008" cy="548640"/>
          </a:xfrm>
          <a:prstGeom prst="rect">
            <a:avLst/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807208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① 성장 경험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3429000"/>
            <a:ext cx="301752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25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Lv · 경험치 바</a:t>
            </a:r>
          </a:p>
          <a:p>
            <a:pPr algn="l">
              <a:spcAft>
                <a:spcPts val="1200"/>
              </a:spcAft>
            </a:pPr>
            <a:r>
              <a:rPr sz="125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연속 방문 (7일 순환)</a:t>
            </a:r>
          </a:p>
          <a:p>
            <a:pPr algn="l">
              <a:spcAft>
                <a:spcPts val="1200"/>
              </a:spcAft>
            </a:pPr>
            <a:r>
              <a:rPr sz="125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아기 → 청소년 → 성체</a:t>
            </a:r>
          </a:p>
          <a:p>
            <a:pPr algn="l">
              <a:spcAft>
                <a:spcPts val="1200"/>
              </a:spcAft>
            </a:pPr>
            <a:r>
              <a:rPr sz="125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★ 로봇 외형이 실제로 변한다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25696" y="2697480"/>
            <a:ext cx="3493008" cy="3200400"/>
          </a:xfrm>
          <a:prstGeom prst="rect">
            <a:avLst/>
          </a:prstGeom>
          <a:solidFill>
            <a:srgbClr val="FFFFFF"/>
          </a:solidFill>
          <a:ln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25696" y="2697480"/>
            <a:ext cx="3493008" cy="54864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807208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② 수업도 콘텐츠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429000"/>
            <a:ext cx="301752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25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오늘의 AI 과제 +30셀</a:t>
            </a:r>
          </a:p>
          <a:p>
            <a:pPr algn="l">
              <a:spcAft>
                <a:spcPts val="1200"/>
              </a:spcAft>
            </a:pPr>
            <a:r>
              <a:rPr sz="125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이번 주 주제 = 수업 연결</a:t>
            </a:r>
          </a:p>
          <a:p>
            <a:pPr algn="l">
              <a:spcAft>
                <a:spcPts val="1200"/>
              </a:spcAft>
            </a:pPr>
            <a:r>
              <a:rPr sz="125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간식 · 칭찬 과제</a:t>
            </a:r>
          </a:p>
          <a:p>
            <a:pPr algn="l">
              <a:spcAft>
                <a:spcPts val="1200"/>
              </a:spcAft>
            </a:pPr>
            <a:r>
              <a:rPr sz="125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과제 완료 → 레벨 상승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59" y="2697480"/>
            <a:ext cx="3493008" cy="3200400"/>
          </a:xfrm>
          <a:prstGeom prst="rect">
            <a:avLst/>
          </a:prstGeom>
          <a:solidFill>
            <a:srgbClr val="FFFFFF"/>
          </a:solidFill>
          <a:ln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59" y="2697480"/>
            <a:ext cx="3493008" cy="548640"/>
          </a:xfrm>
          <a:prstGeom prst="rect">
            <a:avLst/>
          </a:prstGeom>
          <a:solidFill>
            <a:srgbClr val="2B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5903" y="2807208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③ 수업 밖 체류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3" y="3429000"/>
            <a:ext cx="301752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25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미니게임 2종</a:t>
            </a:r>
          </a:p>
          <a:p>
            <a:pPr algn="l">
              <a:spcAft>
                <a:spcPts val="1200"/>
              </a:spcAft>
            </a:pPr>
            <a:r>
              <a:rPr sz="125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부품 수집 · 조각 교환</a:t>
            </a:r>
          </a:p>
          <a:p>
            <a:pPr algn="l">
              <a:spcAft>
                <a:spcPts val="1200"/>
              </a:spcAft>
            </a:pPr>
            <a:r>
              <a:rPr sz="125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주말 한정 아이템</a:t>
            </a:r>
          </a:p>
          <a:p>
            <a:pPr algn="l">
              <a:spcAft>
                <a:spcPts val="1200"/>
              </a:spcAft>
            </a:pPr>
            <a:r>
              <a:rPr sz="125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자랑하기 · 오늘의 랭킹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50292" cy="45720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058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사용 흐름 — 접속 → 사용 → 보상 → 재접속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96112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아이가 실제로 도는 순환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32764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5 / 9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1874519" cy="2377440"/>
          </a:xfrm>
          <a:prstGeom prst="rect">
            <a:avLst/>
          </a:prstGeom>
          <a:solidFill>
            <a:srgbClr val="FFFFFF"/>
          </a:solidFill>
          <a:ln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91640"/>
            <a:ext cx="1874519" cy="548640"/>
          </a:xfrm>
          <a:prstGeom prst="rect">
            <a:avLst/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801368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① 접속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395728"/>
            <a:ext cx="160020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5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· 마이룸 진입</a:t>
            </a:r>
          </a:p>
          <a:p>
            <a:pPr algn="l">
              <a:spcAft>
                <a:spcPts val="1000"/>
              </a:spcAft>
            </a:pPr>
            <a:r>
              <a:rPr sz="115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· 신규 100셀</a:t>
            </a:r>
          </a:p>
          <a:p>
            <a:pPr algn="l">
              <a:spcAft>
                <a:spcPts val="1000"/>
              </a:spcAft>
            </a:pPr>
            <a:r>
              <a:rPr sz="115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· 연속 방문 확인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578608" y="2697480"/>
            <a:ext cx="256032" cy="329184"/>
          </a:xfrm>
          <a:prstGeom prst="rightArrow">
            <a:avLst/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71215" y="1691640"/>
            <a:ext cx="1874519" cy="2377440"/>
          </a:xfrm>
          <a:prstGeom prst="rect">
            <a:avLst/>
          </a:prstGeom>
          <a:solidFill>
            <a:srgbClr val="FFFFFF"/>
          </a:solidFill>
          <a:ln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71215" y="1691640"/>
            <a:ext cx="1874519" cy="54864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71215" y="1801368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② 사용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395728"/>
            <a:ext cx="160020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5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· 간식 · 칭찬</a:t>
            </a:r>
          </a:p>
          <a:p>
            <a:pPr algn="l">
              <a:spcAft>
                <a:spcPts val="1000"/>
              </a:spcAft>
            </a:pPr>
            <a:r>
              <a:rPr sz="115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· AI 과제 답하기</a:t>
            </a:r>
          </a:p>
          <a:p>
            <a:pPr algn="l">
              <a:spcAft>
                <a:spcPts val="1000"/>
              </a:spcAft>
            </a:pPr>
            <a:r>
              <a:rPr sz="115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· 미니게임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791456" y="2697480"/>
            <a:ext cx="256032" cy="329184"/>
          </a:xfrm>
          <a:prstGeom prst="rightArrow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84064" y="1691640"/>
            <a:ext cx="1874519" cy="2377440"/>
          </a:xfrm>
          <a:prstGeom prst="rect">
            <a:avLst/>
          </a:prstGeom>
          <a:solidFill>
            <a:srgbClr val="FFFFFF"/>
          </a:solidFill>
          <a:ln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84064" y="1691640"/>
            <a:ext cx="1874519" cy="548640"/>
          </a:xfrm>
          <a:prstGeom prst="rect">
            <a:avLst/>
          </a:prstGeom>
          <a:solidFill>
            <a:srgbClr val="2B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84064" y="1801368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③ 보상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0368" y="2395728"/>
            <a:ext cx="160020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5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· 셀 지급</a:t>
            </a:r>
          </a:p>
          <a:p>
            <a:pPr algn="l">
              <a:spcAft>
                <a:spcPts val="1000"/>
              </a:spcAft>
            </a:pPr>
            <a:r>
              <a:rPr sz="115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· 부품 · 조각</a:t>
            </a:r>
          </a:p>
          <a:p>
            <a:pPr algn="l">
              <a:spcAft>
                <a:spcPts val="1000"/>
              </a:spcAft>
            </a:pPr>
            <a:r>
              <a:rPr sz="115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· 경험치 · 레벨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004304" y="2697480"/>
            <a:ext cx="256032" cy="329184"/>
          </a:xfrm>
          <a:prstGeom prst="rightArrow">
            <a:avLst/>
          </a:prstGeom>
          <a:solidFill>
            <a:srgbClr val="2B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96912" y="1691640"/>
            <a:ext cx="1874519" cy="2377440"/>
          </a:xfrm>
          <a:prstGeom prst="rect">
            <a:avLst/>
          </a:prstGeom>
          <a:solidFill>
            <a:srgbClr val="FFFFFF"/>
          </a:solidFill>
          <a:ln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96912" y="1691640"/>
            <a:ext cx="1874519" cy="548640"/>
          </a:xfrm>
          <a:prstGeom prst="rect">
            <a:avLst/>
          </a:prstGeom>
          <a:solidFill>
            <a:srgbClr val="70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96912" y="1801368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④ 소비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43215" y="2395728"/>
            <a:ext cx="160020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5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· 상점 구매</a:t>
            </a:r>
          </a:p>
          <a:p>
            <a:pPr algn="l">
              <a:spcAft>
                <a:spcPts val="1000"/>
              </a:spcAft>
            </a:pPr>
            <a:r>
              <a:rPr sz="115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· 로봇 꾸미기</a:t>
            </a:r>
          </a:p>
          <a:p>
            <a:pPr algn="l">
              <a:spcAft>
                <a:spcPts val="1000"/>
              </a:spcAft>
            </a:pPr>
            <a:r>
              <a:rPr sz="115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· 방 장식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217152" y="2697480"/>
            <a:ext cx="256032" cy="329184"/>
          </a:xfrm>
          <a:prstGeom prst="rightArrow">
            <a:avLst/>
          </a:prstGeom>
          <a:solidFill>
            <a:srgbClr val="70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509759" y="1691640"/>
            <a:ext cx="1874519" cy="2377440"/>
          </a:xfrm>
          <a:prstGeom prst="rect">
            <a:avLst/>
          </a:prstGeom>
          <a:solidFill>
            <a:srgbClr val="FFFFFF"/>
          </a:solidFill>
          <a:ln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509759" y="1691640"/>
            <a:ext cx="1874519" cy="548640"/>
          </a:xfrm>
          <a:prstGeom prst="rect">
            <a:avLst/>
          </a:prstGeom>
          <a:solidFill>
            <a:srgbClr val="C9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59" y="1801368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⑤ 재접속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56063" y="2395728"/>
            <a:ext cx="160020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5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· 성장 확인</a:t>
            </a:r>
          </a:p>
          <a:p>
            <a:pPr algn="l">
              <a:spcAft>
                <a:spcPts val="1000"/>
              </a:spcAft>
            </a:pPr>
            <a:r>
              <a:rPr sz="115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· 내일 보상 예고</a:t>
            </a:r>
          </a:p>
          <a:p>
            <a:pPr algn="l">
              <a:spcAft>
                <a:spcPts val="1000"/>
              </a:spcAft>
            </a:pPr>
            <a:r>
              <a:rPr sz="115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· 자랑하기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343400"/>
            <a:ext cx="10881360" cy="1234440"/>
          </a:xfrm>
          <a:prstGeom prst="rect">
            <a:avLst/>
          </a:prstGeom>
          <a:solidFill>
            <a:srgbClr val="E3EDFB"/>
          </a:solidFill>
          <a:ln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507992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2F6FD6"/>
                </a:solidFill>
                <a:latin typeface="Malgun Gothic"/>
                <a:ea typeface="Malgun Gothic"/>
                <a:cs typeface="Malgun Gothic"/>
              </a:rPr>
              <a:t>순환의 핵심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① 접속 = 마이룸 진입 1회 (새로고침 아님)   ② 하루 3가지 과제 + 게임 2종, 5분 내 완료</a:t>
            </a:r>
          </a:p>
          <a:p>
            <a:pPr algn="l"/>
            <a:r>
              <a:rPr sz="125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③ 보상은 즉시 · 확실   ④ 소비는 눈에 보이는 변화   ⑤ 내일 받을 보상을 미리 보여줌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76072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F6FD6"/>
                </a:solidFill>
                <a:latin typeface="Malgun Gothic"/>
                <a:ea typeface="Malgun Gothic"/>
                <a:cs typeface="Malgun Gothic"/>
              </a:rPr>
              <a:t>하루 최대 140 ~ 240셀 획득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50292" cy="45720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058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재화(셀) 흐름 — 획득처와 소비처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96112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획득처를 ‘수업이 있는 날’에서 ‘매일’로 옮긴 것이 핵심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32764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6 / 9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508760"/>
            <a:ext cx="5120640" cy="3566160"/>
          </a:xfrm>
          <a:prstGeom prst="rect">
            <a:avLst/>
          </a:prstGeom>
          <a:solidFill>
            <a:srgbClr val="FFFFFF"/>
          </a:solidFill>
          <a:ln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508760"/>
            <a:ext cx="5120640" cy="530352"/>
          </a:xfrm>
          <a:prstGeom prst="rect">
            <a:avLst/>
          </a:prstGeom>
          <a:solidFill>
            <a:srgbClr val="2B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18488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획득 (EARN)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2011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회원 가입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176272"/>
            <a:ext cx="1600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2B8A3E"/>
                </a:solidFill>
                <a:latin typeface="Malgun Gothic"/>
                <a:ea typeface="Malgun Gothic"/>
                <a:cs typeface="Malgun Gothic"/>
              </a:rPr>
              <a:t>+100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176272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1회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560320"/>
            <a:ext cx="2011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로봇 완성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560320"/>
            <a:ext cx="1600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2B8A3E"/>
                </a:solidFill>
                <a:latin typeface="Malgun Gothic"/>
                <a:ea typeface="Malgun Gothic"/>
                <a:cs typeface="Malgun Gothic"/>
              </a:rPr>
              <a:t>+50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560320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1회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2944368"/>
            <a:ext cx="2011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오늘의 AI 과제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2944368"/>
            <a:ext cx="1600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2B8A3E"/>
                </a:solidFill>
                <a:latin typeface="Malgun Gothic"/>
                <a:ea typeface="Malgun Gothic"/>
                <a:cs typeface="Malgun Gothic"/>
              </a:rPr>
              <a:t>+30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2944368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매일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3328415"/>
            <a:ext cx="2011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간식 · 칭찬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3328415"/>
            <a:ext cx="1600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2B8A3E"/>
                </a:solidFill>
                <a:latin typeface="Malgun Gothic"/>
                <a:ea typeface="Malgun Gothic"/>
                <a:cs typeface="Malgun Gothic"/>
              </a:rPr>
              <a:t>+10 ×2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3328415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매일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3712463"/>
            <a:ext cx="2011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미니게임 2종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3712463"/>
            <a:ext cx="1600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2B8A3E"/>
                </a:solidFill>
                <a:latin typeface="Malgun Gothic"/>
                <a:ea typeface="Malgun Gothic"/>
                <a:cs typeface="Malgun Gothic"/>
              </a:rPr>
              <a:t>+10~50 / +50~110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712463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매일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4096511"/>
            <a:ext cx="2011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연속 방문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4096511"/>
            <a:ext cx="1600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2B8A3E"/>
                </a:solidFill>
                <a:latin typeface="Malgun Gothic"/>
                <a:ea typeface="Malgun Gothic"/>
                <a:cs typeface="Malgun Gothic"/>
              </a:rPr>
              <a:t>+10 ~ +100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4096511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7일 순환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4480559"/>
            <a:ext cx="2011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28일 완주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4480559"/>
            <a:ext cx="1600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2B8A3E"/>
                </a:solidFill>
                <a:latin typeface="Malgun Gothic"/>
                <a:ea typeface="Malgun Gothic"/>
                <a:cs typeface="Malgun Gothic"/>
              </a:rPr>
              <a:t>+200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9160" y="4480559"/>
            <a:ext cx="914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1회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64224" y="1508760"/>
            <a:ext cx="5120640" cy="3566160"/>
          </a:xfrm>
          <a:prstGeom prst="rect">
            <a:avLst/>
          </a:prstGeom>
          <a:solidFill>
            <a:srgbClr val="FFFFFF"/>
          </a:solidFill>
          <a:ln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64224" y="1508760"/>
            <a:ext cx="5120640" cy="530352"/>
          </a:xfrm>
          <a:prstGeom prst="rect">
            <a:avLst/>
          </a:prstGeom>
          <a:solidFill>
            <a:srgbClr val="C9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1618488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소비 (SPEND)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2176272"/>
            <a:ext cx="2011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로봇 부품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68512" y="2176272"/>
            <a:ext cx="1600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C92A2A"/>
                </a:solidFill>
                <a:latin typeface="Malgun Gothic"/>
                <a:ea typeface="Malgun Gothic"/>
                <a:cs typeface="Malgun Gothic"/>
              </a:rPr>
              <a:t>60 / 80 / 120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60152" y="2176272"/>
            <a:ext cx="960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1회 보유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2560320"/>
            <a:ext cx="2011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방 장식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68512" y="2560320"/>
            <a:ext cx="1600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C92A2A"/>
                </a:solidFill>
                <a:latin typeface="Malgun Gothic"/>
                <a:ea typeface="Malgun Gothic"/>
                <a:cs typeface="Malgun Gothic"/>
              </a:rPr>
              <a:t>40 / 100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60152" y="2560320"/>
            <a:ext cx="960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3D 배치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2944368"/>
            <a:ext cx="2011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색칠 스킨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68512" y="2944368"/>
            <a:ext cx="1600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C92A2A"/>
                </a:solidFill>
                <a:latin typeface="Malgun Gothic"/>
                <a:ea typeface="Malgun Gothic"/>
                <a:cs typeface="Malgun Gothic"/>
              </a:rPr>
              <a:t>30 / 45 / 60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60152" y="2944368"/>
            <a:ext cx="960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반복 구매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3328415"/>
            <a:ext cx="2011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부품 조각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68512" y="3328415"/>
            <a:ext cx="1600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C92A2A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60152" y="3328415"/>
            <a:ext cx="960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3개→부품1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3712463"/>
            <a:ext cx="2011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주말 한정 스킨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68512" y="3712463"/>
            <a:ext cx="1600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C92A2A"/>
                </a:solidFill>
                <a:latin typeface="Malgun Gothic"/>
                <a:ea typeface="Malgun Gothic"/>
                <a:cs typeface="Malgun Gothic"/>
              </a:rPr>
              <a:t>45 / 60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60152" y="3712463"/>
            <a:ext cx="960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토·일만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0" y="4041648"/>
            <a:ext cx="46634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F6FD6"/>
                </a:solidFill>
                <a:latin typeface="Malgun Gothic"/>
                <a:ea typeface="Malgun Gothic"/>
                <a:cs typeface="Malgun Gothic"/>
              </a:rPr>
              <a:t>반복 구매 가능한 스킨이 소비의 중심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일회성 아이템만 있으면 며칠 만에 살 것이 없어진다.</a:t>
            </a:r>
          </a:p>
          <a:p>
            <a:pPr algn="l"/>
            <a:r>
              <a:rPr sz="11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모든 거래를 cell_tx 에 기록 → 재화 흐름 추적 가능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13232" y="5257800"/>
            <a:ext cx="10771632" cy="777240"/>
          </a:xfrm>
          <a:prstGeom prst="rect">
            <a:avLst/>
          </a:prstGeom>
          <a:solidFill>
            <a:srgbClr val="E3EDFB"/>
          </a:solidFill>
          <a:ln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0120" y="5413248"/>
            <a:ext cx="10332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F6FD6"/>
                </a:solidFill>
                <a:latin typeface="Malgun Gothic"/>
                <a:ea typeface="Malgun Gothic"/>
                <a:cs typeface="Malgun Gothic"/>
              </a:rPr>
              <a:t>셀을 ‘얻는 곳’ 5개 경로를 추가 — 기존 재화에 얹는 방식이라 이식성이 높다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50292" cy="45720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058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연결점 — 그리고 오늘 확인받고 싶은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96112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새로 만들지 않고, 기존 자산에 연결했습니다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32764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7 / 9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554480"/>
            <a:ext cx="10771632" cy="658368"/>
          </a:xfrm>
          <a:prstGeom prst="rect">
            <a:avLst/>
          </a:prstGeom>
          <a:solidFill>
            <a:srgbClr val="FFFFFF"/>
          </a:solidFill>
          <a:ln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554480"/>
            <a:ext cx="50292" cy="658368"/>
          </a:xfrm>
          <a:prstGeom prst="rect">
            <a:avLst/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28216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F6FD6"/>
                </a:solidFill>
                <a:latin typeface="Malgun Gothic"/>
                <a:ea typeface="Malgun Gothic"/>
                <a:cs typeface="Malgun Gothic"/>
              </a:rPr>
              <a:t>셀 (재화)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73736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획득처 5개 · 소비처 2종 추가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173736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서버 지급 로직 + 상점 아이템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2267712"/>
            <a:ext cx="10771632" cy="658368"/>
          </a:xfrm>
          <a:prstGeom prst="rect">
            <a:avLst/>
          </a:prstGeom>
          <a:solidFill>
            <a:srgbClr val="FFFFFF"/>
          </a:solidFill>
          <a:ln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2267712"/>
            <a:ext cx="50292" cy="658368"/>
          </a:xfrm>
          <a:prstGeom prst="rect">
            <a:avLst/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441448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F6FD6"/>
                </a:solidFill>
                <a:latin typeface="Malgun Gothic"/>
                <a:ea typeface="Malgun Gothic"/>
                <a:cs typeface="Malgun Gothic"/>
              </a:rPr>
              <a:t>상점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45059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아이템 12종 공급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2450592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items 테이블에 행 추가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2980944"/>
            <a:ext cx="10771632" cy="658368"/>
          </a:xfrm>
          <a:prstGeom prst="rect">
            <a:avLst/>
          </a:prstGeom>
          <a:solidFill>
            <a:srgbClr val="FFFFFF"/>
          </a:solidFill>
          <a:ln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3232" y="2980944"/>
            <a:ext cx="50292" cy="658368"/>
          </a:xfrm>
          <a:prstGeom prst="rect">
            <a:avLst/>
          </a:prstGeom>
          <a:solidFill>
            <a:srgbClr val="2B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154679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B8A3E"/>
                </a:solidFill>
                <a:latin typeface="Malgun Gothic"/>
                <a:ea typeface="Malgun Gothic"/>
                <a:cs typeface="Malgun Gothic"/>
              </a:rPr>
              <a:t>마이룸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163824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로봇 상주 · 부품/장식을 3D로 배치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3163824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Babylon.js 7 · 기존 공간 사용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3694176"/>
            <a:ext cx="10771632" cy="658368"/>
          </a:xfrm>
          <a:prstGeom prst="rect">
            <a:avLst/>
          </a:prstGeom>
          <a:solidFill>
            <a:srgbClr val="FFFFFF"/>
          </a:solidFill>
          <a:ln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3694176"/>
            <a:ext cx="50292" cy="658368"/>
          </a:xfrm>
          <a:prstGeom prst="rect">
            <a:avLst/>
          </a:prstGeom>
          <a:solidFill>
            <a:srgbClr val="2B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386791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B8A3E"/>
                </a:solidFill>
                <a:latin typeface="Malgun Gothic"/>
                <a:ea typeface="Malgun Gothic"/>
                <a:cs typeface="Malgun Gothic"/>
              </a:rPr>
              <a:t>수업 (DLS)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3877056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이번 주 주제 → AI 과제 질문 생성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38770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weekly_topics + 관리자 API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4526280"/>
            <a:ext cx="10771632" cy="2103120"/>
          </a:xfrm>
          <a:prstGeom prst="rect">
            <a:avLst/>
          </a:prstGeom>
          <a:solidFill>
            <a:srgbClr val="FFF4E1"/>
          </a:solidFill>
          <a:ln>
            <a:solidFill>
              <a:srgbClr val="FFD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4681728"/>
            <a:ext cx="10149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>
                <a:solidFill>
                  <a:srgbClr val="D9480F"/>
                </a:solidFill>
                <a:latin typeface="Malgun Gothic"/>
                <a:ea typeface="Malgun Gothic"/>
                <a:cs typeface="Malgun Gothic"/>
              </a:rPr>
              <a:t>오늘 여쭙고 싶은 3가지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①  공작소에 어떤 형태로 넘겨드리면 되나요?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      독립 웹 모듈 / iframe / API / 소스 이관 — 어느 쪽이 편하신지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②  기존 마이룸에 저희 로봇을 넣는 방식이 맞나요?  아니면 별도 공간이 나은가요?</a:t>
            </a:r>
          </a:p>
          <a:p>
            <a:pPr algn="l"/>
            <a:r>
              <a:rPr sz="1400" b="1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③  저희가 추가하는 셀 획득처 5개가 기존 설계와 충돌하지 않나요?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50292" cy="45720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058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데모 (2분)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96112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체험 계정으로 실제 동작을 보여드립니다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32764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8 / 9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554480"/>
            <a:ext cx="10771632" cy="749808"/>
          </a:xfrm>
          <a:prstGeom prst="rect">
            <a:avLst/>
          </a:prstGeom>
          <a:solidFill>
            <a:srgbClr val="FFFFFF"/>
          </a:solidFill>
          <a:ln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554480"/>
            <a:ext cx="50292" cy="749808"/>
          </a:xfrm>
          <a:prstGeom prst="rect">
            <a:avLst/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73936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F6FD6"/>
                </a:solidFill>
                <a:latin typeface="Malgun Gothic"/>
                <a:ea typeface="Malgun Gothic"/>
                <a:cs typeface="Malgun Gothic"/>
              </a:rPr>
              <a:t>리포트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792224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20초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1792224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“7일 중 6일 접속 · 평균 22분 · 500셀 벌어 180셀 사용”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2377440"/>
            <a:ext cx="10771632" cy="749808"/>
          </a:xfrm>
          <a:prstGeom prst="rect">
            <a:avLst/>
          </a:prstGeom>
          <a:solidFill>
            <a:srgbClr val="FFFFFF"/>
          </a:solidFill>
          <a:ln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2377440"/>
            <a:ext cx="50292" cy="749808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596896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B020"/>
                </a:solidFill>
                <a:latin typeface="Malgun Gothic"/>
                <a:ea typeface="Malgun Gothic"/>
                <a:cs typeface="Malgun Gothic"/>
              </a:rPr>
              <a:t>마이룸 3D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615184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40초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615184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로봇이 걸어다님 → 클릭하면 다가옴 · CH.2 주제 · 7칸 달력 “내일 +35셀”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3200400"/>
            <a:ext cx="10771632" cy="749808"/>
          </a:xfrm>
          <a:prstGeom prst="rect">
            <a:avLst/>
          </a:prstGeom>
          <a:solidFill>
            <a:srgbClr val="FFFFFF"/>
          </a:solidFill>
          <a:ln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3232" y="3200400"/>
            <a:ext cx="50292" cy="749808"/>
          </a:xfrm>
          <a:prstGeom prst="rect">
            <a:avLst/>
          </a:prstGeom>
          <a:solidFill>
            <a:srgbClr val="2B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419856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B8A3E"/>
                </a:solidFill>
                <a:latin typeface="Malgun Gothic"/>
                <a:ea typeface="Malgun Gothic"/>
                <a:cs typeface="Malgun Gothic"/>
              </a:rPr>
              <a:t>AI 과제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438144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20초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3438144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답변 입력 → 로봇 반응 → 셀 증가 · 레벨 상승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4023360"/>
            <a:ext cx="10771632" cy="749808"/>
          </a:xfrm>
          <a:prstGeom prst="rect">
            <a:avLst/>
          </a:prstGeom>
          <a:solidFill>
            <a:srgbClr val="FFFFFF"/>
          </a:solidFill>
          <a:ln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23360"/>
            <a:ext cx="50292" cy="749808"/>
          </a:xfrm>
          <a:prstGeom prst="rect">
            <a:avLst/>
          </a:prstGeom>
          <a:solidFill>
            <a:srgbClr val="70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242816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7048E8"/>
                </a:solidFill>
                <a:latin typeface="Malgun Gothic"/>
                <a:ea typeface="Malgun Gothic"/>
                <a:cs typeface="Malgun Gothic"/>
              </a:rPr>
              <a:t>상점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4261104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20초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4261104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“주말 한정은 지금 잠겨 있습니다 → 주말에 다시 오는 이유”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4846320"/>
            <a:ext cx="10771632" cy="749808"/>
          </a:xfrm>
          <a:prstGeom prst="rect">
            <a:avLst/>
          </a:prstGeom>
          <a:solidFill>
            <a:srgbClr val="FFFFFF"/>
          </a:solidFill>
          <a:ln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4846320"/>
            <a:ext cx="50292" cy="749808"/>
          </a:xfrm>
          <a:prstGeom prst="rect">
            <a:avLst/>
          </a:prstGeom>
          <a:solidFill>
            <a:srgbClr val="C9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5065776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92A2A"/>
                </a:solidFill>
                <a:latin typeface="Malgun Gothic"/>
                <a:ea typeface="Malgun Gothic"/>
                <a:cs typeface="Malgun Gothic"/>
              </a:rPr>
              <a:t>자랑하기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5084064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20초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5084064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3D 화면을 그림으로 저장 → 부모님·친구에게 보여주는 출구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3232" y="5669280"/>
            <a:ext cx="10771632" cy="640080"/>
          </a:xfrm>
          <a:prstGeom prst="rect">
            <a:avLst/>
          </a:prstGeom>
          <a:solidFill>
            <a:srgbClr val="EEF4FB"/>
          </a:solidFill>
          <a:ln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5815584"/>
            <a:ext cx="10332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F6FD6"/>
                </a:solidFill>
                <a:latin typeface="Malgun Gothic"/>
                <a:ea typeface="Malgun Gothic"/>
                <a:cs typeface="Malgun Gothic"/>
              </a:rPr>
              <a:t>AI 대사가 나오지 않아도 정상입니다 — “AI가 응답하지 않으면 예비 대사로 자동 전환됩니다”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50292" cy="45720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29184"/>
            <a:ext cx="100584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앞으로의 계획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96112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중간 이후 ~ 최종 발표까지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32764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9 / 9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600200"/>
            <a:ext cx="2615184" cy="3200400"/>
          </a:xfrm>
          <a:prstGeom prst="rect">
            <a:avLst/>
          </a:prstGeom>
          <a:solidFill>
            <a:srgbClr val="FFFFFF"/>
          </a:solidFill>
          <a:ln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600200"/>
            <a:ext cx="2615184" cy="566928"/>
          </a:xfrm>
          <a:prstGeom prst="rect">
            <a:avLst/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709928"/>
            <a:ext cx="26151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W9 –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사용자 테스트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34640"/>
            <a:ext cx="22402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5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· 초등 고학년 ~ 중학생 5~10명</a:t>
            </a:r>
          </a:p>
          <a:p>
            <a:pPr algn="l">
              <a:spcAft>
                <a:spcPts val="1000"/>
              </a:spcAft>
            </a:pPr>
            <a:r>
              <a:rPr sz="115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· 보호자 동의 후 진행</a:t>
            </a:r>
          </a:p>
          <a:p>
            <a:pPr algn="l">
              <a:spcAft>
                <a:spcPts val="1000"/>
              </a:spcAft>
            </a:pPr>
            <a:r>
              <a:rPr sz="115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· 회사 피드백 반영 · 공작소 형태 확정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47288" y="1600200"/>
            <a:ext cx="2615184" cy="3200400"/>
          </a:xfrm>
          <a:prstGeom prst="rect">
            <a:avLst/>
          </a:prstGeom>
          <a:solidFill>
            <a:srgbClr val="FFFFFF"/>
          </a:solidFill>
          <a:ln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47288" y="1600200"/>
            <a:ext cx="2615184" cy="566928"/>
          </a:xfrm>
          <a:prstGeom prst="rect">
            <a:avLst/>
          </a:prstGeom>
          <a:solidFill>
            <a:srgbClr val="2B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47288" y="1709928"/>
            <a:ext cx="26151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8456" y="2331720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내부 테스트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8456" y="2834640"/>
            <a:ext cx="22402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5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· 버그 수정 · 완성도</a:t>
            </a:r>
          </a:p>
          <a:p>
            <a:pPr algn="l">
              <a:spcAft>
                <a:spcPts val="1000"/>
              </a:spcAft>
            </a:pPr>
            <a:r>
              <a:rPr sz="115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· 발표장 환경 점검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1344" y="1600200"/>
            <a:ext cx="2615184" cy="3200400"/>
          </a:xfrm>
          <a:prstGeom prst="rect">
            <a:avLst/>
          </a:prstGeom>
          <a:solidFill>
            <a:srgbClr val="FFFFFF"/>
          </a:solidFill>
          <a:ln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81344" y="1600200"/>
            <a:ext cx="2615184" cy="566928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81344" y="1709928"/>
            <a:ext cx="26151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331720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효과 검증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2834640"/>
            <a:ext cx="22402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5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· 재접속률 · 체류시간</a:t>
            </a:r>
          </a:p>
          <a:p>
            <a:pPr algn="l">
              <a:spcAft>
                <a:spcPts val="1000"/>
              </a:spcAft>
            </a:pPr>
            <a:r>
              <a:rPr sz="115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· 셀 사용량 · 과제 제출률</a:t>
            </a:r>
          </a:p>
          <a:p>
            <a:pPr algn="l">
              <a:spcAft>
                <a:spcPts val="1000"/>
              </a:spcAft>
            </a:pPr>
            <a:r>
              <a:rPr sz="115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· 전후 비교표 작성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15400" y="1600200"/>
            <a:ext cx="2615184" cy="3200400"/>
          </a:xfrm>
          <a:prstGeom prst="rect">
            <a:avLst/>
          </a:prstGeom>
          <a:solidFill>
            <a:srgbClr val="FFFFFF"/>
          </a:solidFill>
          <a:ln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15400" y="1600200"/>
            <a:ext cx="2615184" cy="566928"/>
          </a:xfrm>
          <a:prstGeom prst="rect">
            <a:avLst/>
          </a:prstGeom>
          <a:solidFill>
            <a:srgbClr val="70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15400" y="1709928"/>
            <a:ext cx="26151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W14 – 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16568" y="2331720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최종 발표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8" y="2834640"/>
            <a:ext cx="22402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5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· 발표 자료 · 리허설</a:t>
            </a:r>
          </a:p>
          <a:p>
            <a:pPr algn="l">
              <a:spcAft>
                <a:spcPts val="1000"/>
              </a:spcAft>
            </a:pPr>
            <a:r>
              <a:rPr sz="1150" b="0">
                <a:solidFill>
                  <a:srgbClr val="6B7A93"/>
                </a:solidFill>
                <a:latin typeface="Malgun Gothic"/>
                <a:ea typeface="Malgun Gothic"/>
                <a:cs typeface="Malgun Gothic"/>
              </a:rPr>
              <a:t>· 데모 + 결과 발표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029200"/>
            <a:ext cx="10771632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F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5029200"/>
            <a:ext cx="50292" cy="1280160"/>
          </a:xfrm>
          <a:prstGeom prst="rect">
            <a:avLst/>
          </a:prstGeom>
          <a:solidFill>
            <a:srgbClr val="C9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5193792"/>
            <a:ext cx="10241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C92A2A"/>
                </a:solidFill>
                <a:latin typeface="Malgun Gothic"/>
                <a:ea typeface="Malgun Gothic"/>
                <a:cs typeface="Malgun Gothic"/>
              </a:rPr>
              <a:t>현재 상태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25324A"/>
                </a:solidFill>
                <a:latin typeface="Malgun Gothic"/>
                <a:ea typeface="Malgun Gothic"/>
                <a:cs typeface="Malgun Gothic"/>
              </a:rPr>
              <a:t>프로토타입 완성 (온라인 데모 운영 중) · 기획서 · 사례조사 · 3종 도면 · 운영자 가이드 완비</a:t>
            </a:r>
          </a:p>
          <a:p>
            <a:pPr algn="l"/>
            <a:r>
              <a:rPr sz="1250" b="1">
                <a:solidFill>
                  <a:srgbClr val="2F6FD6"/>
                </a:solidFill>
                <a:latin typeface="Malgun Gothic"/>
                <a:ea typeface="Malgun Gothic"/>
                <a:cs typeface="Malgun Gothic"/>
              </a:rPr>
              <a:t>남은 것 · 사용자 검증 데이터  ·  공작소 탑재 형태 확정  ·  기업 피드백 반영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