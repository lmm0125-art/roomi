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3"/>
  </p:notesMasterIdLst>
  <p:sldIdLst>
    <p:sldId id="256" r:id="rId1"/>
    <p:sldId id="257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5" Type="http://schemas.openxmlformats.org/officeDocument/2006/relationships/tableStyles" Target="tableStyles.xml" /><Relationship Id="rId1" Type="http://schemas.openxmlformats.org/officeDocument/2006/relationships/slide" Target="slides/slide1.xml" /><Relationship Id="rId4" Type="http://schemas.openxmlformats.org/officeDocument/2006/relationships/presProps" Target="presProps.xml" /><Relationship Id="rId2" Type="http://schemas.openxmlformats.org/officeDocument/2006/relationships/slide" Target="slides/slide2.xml" /><Relationship Id="rId6" Type="http://schemas.openxmlformats.org/officeDocument/2006/relationships/viewProps" Target="viewProps.xml" /><Relationship Id="rId3" Type="http://schemas.openxmlformats.org/officeDocument/2006/relationships/notesMaster" Target="notesMasters/notesMaster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 descr="&lt;Slide style={{ width: '1280px', height: '720px', padding: '40px', background: '#ffffff', fontFamily: 'sans-serif' }}&gt;&#10;  &lt;Box style={{ width: '100%', height: '64px', justifyContent: 'center' }}&gt;&#10;    &lt;Text style={{ fontSize: 30, fontWeight: 'bold', color: '#042C53' }}&gt;&#10;      데이터베이스 설계 — &lt;span style={{ color: '#185FA5' }}&gt;왜 관계형 DB 인가&lt;/span&gt;&#10;    &lt;/Text&gt;&#10;  &lt;/Box&gt;&#10;  &lt;Box style={{ width: '100%', height: '8px', background: '#185FA5', borderRadius: 4 }} /&gt;&#10;  &lt;Box style={{ width: '100%', height: '496px', marginTop: 20, flexDirection: 'row', gap: 24 }}&gt;&#10;    &lt;Box style={{ width: 800, height: 496, background: '#E6F1FB', borderRadius: 12, alignItems: 'center', justifyContent: 'center', padding: 12 }}&gt;&#10;      &lt;Image src=&quot;assets/er_diagram.png&quot; style={{ width: 776, objectFit: 'contain' }} /&gt;&#10;    &lt;/Box&gt;&#10;    &lt;Box style={{ flex: 1, height: 496, flexDirection: 'column', gap: 16 }}&gt;&#10;      &lt;Box style={{ background: '#FFF7E6', borderRadius: 12, padding: 18, border: '1px solid #A06A00' }}&gt;&#10;        &lt;Text style={{ fontSize: 18, fontWeight: 'bold', color: '#A06A00' }}&gt;① users 중심 1:N&lt;/Text&gt;&#10;        &lt;Text style={{ fontSize: 13.5, color: '#6B4A0B', lineHeight: 1.55, marginTop: 6 }}&gt;&#10;          로봇·보유 부품·셀 원장·과제·게임·접속 기록이 전부 사용자에 귀속 — &lt;span style={{ fontWeight: 'bold' }}&gt;&quot;다시 접속해도 어제의 내 상태&quot;&lt;/span&gt;가 성립하는 이유&#10;        &lt;/Text&gt;&#10;      &lt;/Box&gt;&#10;      &lt;Box style={{ background: '#FBEAEA', borderRadius: 12, padding: 18, border: '1px solid #A32D2D' }}&gt;&#10;        &lt;Text style={{ fontSize: 18, fontWeight: 'bold', color: '#A32D2D' }}&gt;② UNIQUE 제약 = 게임 규칙&lt;/Text&gt;&#10;        &lt;Text style={{ fontSize: 13.5, color: '#7A1F1F', lineHeight: 1.55, marginTop: 6 }}&gt;&#10;          과제·게임 하루 1회, 주제 주간 1회, 계정 중복 금지 — 치팅을 앱 코드가 아닌 &lt;span style={{ fontWeight: 'bold' }}&gt;DB 수준에서 차단&lt;/span&gt; (동시 요청·브라우저 조작 불가)&#10;        &lt;/Text&gt;&#10;      &lt;/Box&gt;&#10;      &lt;Box style={{ background: '#E1F5EE', borderRadius: 12, padding: 18, border: '1px solid #0F6E56' }}&gt;&#10;        &lt;Text style={{ fontSize: 18, fontWeight: 'bold', color: '#0F6E56' }}&gt;③ SQLite 선택 이유&lt;/Text&gt;&#10;        &lt;Text style={{ fontSize: 13.5, color: '#04342C', lineHeight: 1.55, marginTop: 6 }}&gt;&#10;          파일 1개 + 프로세스 내장 → 배포 환경 제약 최소. 스키마는 그대로, 엔진만 PostgreSQL 전환 가능 → &lt;span style={{ fontWeight: 'bold' }}&gt;DOROBUS 계정 통합 시 확장 경로&lt;/span&gt;&#10;        &lt;/Text&gt;&#10;      &lt;/Box&gt;&#10;    &lt;/Box&gt;&#10;  &lt;/Box&gt;&#10;  &lt;Box style={{ width: '100%', height: '40px', marginTop: 16, flexDirection: 'row', justifyContent: 'space-between', alignItems: 'center' }}&gt;&#10;    &lt;Text style={{ fontSize: 12, color: '#888780' }}&gt;㈜도로 × 한양대 ERICA IC-PBL · 나만의 도로봇&lt;/Text&gt;&#10;    &lt;Text style={{ fontSize: 12, color: '#888780' }}&gt;1 / 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381000" y="514350"/>
            <a:ext cx="11430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42C53"/>
                </a:solidFill>
                <a:latin typeface="sans-serif"/>
                <a:ea typeface="sans-serif"/>
              </a:rPr>
              <a:t xml:space="preserve">데이터베이스 설계 — </a:t>
            </a:r>
            <a:r>
              <a:rPr lang="en-US" sz="2250" b="1">
                <a:solidFill>
                  <a:srgbClr val="185FA5"/>
                </a:solidFill>
                <a:latin typeface="sans-serif"/>
                <a:ea typeface="sans-serif"/>
              </a:rPr>
              <a:t>왜 관계형 DB 인가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381000" y="990600"/>
            <a:ext cx="11430000" cy="76200"/>
          </a:xfrm>
          <a:prstGeom prst="roundRect">
            <a:avLst>
              <a:gd name="adj" fmla="val 50000"/>
            </a:avLst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381000" y="1257300"/>
            <a:ext cx="7620000" cy="4724400"/>
          </a:xfrm>
          <a:prstGeom prst="roundRect">
            <a:avLst>
              <a:gd name="adj" fmla="val 2419"/>
            </a:avLst>
          </a:prstGeom>
          <a:solidFill>
            <a:srgbClr val="E6F1FB"/>
          </a:solidFill>
          <a:ln/>
        </p:spPr>
        <p:txBody>
          <a:bodyPr/>
          <a:p/>
        </p:txBody>
      </p:sp>
      <p:pic>
        <p:nvPicPr>
          <p:cNvPr id="6" name=""/>
          <p:cNvPicPr>
            <a:picLocks noChangeAspect="1"/>
          </p:cNvPicPr>
          <p:nvPr/>
        </p:nvPicPr>
        <p:blipFill>
          <a:blip r:embed="rId1"/>
          <a:srcRect l="12944" t="0" r="12944" b="0"/>
          <a:stretch>
            <a:fillRect/>
          </a:stretch>
        </p:blipFill>
        <p:spPr>
          <a:xfrm rot="0" flipH="0" flipV="0">
            <a:off x="495300" y="3619500"/>
            <a:ext cx="7391400" cy="4495800"/>
          </a:xfrm>
          <a:prstGeom prst="rect">
            <a:avLst/>
          </a:prstGeom>
          <a:ln/>
        </p:spPr>
      </p:pic>
      <p:sp>
        <p:nvSpPr>
          <p:cNvPr id="7" name=""/>
          <p:cNvSpPr/>
          <p:nvPr/>
        </p:nvSpPr>
        <p:spPr>
          <a:xfrm rot="0" flipH="0" flipV="0">
            <a:off x="8229600" y="1257300"/>
            <a:ext cx="3581400" cy="1095375"/>
          </a:xfrm>
          <a:prstGeom prst="roundRect">
            <a:avLst>
              <a:gd name="adj" fmla="val 10435"/>
            </a:avLst>
          </a:prstGeom>
          <a:solidFill>
            <a:srgbClr val="FFF7E6"/>
          </a:solidFill>
          <a:ln w="12700">
            <a:solidFill>
              <a:srgbClr val="A06A00"/>
            </a:solidFill>
            <a:prstDash val="solid"/>
          </a:ln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401050" y="142875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A06A00"/>
                </a:solidFill>
                <a:latin typeface="sans-serif"/>
                <a:ea typeface="sans-serif"/>
              </a:rPr>
              <a:t>① users 중심 1:N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401050" y="1695450"/>
            <a:ext cx="32385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13">
                <a:solidFill>
                  <a:srgbClr val="6B4A0B"/>
                </a:solidFill>
                <a:latin typeface="sans-serif"/>
                <a:ea typeface="sans-serif"/>
              </a:rPr>
              <a:t xml:space="preserve">로봇·보유 부품·셀 원장·과제·게임·접속 기록이 전부 사용자에 귀속 — </a:t>
            </a:r>
            <a:r>
              <a:rPr lang="en-US" sz="1013" b="1">
                <a:solidFill>
                  <a:srgbClr val="6B4A0B"/>
                </a:solidFill>
                <a:latin typeface="sans-serif"/>
                <a:ea typeface="sans-serif"/>
              </a:rPr>
              <a:t>"다시 접속해도 어제의 내 상태"</a:t>
            </a:r>
            <a:r>
              <a:rPr lang="en-US" sz="1013">
                <a:solidFill>
                  <a:srgbClr val="6B4A0B"/>
                </a:solidFill>
                <a:latin typeface="sans-serif"/>
                <a:ea typeface="sans-serif"/>
              </a:rPr>
              <a:t>가 성립하는 이유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8229600" y="2505075"/>
            <a:ext cx="3581400" cy="1095375"/>
          </a:xfrm>
          <a:prstGeom prst="roundRect">
            <a:avLst>
              <a:gd name="adj" fmla="val 10435"/>
            </a:avLst>
          </a:prstGeom>
          <a:solidFill>
            <a:srgbClr val="FBEAEA"/>
          </a:solidFill>
          <a:ln w="12700">
            <a:solidFill>
              <a:srgbClr val="A32D2D"/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401050" y="2676525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A32D2D"/>
                </a:solidFill>
                <a:latin typeface="sans-serif"/>
                <a:ea typeface="sans-serif"/>
              </a:rPr>
              <a:t>② UNIQUE 제약 = 게임 규칙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401050" y="2943225"/>
            <a:ext cx="32385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13">
                <a:solidFill>
                  <a:srgbClr val="7A1F1F"/>
                </a:solidFill>
                <a:latin typeface="sans-serif"/>
                <a:ea typeface="sans-serif"/>
              </a:rPr>
              <a:t xml:space="preserve">과제·게임 하루 1회, 주제 주간 1회, 계정 중복 금지 — 치팅을 앱 코드가 아닌 </a:t>
            </a:r>
            <a:r>
              <a:rPr lang="en-US" sz="1013" b="1">
                <a:solidFill>
                  <a:srgbClr val="7A1F1F"/>
                </a:solidFill>
                <a:latin typeface="sans-serif"/>
                <a:ea typeface="sans-serif"/>
              </a:rPr>
              <a:t>DB 수준에서 차단</a:t>
            </a:r>
            <a:r>
              <a:rPr lang="en-US" sz="1013">
                <a:solidFill>
                  <a:srgbClr val="7A1F1F"/>
                </a:solidFill>
                <a:latin typeface="sans-serif"/>
                <a:ea typeface="sans-serif"/>
              </a:rPr>
              <a:t xml:space="preserve"> (동시 요청·브라우저 조작 불가)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8229600" y="3752850"/>
            <a:ext cx="3581400" cy="1333500"/>
          </a:xfrm>
          <a:prstGeom prst="roundRect">
            <a:avLst>
              <a:gd name="adj" fmla="val 8571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401050" y="392430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6E56"/>
                </a:solidFill>
                <a:latin typeface="sans-serif"/>
                <a:ea typeface="sans-serif"/>
              </a:rPr>
              <a:t>③ SQLite 선택 이유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401050" y="4191000"/>
            <a:ext cx="3238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13">
                <a:solidFill>
                  <a:srgbClr val="04342C"/>
                </a:solidFill>
                <a:latin typeface="sans-serif"/>
                <a:ea typeface="sans-serif"/>
              </a:rPr>
              <a:t xml:space="preserve">파일 1개 + 프로세스 내장 → 배포 환경 제약 최소. 스키마는 그대로, 엔진만 PostgreSQL 전환 가능 → </a:t>
            </a:r>
            <a:r>
              <a:rPr lang="en-US" sz="1013" b="1">
                <a:solidFill>
                  <a:srgbClr val="04342C"/>
                </a:solidFill>
                <a:latin typeface="sans-serif"/>
                <a:ea typeface="sans-serif"/>
              </a:rPr>
              <a:t>DOROBUS 계정 통합 시 확장 경로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81000" y="6257925"/>
            <a:ext cx="2228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88780"/>
                </a:solidFill>
                <a:latin typeface="sans-serif"/>
                <a:ea typeface="sans-serif"/>
              </a:rPr>
              <a:t>㈜도로 × 한양대 ERICA IC-PBL · 나만의 도로봇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1582400" y="62579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88780"/>
                </a:solidFill>
                <a:latin typeface="sans-serif"/>
                <a:ea typeface="sans-serif"/>
              </a:rPr>
              <a:t>1 / 2</a:t>
            </a:r>
            <a:endParaRPr/>
          </a:p>
        </p:txBody>
      </p:sp>
    </p:spTree>
  </p:cSld>
</p:sld>
</file>

<file path=ppt/slides/slide2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8" name="" descr="&lt;Slide style={{ width: '1280px', height: '720px', padding: '40px', background: '#ffffff', fontFamily: 'sans-serif' }}&gt;&#10;  &lt;Box style={{ width: '100%', height: '64px', justifyContent: 'center' }}&gt;&#10;    &lt;Text style={{ fontSize: 30, fontWeight: 'bold', color: '#042C53' }}&gt;&#10;      리포트 지표 = &lt;span style={{ color: '#185FA5' }}&gt;DB 집계&lt;/span&gt; — W13 효과 검증의 측정 도구&#10;    &lt;/Text&gt;&#10;  &lt;/Box&gt;&#10;  &lt;Box style={{ width: '100%', height: '8px', background: '#185FA5', borderRadius: 4 }} /&gt;&#10;  &lt;Box style={{ width: '100%', height: '496px', marginTop: 20, flexDirection: 'row', gap: 24 }}&gt;&#10;    &lt;Box style={{ width: 700, height: 496, background: '#E6F1FB', borderRadius: 12, alignItems: 'center', justifyContent: 'center', padding: 12 }}&gt;&#10;      &lt;Image src=&quot;assets/report_screen.png&quot; style={{ width: 676, objectFit: 'contain' }} /&gt;&#10;      &lt;Text style={{ fontSize: 12, color: '#5F5E5A', marginTop: 8 }}&gt;&#10;        라이브 서비스 리포트 화면 — 모든 숫자가 SQL 집계(SUM/COUNT) 결과&#10;      &lt;/Text&gt;&#10;    &lt;/Box&gt;&#10;    &lt;Box style={{ flex: 1, height: 496, flexDirection: 'column', gap: 14 }}&gt;&#10;      &lt;Text style={{ fontSize: 16, fontWeight: 'bold', color: '#042C53' }}&gt;평가 4대 지표의 데이터 원천&lt;/Text&gt;&#10;      {[&#10;        ['재접속률', 'visits — 접속 날짜 COUNT(DISTINCT)', '#E6F1FB', '#185FA5'],&#10;        ['체류시간', 'visits.duration — SUM (+멱등 가드)', '#E1F5EE', '#0F6E56'],&#10;        ['셀 사용량', 'cell_tx — 획득/소비 원장 ±', '#FFF7E6', '#A06A00'],&#10;        ['과제 제출률', 'quest_logs — UNIQUE로 1회 보장', '#FBEAEA', '#A32D2D'],&#10;      ].map(([m, t, bg, c]) =&gt; (&#10;        &lt;Box style={{ background: bg, borderRadius: 10, padding: '12px 16px', border: '1px solid ' + c }}&gt;&#10;          &lt;Text style={{ fontSize: 15, fontWeight: 'bold', color: c }}&gt;{m}&lt;/Text&gt;&#10;          &lt;Text style={{ fontSize: 12.5, color: '#2C2C2A', marginTop: 3 }}&gt;{t}&lt;/Text&gt;&#10;        &lt;/Box&gt;&#10;      ))}&#10;      &lt;Box style={{ flexDirection: 'row', gap: 12, marginTop: 4 }}&gt;&#10;        &lt;Box style={{ flex: 1, background: '#185FA5', borderRadius: 10, padding: '10px 8px', alignItems: 'center' }}&gt;&#10;          &lt;Text style={{ fontSize: 24, fontWeight: 'bold', color: '#ffffff' }}&gt;122&lt;/Text&gt;&#10;          &lt;Text style={{ fontSize: 10.5, color: '#E6F1FB' }}&gt;prepare 바인딩&lt;/Text&gt;&#10;        &lt;/Box&gt;&#10;        &lt;Box style={{ flex: 1, background: '#185FA5', borderRadius: 10, padding: '10px 8px', alignItems: 'center' }}&gt;&#10;          &lt;Text style={{ fontSize: 24, fontWeight: 'bold', color: '#ffffff' }}&gt;24&lt;/Text&gt;&#10;          &lt;Text style={{ fontSize: 10.5, color: '#E6F1FB' }}&gt;집계 쿼리&lt;/Text&gt;&#10;        &lt;/Box&gt;&#10;        &lt;Box style={{ flex: 1, background: '#185FA5', borderRadius: 10, padding: '10px 8px', alignItems: 'center' }}&gt;&#10;          &lt;Text style={{ fontSize: 24, fontWeight: 'bold', color: '#ffffff' }}&gt;12&lt;/Text&gt;&#10;          &lt;Text style={{ fontSize: 10.5, color: '#E6F1FB' }}&gt;멱등 마이그레이션&lt;/Text&gt;&#10;        &lt;/Box&gt;&#10;      &lt;/Box&gt;&#10;      &lt;Text style={{ fontSize: 12, color: '#5F5E5A', lineHeight: 1.5 }}&gt;&#10;        관리자 API 가 이 테이블을 SQL 집계해 &lt;span style={{ fontWeight: 'bold' }}&gt;CSV 로 전후 비교표를 즉시 출력&lt;/span&gt; — W13 근거 자료&#10;      &lt;/Text&gt;&#10;    &lt;/Box&gt;&#10;  &lt;/Box&gt;&#10;  &lt;Box style={{ width: '100%', height: '40px', marginTop: 16, flexDirection: 'row', justifyContent: 'space-between', alignItems: 'center' }}&gt;&#10;    &lt;Text style={{ fontSize: 12, color: '#888780' }}&gt;㈜도로 × 한양대 ERICA IC-PBL · 나만의 도로봇&lt;/Text&gt;&#10;    &lt;Text style={{ fontSize: 12, color: '#888780' }}&gt;2 / 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1000" y="514350"/>
            <a:ext cx="11430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42C53"/>
                </a:solidFill>
                <a:latin typeface="sans-serif"/>
                <a:ea typeface="sans-serif"/>
              </a:rPr>
              <a:t xml:space="preserve">리포트 지표 = </a:t>
            </a:r>
            <a:r>
              <a:rPr lang="en-US" sz="2250" b="1">
                <a:solidFill>
                  <a:srgbClr val="185FA5"/>
                </a:solidFill>
                <a:latin typeface="sans-serif"/>
                <a:ea typeface="sans-serif"/>
              </a:rPr>
              <a:t>DB 집계</a:t>
            </a:r>
            <a:r>
              <a:rPr lang="en-US" sz="2250" b="1">
                <a:solidFill>
                  <a:srgbClr val="042C53"/>
                </a:solidFill>
                <a:latin typeface="sans-serif"/>
                <a:ea typeface="sans-serif"/>
              </a:rPr>
              <a:t xml:space="preserve"> — W13 효과 검증의 측정 도구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381000" y="990600"/>
            <a:ext cx="11430000" cy="76200"/>
          </a:xfrm>
          <a:prstGeom prst="roundRect">
            <a:avLst>
              <a:gd name="adj" fmla="val 50000"/>
            </a:avLst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381000" y="1257300"/>
            <a:ext cx="6667500" cy="4724400"/>
          </a:xfrm>
          <a:prstGeom prst="roundRect">
            <a:avLst>
              <a:gd name="adj" fmla="val 2419"/>
            </a:avLst>
          </a:prstGeom>
          <a:solidFill>
            <a:srgbClr val="E6F1FB"/>
          </a:solidFill>
          <a:ln/>
        </p:spPr>
        <p:txBody>
          <a:bodyPr/>
          <a:p/>
        </p:txBody>
      </p:sp>
      <p:pic>
        <p:nvPicPr>
          <p:cNvPr id="23" name=""/>
          <p:cNvPicPr>
            <a:picLocks noChangeAspect="1"/>
          </p:cNvPicPr>
          <p:nvPr/>
        </p:nvPicPr>
        <p:blipFill>
          <a:blip r:embed="rId1"/>
          <a:srcRect l="17719" t="0" r="17719" b="0"/>
          <a:stretch>
            <a:fillRect/>
          </a:stretch>
        </p:blipFill>
        <p:spPr>
          <a:xfrm rot="0" flipH="0" flipV="0">
            <a:off x="495300" y="3514725"/>
            <a:ext cx="6438900" cy="4495800"/>
          </a:xfrm>
          <a:prstGeom prst="rect">
            <a:avLst/>
          </a:prstGeom>
          <a:ln/>
        </p:spPr>
      </p:pic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2028825" y="3590925"/>
            <a:ext cx="3381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F5E5A"/>
                </a:solidFill>
                <a:latin typeface="sans-serif"/>
                <a:ea typeface="sans-serif"/>
              </a:rPr>
              <a:t>라이브 서비스 리포트 화면 — 모든 숫자가 SQL 집계(SUM/COUNT) 결과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277100" y="1257300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42C53"/>
                </a:solidFill>
                <a:latin typeface="sans-serif"/>
                <a:ea typeface="sans-serif"/>
              </a:rPr>
              <a:t>평가 4대 지표의 데이터 원천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7277100" y="1581150"/>
            <a:ext cx="4533900" cy="571500"/>
          </a:xfrm>
          <a:prstGeom prst="roundRect">
            <a:avLst>
              <a:gd name="adj" fmla="val 16667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429500" y="1695450"/>
            <a:ext cx="422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185FA5"/>
                </a:solidFill>
                <a:latin typeface="sans-serif"/>
                <a:ea typeface="sans-serif"/>
              </a:rPr>
              <a:t>재접속률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429500" y="1895475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C2C2A"/>
                </a:solidFill>
                <a:latin typeface="sans-serif"/>
                <a:ea typeface="sans-serif"/>
              </a:rPr>
              <a:t>visits — 접속 날짜 COUNT(DISTINCT)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7277100" y="2286000"/>
            <a:ext cx="4533900" cy="571500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429500" y="2400300"/>
            <a:ext cx="422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0F6E56"/>
                </a:solidFill>
                <a:latin typeface="sans-serif"/>
                <a:ea typeface="sans-serif"/>
              </a:rPr>
              <a:t>체류시간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429500" y="2600325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C2C2A"/>
                </a:solidFill>
                <a:latin typeface="sans-serif"/>
                <a:ea typeface="sans-serif"/>
              </a:rPr>
              <a:t>visits.duration — SUM (+멱등 가드)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7277100" y="2990850"/>
            <a:ext cx="4533900" cy="571500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2700">
            <a:solidFill>
              <a:srgbClr val="A06A00"/>
            </a:solidFill>
            <a:prstDash val="solid"/>
          </a:ln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429500" y="3105150"/>
            <a:ext cx="422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06A00"/>
                </a:solidFill>
                <a:latin typeface="sans-serif"/>
                <a:ea typeface="sans-serif"/>
              </a:rPr>
              <a:t>셀 사용량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429500" y="3305175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C2C2A"/>
                </a:solidFill>
                <a:latin typeface="sans-serif"/>
                <a:ea typeface="sans-serif"/>
              </a:rPr>
              <a:t>cell_tx — 획득/소비 원장 ±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7277100" y="3695700"/>
            <a:ext cx="4533900" cy="571500"/>
          </a:xfrm>
          <a:prstGeom prst="roundRect">
            <a:avLst>
              <a:gd name="adj" fmla="val 16667"/>
            </a:avLst>
          </a:prstGeom>
          <a:solidFill>
            <a:srgbClr val="FBEAEA"/>
          </a:solidFill>
          <a:ln w="12700">
            <a:solidFill>
              <a:srgbClr val="A32D2D"/>
            </a:solidFill>
            <a:prstDash val="solid"/>
          </a:ln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429500" y="3810000"/>
            <a:ext cx="422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32D2D"/>
                </a:solidFill>
                <a:latin typeface="sans-serif"/>
                <a:ea typeface="sans-serif"/>
              </a:rPr>
              <a:t>과제 제출률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429500" y="4010025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C2C2A"/>
                </a:solidFill>
                <a:latin typeface="sans-serif"/>
                <a:ea typeface="sans-serif"/>
              </a:rPr>
              <a:t>quest_logs — UNIQUE로 1회 보장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7277100" y="4438650"/>
            <a:ext cx="1438275" cy="590550"/>
          </a:xfrm>
          <a:prstGeom prst="roundRect">
            <a:avLst>
              <a:gd name="adj" fmla="val 16129"/>
            </a:avLst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800975" y="4533900"/>
            <a:ext cx="390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ans-serif"/>
                <a:ea typeface="sans-serif"/>
              </a:rPr>
              <a:t>122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677150" y="4810125"/>
            <a:ext cx="6381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E6F1FB"/>
                </a:solidFill>
                <a:latin typeface="sans-serif"/>
                <a:ea typeface="sans-serif"/>
              </a:rPr>
              <a:t>prepare 바인딩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8829675" y="4438650"/>
            <a:ext cx="1428750" cy="590550"/>
          </a:xfrm>
          <a:prstGeom prst="roundRect">
            <a:avLst>
              <a:gd name="adj" fmla="val 16129"/>
            </a:avLst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9420225" y="4533900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ans-serif"/>
                <a:ea typeface="sans-serif"/>
              </a:rPr>
              <a:t>24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9353550" y="4810125"/>
            <a:ext cx="381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E6F1FB"/>
                </a:solidFill>
                <a:latin typeface="sans-serif"/>
                <a:ea typeface="sans-serif"/>
              </a:rPr>
              <a:t>집계 쿼리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10372725" y="4438650"/>
            <a:ext cx="1438275" cy="590550"/>
          </a:xfrm>
          <a:prstGeom prst="roundRect">
            <a:avLst>
              <a:gd name="adj" fmla="val 16129"/>
            </a:avLst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0963275" y="4533900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ans-serif"/>
                <a:ea typeface="sans-serif"/>
              </a:rPr>
              <a:t>12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0734675" y="4810125"/>
            <a:ext cx="723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E6F1FB"/>
                </a:solidFill>
                <a:latin typeface="sans-serif"/>
                <a:ea typeface="sans-serif"/>
              </a:rPr>
              <a:t>멱등 마이그레이션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277100" y="5162550"/>
            <a:ext cx="45339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5F5E5A"/>
                </a:solidFill>
                <a:latin typeface="sans-serif"/>
                <a:ea typeface="sans-serif"/>
              </a:rPr>
              <a:t xml:space="preserve">관리자 API 가 이 테이블을 SQL 집계해 </a:t>
            </a:r>
            <a:r>
              <a:rPr lang="en-US" sz="900" b="1">
                <a:solidFill>
                  <a:srgbClr val="5F5E5A"/>
                </a:solidFill>
                <a:latin typeface="sans-serif"/>
                <a:ea typeface="sans-serif"/>
              </a:rPr>
              <a:t>CSV 로 전후 비교표를 즉시 출력</a:t>
            </a:r>
            <a:r>
              <a:rPr lang="en-US" sz="900">
                <a:solidFill>
                  <a:srgbClr val="5F5E5A"/>
                </a:solidFill>
                <a:latin typeface="sans-serif"/>
                <a:ea typeface="sans-serif"/>
              </a:rPr>
              <a:t xml:space="preserve"> — W13 근거 자료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381000" y="6257925"/>
            <a:ext cx="2228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88780"/>
                </a:solidFill>
                <a:latin typeface="sans-serif"/>
                <a:ea typeface="sans-serif"/>
              </a:rPr>
              <a:t>㈜도로 × 한양대 ERICA IC-PBL · 나만의 도로봇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1582400" y="62579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88780"/>
                </a:solidFill>
                <a:latin typeface="sans-serif"/>
                <a:ea typeface="sans-serif"/>
              </a:rPr>
              <a:t>2 / 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2026-10-08T10:12:46Z</dcterms:created>
  <dcterms:modified xsi:type="dcterms:W3CDTF">2026-10-08T10:12:46Z</dcterms:modified>
</cp:coreProperties>
</file>