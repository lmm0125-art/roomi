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필수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사례조사 — 아이는 왜 다음 날 다시 여는가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371600" cy="41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401568" cy="278892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3401568" cy="54864"/>
          </a:xfrm>
          <a:prstGeom prst="rect">
            <a:avLst/>
          </a:prstGeom>
          <a:solidFill>
            <a:srgbClr val="5C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C9DF5"/>
                </a:solidFill>
                <a:latin typeface="Malgun Gothic"/>
                <a:ea typeface="Malgun Gothic"/>
                <a:cs typeface="Malgun Gothic"/>
              </a:rPr>
              <a:t>Duolingo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529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연속 학습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10128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하루 빠지면 0 — 손실 회피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달력으로 채워진 칸을 보여줌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하루 목표 5분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2148840"/>
            <a:ext cx="3401568" cy="278892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2148840"/>
            <a:ext cx="3401568" cy="54864"/>
          </a:xfrm>
          <a:prstGeom prst="rect">
            <a:avLst/>
          </a:prstGeom>
          <a:solidFill>
            <a:srgbClr val="51C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3" y="239572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Roblox · MC 교육판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28529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내가 만든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3" y="3310128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자기 세계에 대한 소유감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친구에게 보여주고 싶다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실패가 없다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2148840"/>
            <a:ext cx="3401568" cy="278892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9288" y="2148840"/>
            <a:ext cx="3401568" cy="54864"/>
          </a:xfrm>
          <a:prstGeom prst="rect">
            <a:avLst/>
          </a:prstGeom>
          <a:solidFill>
            <a:srgbClr val="B19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395728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197FC"/>
                </a:solidFill>
                <a:latin typeface="Malgun Gothic"/>
                <a:ea typeface="Malgun Gothic"/>
                <a:cs typeface="Malgun Gothic"/>
              </a:rPr>
              <a:t>ZEP · 게더타운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8529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공간에 머문다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310128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약속된 만남이 접속을 만든다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사람 없으면 빈 공간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사회적 상호작용이 보상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257800"/>
            <a:ext cx="10607040" cy="9601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13248"/>
            <a:ext cx="10149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공통 결론 — 하루 목표가 작고 · 보상이 예고되고 · 내가 만든 것이 남아 있기 때문</a:t>
            </a:r>
          </a:p>
          <a:p>
            <a:pPr algn="l"/>
            <a:r>
              <a:rPr sz="1300" b="0">
                <a:solidFill>
                  <a:srgbClr val="1B2A45"/>
                </a:solidFill>
                <a:latin typeface="Malgun Gothic"/>
                <a:ea typeface="Malgun Gothic"/>
                <a:cs typeface="Malgun Gothic"/>
              </a:rPr>
              <a:t>이 3가지를 우리 콘텐츠의 뼈대로 삼았습니다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필수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기대효과 — 기업이 제시한 3가지에 대한 답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371600" cy="41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2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401568" cy="3977639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3401568" cy="54864"/>
          </a:xfrm>
          <a:prstGeom prst="rect">
            <a:avLst/>
          </a:prstGeom>
          <a:solidFill>
            <a:srgbClr val="5C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C9DF5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414016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443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아이 스스로 ‘어제보다 나아졌다’고 느낀다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118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Lv · 경험치 바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연속 방문 (7일 순환)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아기 → 청소년 → 성체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로봇 외형이 실제로 변한다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8264" y="2148840"/>
            <a:ext cx="3401568" cy="3977639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2148840"/>
            <a:ext cx="3401568" cy="54864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3" y="23591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A94D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414016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수업도 콘텐츠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9443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수업 참여 자체가 재화가 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3" y="36118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오늘의 AI 과제 +30셀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주 주제 = 수업 연결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간식 · 칭찬 과제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과제 완료 → 레벨 상승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2148840"/>
            <a:ext cx="3401568" cy="3977639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2148840"/>
            <a:ext cx="3401568" cy="54864"/>
          </a:xfrm>
          <a:prstGeom prst="rect">
            <a:avLst/>
          </a:prstGeom>
          <a:solidFill>
            <a:srgbClr val="51C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3591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2414016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수업 밖 체류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94436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수업 없는 날에도 스스로 접속한다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6118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미니게임 2종 (난이도 곡선)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부품 수집 · 조각 교환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주말 한정 아이템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자랑하기 · 오늘의 랭킹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필수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흐름 — 접속 → 사용 → 보상 → 재접속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371600" cy="41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1901952" cy="265176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901952" cy="502920"/>
          </a:xfrm>
          <a:prstGeom prst="rect">
            <a:avLst/>
          </a:prstGeom>
          <a:solidFill>
            <a:srgbClr val="5C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901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① 접속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71800"/>
            <a:ext cx="1600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마이룸 진입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신규 100셀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연속 방문 확인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70048" y="3383280"/>
            <a:ext cx="274320" cy="384048"/>
          </a:xfrm>
          <a:prstGeom prst="rightArrow">
            <a:avLst/>
          </a:prstGeom>
          <a:solidFill>
            <a:srgbClr val="5C9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2656" y="2286000"/>
            <a:ext cx="1901952" cy="265176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286000"/>
            <a:ext cx="1901952" cy="50292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395728"/>
            <a:ext cx="1901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②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971800"/>
            <a:ext cx="1600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간식 · 칭찬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AI 과제 답하기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미니게임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01184" y="3383280"/>
            <a:ext cx="274320" cy="384048"/>
          </a:xfrm>
          <a:prstGeom prst="rightArrow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93792" y="2286000"/>
            <a:ext cx="1901952" cy="265176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93792" y="2286000"/>
            <a:ext cx="1901952" cy="502920"/>
          </a:xfrm>
          <a:prstGeom prst="rect">
            <a:avLst/>
          </a:prstGeom>
          <a:solidFill>
            <a:srgbClr val="51C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395728"/>
            <a:ext cx="1901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③ 보상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2971800"/>
            <a:ext cx="1600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셀 지급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부품 · 조각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경험치 · 레벨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32320" y="3383280"/>
            <a:ext cx="274320" cy="384048"/>
          </a:xfrm>
          <a:prstGeom prst="rightArrow">
            <a:avLst/>
          </a:prstGeom>
          <a:solidFill>
            <a:srgbClr val="51C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24927" y="2286000"/>
            <a:ext cx="1901952" cy="265176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7" y="2286000"/>
            <a:ext cx="1901952" cy="502920"/>
          </a:xfrm>
          <a:prstGeom prst="rect">
            <a:avLst/>
          </a:prstGeom>
          <a:solidFill>
            <a:srgbClr val="B19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2395728"/>
            <a:ext cx="1901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④ 소비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971800"/>
            <a:ext cx="1600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상점 구매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로봇 꾸미기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방 장식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63455" y="3383280"/>
            <a:ext cx="274320" cy="384048"/>
          </a:xfrm>
          <a:prstGeom prst="rightArrow">
            <a:avLst/>
          </a:prstGeom>
          <a:solidFill>
            <a:srgbClr val="B19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56063" y="2286000"/>
            <a:ext cx="1901952" cy="265176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6063" y="2286000"/>
            <a:ext cx="1901952" cy="502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6063" y="2395728"/>
            <a:ext cx="19019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⑤ 재접속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5" y="2971800"/>
            <a:ext cx="1600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성장 확인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내일 보상 예고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· 자랑하기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230368"/>
            <a:ext cx="10789920" cy="109728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230368"/>
            <a:ext cx="54864" cy="109728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3949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순환의 핵심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접속 = 마이룸 진입 1회 (새로고침 아님)  ·  하루 5분 완료  ·  보상은 즉시  ·  소비는 눈에 보이게  ·  내일 보상은 미리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필수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재화(셀) 흐름 — 획득처와 소비처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5648"/>
            <a:ext cx="1371600" cy="4114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2636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4 / 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5120640" cy="324612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5120640" cy="502920"/>
          </a:xfrm>
          <a:prstGeom prst="rect">
            <a:avLst/>
          </a:prstGeom>
          <a:solidFill>
            <a:srgbClr val="51C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획득 (EARN)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 가입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4320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+100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4320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로봇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0896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+50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오늘의 AI 과제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47472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+30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7472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4048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간식 · 칭찬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4048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+10 ×2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4048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0624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미니게임 2종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20624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+10~50 / +50~110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20624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연속 방문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57200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+10 ~ +100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7200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7일 순환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9377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28일 완주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93776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51CF88"/>
                </a:solidFill>
                <a:latin typeface="Malgun Gothic"/>
                <a:ea typeface="Malgun Gothic"/>
                <a:cs typeface="Malgun Gothic"/>
              </a:rPr>
              <a:t>+200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937760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103120"/>
            <a:ext cx="5120640" cy="324612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103120"/>
            <a:ext cx="5120640" cy="5029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2128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소비 (SPEND)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74320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로봇 부품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274320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60 / 80 / 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27432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 보유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1089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방 장식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10896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40 / 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310896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3D 배치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47472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색칠 스킨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47472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30 / 45 / 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47472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반복 구매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84048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부품 조각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384048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384048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3개→부품1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20624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주말 한정 스킨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420624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6B6B"/>
                </a:solidFill>
                <a:latin typeface="Malgun Gothic"/>
                <a:ea typeface="Malgun Gothic"/>
                <a:cs typeface="Malgun Gothic"/>
              </a:rPr>
              <a:t>45 / 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20624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토·일만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61772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반복 구매 가능한 스킨이 소비의 중심</a:t>
            </a:r>
          </a:p>
          <a:p>
            <a:pPr algn="l"/>
            <a:r>
              <a:rPr sz="1100" b="0">
                <a:solidFill>
                  <a:srgbClr val="A8BCD8"/>
                </a:solidFill>
                <a:latin typeface="Malgun Gothic"/>
                <a:ea typeface="Malgun Gothic"/>
                <a:cs typeface="Malgun Gothic"/>
              </a:rPr>
              <a:t>일회성만 있으면 며칠 만에 살 것이 없어진다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" y="5687568"/>
            <a:ext cx="10149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01A2E"/>
                </a:solidFill>
                <a:latin typeface="Malgun Gothic"/>
                <a:ea typeface="Malgun Gothic"/>
                <a:cs typeface="Malgun Gothic"/>
              </a:rPr>
              <a:t>획득처를 ‘수업이 있는 날’에서 ‘매일’로 옮긴 것이 이 과제의 핵심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