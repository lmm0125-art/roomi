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3EDFB"/>
                </a:solidFill>
                <a:latin typeface="Malgun Gothic"/>
                <a:ea typeface="Malgun Gothic"/>
                <a:cs typeface="Malgun Gothic"/>
              </a:rPr>
              <a:t>㈜도로 × 한양대 ERICA IC-PBL 2026-2학기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루미 (RooMi)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10128"/>
            <a:ext cx="1828800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색칠해서 만든 로봇이 마이룸에 살면서,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매일 돌아올 이유를 만들어 주는 콘텐츠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E3EDFB"/>
                </a:solidFill>
                <a:latin typeface="Malgun Gothic"/>
                <a:ea typeface="Malgun Gothic"/>
                <a:cs typeface="Malgun Gothic"/>
              </a:rPr>
              <a:t>과제명 · 아이들이 매일 다시 접속하고 싶은 DOROBUS 콘텐츠 개발</a:t>
            </a:r>
          </a:p>
          <a:p>
            <a:pPr algn="l">
              <a:spcBef>
                <a:spcPts val="600"/>
              </a:spcBef>
            </a:pPr>
            <a:r>
              <a:rPr sz="1350" b="0">
                <a:solidFill>
                  <a:srgbClr val="E3EDFB"/>
                </a:solidFill>
                <a:latin typeface="Malgun Gothic"/>
                <a:ea typeface="Malgun Gothic"/>
                <a:cs typeface="Malgun Gothic"/>
              </a:rPr>
              <a:t>인공지능학과 · 조이름 / 조원       2026. 10.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722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https://my-dorobot.app.workbuddy.host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기업이 제시한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DLS 온라인 수업은 주 1회 — 그런데 아이는 매일 오지 않는다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508760"/>
            <a:ext cx="10771632" cy="1371600"/>
          </a:xfrm>
          <a:prstGeom prst="rect">
            <a:avLst/>
          </a:prstGeom>
          <a:solidFill>
            <a:srgbClr val="EEF4FB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10149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“</a:t>
            </a:r>
          </a:p>
          <a:p>
            <a:pPr algn="l"/>
            <a:r>
              <a:rPr sz="21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  수업이 없는 날에는 아이가 DOROBUS에 들어올 이유가 없다.  </a:t>
            </a:r>
          </a:p>
          <a:p>
            <a:pPr algn="l"/>
            <a:r>
              <a:rPr sz="3000" b="1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이 문제를 두 갈래로 나눠 확인했습니다.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703320"/>
            <a:ext cx="5212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3703320"/>
            <a:ext cx="45720" cy="2103120"/>
          </a:xfrm>
          <a:prstGeom prst="rect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84962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92A2A"/>
                </a:solidFill>
                <a:latin typeface="Malgun Gothic"/>
                <a:ea typeface="Malgun Gothic"/>
                <a:cs typeface="Malgun Gothic"/>
              </a:rPr>
              <a:t>① 접속 동기의 부재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270248"/>
            <a:ext cx="475488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수업이 있는 날에만 접속 이유가 생긴다.</a:t>
            </a:r>
          </a:p>
          <a:p>
            <a:pPr algn="l"/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주 1회 수업 → 나머지 6일은 방문 이유가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3703320"/>
            <a:ext cx="5212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4" y="3703320"/>
            <a:ext cx="45720" cy="2103120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384962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② 재화 구조의 불균형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4270248"/>
            <a:ext cx="475488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셀을 ‘얻는 곳’보다 ‘쓰는 곳’이 많다.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획득처 · 수업 / 과제 / 타자게임 / 이벤트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소비처 · 마이룸 꾸미기 · 상점 가챠(장비·펫·스킨)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As-Is — 사실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체험판 강사·학생 계정으로 5개 탭을 직접 탐색했습니다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63040"/>
            <a:ext cx="10771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09344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상단 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0934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셀 잔액 · Lv · 배지 · 우편함 · 아바타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609344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재화와 성장이 이미 화면에 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94560"/>
            <a:ext cx="10771632" cy="713232"/>
          </a:xfrm>
          <a:prstGeom prst="rect">
            <a:avLst/>
          </a:prstGeom>
          <a:solidFill>
            <a:srgbClr val="EEF4FB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340864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주요 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34086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대시보드 / 내 수업 / 공작소 / 미니게임 / 마이룸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340864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5개 축 구조를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926080"/>
            <a:ext cx="10771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072384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첫 로그인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0723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5단계 가이드가 이미 존재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072384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신규 진입 UX의 기준선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3657600"/>
            <a:ext cx="10771632" cy="713232"/>
          </a:xfrm>
          <a:prstGeom prst="rect">
            <a:avLst/>
          </a:prstGeom>
          <a:solidFill>
            <a:srgbClr val="EEF4FB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803904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마이룸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80390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Babylon.js 3D 공간 · WASD 이동 · 세계 채팅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803904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3D 공간이 이미 운영 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389120"/>
            <a:ext cx="10771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535424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상점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453542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마이룸 내부에서 진입 · 가챠(장비/펫/스킨) + 보장 구조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535424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소비처가 성숙해 있음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120640"/>
            <a:ext cx="10771632" cy="713232"/>
          </a:xfrm>
          <a:prstGeom prst="rect">
            <a:avLst/>
          </a:prstGeom>
          <a:solidFill>
            <a:srgbClr val="EEF4FB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266944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셀 획득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526694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수업 · 과제 완료 · 타자게임 1등 · 이벤트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5266944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92A2A"/>
                </a:solidFill>
                <a:latin typeface="Malgun Gothic"/>
                <a:ea typeface="Malgun Gothic"/>
                <a:cs typeface="Malgun Gothic"/>
              </a:rPr>
              <a:t>← 여기가 비어 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핵심 통찰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현재 DOROBUS는 ‘소비 측은 성숙, 생산 측은 빈약’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554480"/>
            <a:ext cx="5212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554480"/>
            <a:ext cx="5212080" cy="566928"/>
          </a:xfrm>
          <a:prstGeom prst="rect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셀을 쓰는 곳 — 풍부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47548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상점 가챠 (장비 · 펫 · 스킨 + 보장)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마이룸 가구 · 벽지 · 바닥재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칭호 · 명패 · 펫</a:t>
            </a:r>
          </a:p>
          <a:p>
            <a:pPr algn="l"/>
            <a:r>
              <a:rPr sz="13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친구 초대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784" y="1554480"/>
            <a:ext cx="5212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2784" y="1554480"/>
            <a:ext cx="5212080" cy="566928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셀을 얻는 곳 — 거의 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331720"/>
            <a:ext cx="47548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수업 (주 1회)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과제 완료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타자게임 1등</a:t>
            </a:r>
          </a:p>
          <a:p>
            <a:pPr algn="l"/>
            <a:r>
              <a:rPr sz="13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이벤트 (비정기)</a:t>
            </a:r>
          </a:p>
          <a:p>
            <a:pPr algn="l"/>
            <a:r>
              <a:rPr sz="8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 algn="l"/>
            <a:r>
              <a:rPr sz="1350" b="1">
                <a:solidFill>
                  <a:srgbClr val="C92A2A"/>
                </a:solidFill>
                <a:latin typeface="Malgun Gothic"/>
                <a:ea typeface="Malgun Gothic"/>
                <a:cs typeface="Malgun Gothic"/>
              </a:rPr>
              <a:t>→ 수업이 없는 날에는 아무것도 없다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852160"/>
            <a:ext cx="10771632" cy="548640"/>
          </a:xfrm>
          <a:prstGeom prst="rect">
            <a:avLst/>
          </a:prstGeom>
          <a:solidFill>
            <a:srgbClr val="E3EDFB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943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→  ‘셀을 얻는 새로운 경로’를 만드는 것이 이 과제의 가장 정통적인 해법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사례조사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다음 날 다시 열게 만드는 장치를 이미 검증한 서비스들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554480"/>
            <a:ext cx="349300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554480"/>
            <a:ext cx="3493008" cy="45720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78308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Duolingo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2860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연속 학습 (streak)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743200"/>
            <a:ext cx="3017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하루라도 빠지면 0으로 — 손실 회피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달력으로 채워진 칸을 시각화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주간 리그로 비교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하루 목표를 5분으로 작게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5696" y="1554480"/>
            <a:ext cx="349300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5696" y="1554480"/>
            <a:ext cx="3493008" cy="45720"/>
          </a:xfrm>
          <a:prstGeom prst="rect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78308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Roblox / MC 교육판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2860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내가 만든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743200"/>
            <a:ext cx="3017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자기 세계·캐릭터에 대한 소유감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친구가 놀러 온다 → 보여주고 싶다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실패가 없다 (부수고 다시 짓기)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결과물 스크린샷 공유 문화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1554480"/>
            <a:ext cx="349300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59" y="1554480"/>
            <a:ext cx="3493008" cy="4572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1" y="178308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048E8"/>
                </a:solidFill>
                <a:latin typeface="Malgun Gothic"/>
                <a:ea typeface="Malgun Gothic"/>
                <a:cs typeface="Malgun Gothic"/>
              </a:rPr>
              <a:t>ZEP / 게더타운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1" y="22860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공간에 머무는 경험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1" y="2743200"/>
            <a:ext cx="3017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약속된 만남이 접속을 만든다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공간 자체가 콘텐츠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사람이 없으면 빈 공간이 된다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사회적 상호작용이 보상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349240"/>
            <a:ext cx="10771632" cy="960120"/>
          </a:xfrm>
          <a:prstGeom prst="rect">
            <a:avLst/>
          </a:prstGeom>
          <a:solidFill>
            <a:srgbClr val="E3EDFB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46811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세 서비스의 공통 결론</a:t>
            </a:r>
          </a:p>
          <a:p>
            <a:pPr algn="l"/>
            <a:r>
              <a:rPr sz="12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하루 목표가 작고 · 보상이 예고되며 · 내가 만든 것이 남아 있기 때문  →  이 3가지를 우리 콘텐츠의 뼈대로 삼았습니다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사례조사 ② — 도출한 설계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세 서비스에서 공통으로 발견한 것, 그리고 우리의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63040"/>
            <a:ext cx="10771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63040"/>
            <a:ext cx="2880360" cy="896112"/>
          </a:xfrm>
          <a:prstGeom prst="rect">
            <a:avLst/>
          </a:prstGeom>
          <a:solidFill>
            <a:srgbClr val="E3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19072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① 하루 목표는 작게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618488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진입 자체를 쉽게 만든다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우리 구현 · 과제 3개(클릭 2 + 작성 1) + 미니게임 각 1회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432304"/>
            <a:ext cx="10771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432304"/>
            <a:ext cx="2880360" cy="896112"/>
          </a:xfrm>
          <a:prstGeom prst="rect">
            <a:avLst/>
          </a:prstGeom>
          <a:solidFill>
            <a:srgbClr val="E3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688336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② 보상은 예고한다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587752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받기 전에 알게 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15184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우리 구현 · 연속 방문 7칸 달력에 ‘내일 +35셀’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401568"/>
            <a:ext cx="10771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401568"/>
            <a:ext cx="2880360" cy="896112"/>
          </a:xfrm>
          <a:prstGeom prst="rect">
            <a:avLst/>
          </a:prstGeom>
          <a:solidFill>
            <a:srgbClr val="E3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5760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③ 내 것이 남는다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557016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소유감이 재방문을 만든다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584448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우리 구현 · 로봇이 마이룸에 상주 · 레벨에 따라 실제로 성장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370832"/>
            <a:ext cx="10771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370832"/>
            <a:ext cx="2880360" cy="896112"/>
          </a:xfrm>
          <a:prstGeom prst="rect">
            <a:avLst/>
          </a:prstGeom>
          <a:solidFill>
            <a:srgbClr val="E3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62686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④ 실패로 좌절시키지 않는다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52628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실패는 이탈로 이어진다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553712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우리 구현 · 미니게임은 그 판만 건너뜀 · 색칠은 자유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440680"/>
            <a:ext cx="10771632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559552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92A2A"/>
                </a:solidFill>
                <a:latin typeface="Malgun Gothic"/>
                <a:ea typeface="Malgun Gothic"/>
                <a:cs typeface="Malgun Gothic"/>
              </a:rPr>
              <a:t>의도적으로 채택하지 않은 것</a:t>
            </a:r>
          </a:p>
          <a:p>
            <a:pPr algn="l"/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손실 회피형 알림(연속 끊김 경고) — 아동 심리에 부담   ·   실시간 사회적 만남 — 안전·운영 부담   ·   외부 화폐 결제 — 미성년자 대상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한 문장으로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645920"/>
            <a:ext cx="10771632" cy="1691640"/>
          </a:xfrm>
          <a:prstGeom prst="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“수업에서만 얻던 셀을, </a:t>
            </a:r>
          </a:p>
          <a:p>
            <a:pPr algn="l"/>
            <a:r>
              <a:rPr sz="2600" b="1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매일 얻는 5가지 경로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 바꾼다”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3EDFB"/>
                </a:solidFill>
                <a:latin typeface="Malgun Gothic"/>
                <a:ea typeface="Malgun Gothic"/>
                <a:cs typeface="Malgun Gothic"/>
              </a:rPr>
              <a:t>그리고 그 셀로 꾸민 ‘내 로봇’이 마이룸에 살게 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749039"/>
            <a:ext cx="349300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3749039"/>
            <a:ext cx="45720" cy="2011680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895344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누가 오는가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315968"/>
            <a:ext cx="3035808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초등 고학년 ~ 중학생</a:t>
            </a:r>
          </a:p>
          <a:p>
            <a:pPr algn="l"/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DLS 수강생 · 주 1회 수업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16552" y="3749039"/>
            <a:ext cx="349300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6552" y="3749039"/>
            <a:ext cx="45720" cy="2011680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4296" y="3895344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왜 오는가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4315968"/>
            <a:ext cx="3035808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내가 만든 로봇이 있기 때문</a:t>
            </a:r>
          </a:p>
          <a:p>
            <a:pPr algn="l"/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소유감 · 애착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0727" y="3749039"/>
            <a:ext cx="337413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0727" y="3749039"/>
            <a:ext cx="45720" cy="2011680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3895344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왜 내일도 오는가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4315968"/>
            <a:ext cx="291693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보상이 예고되고 로봇이 자라기 때문</a:t>
            </a:r>
          </a:p>
          <a:p>
            <a:pPr algn="l"/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7일 순환 · 성장 단계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기업이 제시한 3가지에 대한 우리의 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554480"/>
            <a:ext cx="349300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554480"/>
            <a:ext cx="3493008" cy="658368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68249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 성장 경험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3774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아이 스스로 ‘어제보다 나아졌다’고 느낀다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06324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Lv · 경험치 바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연속 방문 (7일 순환 보상)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성장 단계 아기 → 청소년 → 성체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★ 로봇 외형이 실제로 변한다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5696" y="1554480"/>
            <a:ext cx="349300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5696" y="1554480"/>
            <a:ext cx="3493008" cy="65836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68249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 수업도 콘텐츠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774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수업에 참여하는 것 자체가 재화가 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6324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오늘의 AI 과제 (+30셀)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이번 주 주제 = 수업 내용과 연결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간식·칭찬 과제 (+10 ×2)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과제 완료 → 레벨 상승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1554480"/>
            <a:ext cx="349300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59" y="1554480"/>
            <a:ext cx="3493008" cy="658368"/>
          </a:xfrm>
          <a:prstGeom prst="rect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3" y="168249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 수업 밖 체류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3" y="23774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수업 없는 날에도 스스로 접속한다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3" y="306324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미니게임 2종 (난이도 곡선)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부품 수집 · 조각 교환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주말 한정 아이템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자랑하기 · 오늘의 랭킹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사용 흐름 — 접속 → 사용 → 보상 → 재접속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아이가 실제로 도는 순환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187451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1874519" cy="566928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56231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 접속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87168"/>
            <a:ext cx="1600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마이룸 진입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신규 100셀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연속 방문 확인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78608" y="2743200"/>
            <a:ext cx="256032" cy="329184"/>
          </a:xfrm>
          <a:prstGeom prst="rightArrow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71215" y="1737360"/>
            <a:ext cx="187451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71215" y="1737360"/>
            <a:ext cx="1874519" cy="56692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1215" y="1856231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 사용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487168"/>
            <a:ext cx="1600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간식 · 칭찬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AI 과제 답하기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미니게임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91456" y="2743200"/>
            <a:ext cx="256032" cy="329184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4064" y="1737360"/>
            <a:ext cx="187451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4064" y="1737360"/>
            <a:ext cx="1874519" cy="566928"/>
          </a:xfrm>
          <a:prstGeom prst="rect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4" y="1856231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 보상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487168"/>
            <a:ext cx="1600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셀 지급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부품 · 조각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경험치 · 레벨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04304" y="2743200"/>
            <a:ext cx="256032" cy="329184"/>
          </a:xfrm>
          <a:prstGeom prst="rightArrow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96912" y="1737360"/>
            <a:ext cx="187451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1737360"/>
            <a:ext cx="1874519" cy="566928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912" y="1856231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 소비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5" y="2487168"/>
            <a:ext cx="1600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상점 구매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로봇 꾸미기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방 장식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217152" y="2743200"/>
            <a:ext cx="256032" cy="329184"/>
          </a:xfrm>
          <a:prstGeom prst="rightArrow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9759" y="1737360"/>
            <a:ext cx="187451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59" y="1737360"/>
            <a:ext cx="1874519" cy="566928"/>
          </a:xfrm>
          <a:prstGeom prst="rect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59" y="1856231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⑤ 재접속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6063" y="2487168"/>
            <a:ext cx="1600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성장 확인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내일 보상 예고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자랑하기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526280"/>
            <a:ext cx="10881360" cy="1417320"/>
          </a:xfrm>
          <a:prstGeom prst="rect">
            <a:avLst/>
          </a:prstGeom>
          <a:solidFill>
            <a:srgbClr val="E3EDFB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709160"/>
            <a:ext cx="103327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순환의 핵심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① 접속은 ‘마이룸 진입’ 1회로 정의 (새로고침이 아님)   ② 하루 3가지 과제 + 게임 2종으로 5분 내 완료   ③ 보상은 즉시 · 확실   ④ 소비는 눈에 보이는 변화   ⑤ 내일 받을 보상을 미리 보여줌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하루의 실제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아이가 마이룸에 들어온 뒤 5분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44752"/>
            <a:ext cx="107716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44752"/>
            <a:ext cx="566928" cy="658368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18488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61848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마이룸 입장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276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로봇이 다가와 인사 (AI 대사)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62763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접속 1회 기록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157984"/>
            <a:ext cx="107716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2157984"/>
            <a:ext cx="566928" cy="658368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331720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3317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오늘의 진행 단계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34086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간식 → 칭찬 → AI 과제 → 미니게임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34086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무엇을 할지 바로 보임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2871216"/>
            <a:ext cx="107716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2871216"/>
            <a:ext cx="566928" cy="658368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04495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30449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간식 · 칭찬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05409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로봇에게 주기 · 버튼 1회씩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05409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+10셀 ×2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3584448"/>
            <a:ext cx="107716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584448"/>
            <a:ext cx="566928" cy="658368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758184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375818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AI 과제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37673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이번 주 주제에 맞는 질문에 답하기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7673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+30셀 · 레벨 상승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4297680"/>
            <a:ext cx="107716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4297680"/>
            <a:ext cx="566928" cy="658368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471416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81328" y="447141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미니게임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44805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반사 속도 / 기억 순서 중 선택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4805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+10~110셀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5010912"/>
            <a:ext cx="107716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3232" y="5010912"/>
            <a:ext cx="566928" cy="658368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5184648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1328" y="51846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상점 · 꾸미기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519379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모은 셀로 부품 구매 → 로봇에 즉시 반영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51937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셀 소비 · 변화 확인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총 소요 5분 내외 · 하루 최대 140~240셀 획득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재화(셀)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획득처와 소비처 — 기존 재화에 얹은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63040"/>
            <a:ext cx="5074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63040"/>
            <a:ext cx="5074920" cy="530352"/>
          </a:xfrm>
          <a:prstGeom prst="rect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획득 (EARN)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회원 가입 보너스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21408"/>
            <a:ext cx="1280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+100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121408"/>
            <a:ext cx="868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로봇 완성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487168"/>
            <a:ext cx="1280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+50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487168"/>
            <a:ext cx="868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52927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오늘의 AI 과제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852927"/>
            <a:ext cx="1280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+30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852927"/>
            <a:ext cx="868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매일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18687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간식 · 칭찬 과제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218687"/>
            <a:ext cx="1280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+10 ×2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218687"/>
            <a:ext cx="868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매일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584447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미니게임 2종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584447"/>
            <a:ext cx="1280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+10~50 / +50~110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584447"/>
            <a:ext cx="868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매일 각 1회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50207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연속 방문 보상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950207"/>
            <a:ext cx="1280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+10 ~ +100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950207"/>
            <a:ext cx="868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7일 순환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315968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28일 완주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315968"/>
            <a:ext cx="1280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+200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4315968"/>
            <a:ext cx="868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681728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부품 보너스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4681728"/>
            <a:ext cx="1280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+2/개 (최대 +10)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4681728"/>
            <a:ext cx="868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상시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9944" y="1463040"/>
            <a:ext cx="5074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9944" y="1463040"/>
            <a:ext cx="5074920" cy="530352"/>
          </a:xfrm>
          <a:prstGeom prst="rect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112" y="15727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소비 (SPEND)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1112" y="2121408"/>
            <a:ext cx="2148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로봇 부품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6528" y="2121408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C92A2A"/>
                </a:solidFill>
                <a:latin typeface="Malgun Gothic"/>
                <a:ea typeface="Malgun Gothic"/>
                <a:cs typeface="Malgun Gothic"/>
              </a:rPr>
              <a:t>60 / 80 / 120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2121408"/>
            <a:ext cx="1325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1회 보유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1112" y="2505456"/>
            <a:ext cx="2148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방 장식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96528" y="2505456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C92A2A"/>
                </a:solidFill>
                <a:latin typeface="Malgun Gothic"/>
                <a:ea typeface="Malgun Gothic"/>
                <a:cs typeface="Malgun Gothic"/>
              </a:rPr>
              <a:t>40 / 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20" y="2505456"/>
            <a:ext cx="1325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3D 배치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11112" y="2889503"/>
            <a:ext cx="2148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색칠 스킨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96528" y="2889503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C92A2A"/>
                </a:solidFill>
                <a:latin typeface="Malgun Gothic"/>
                <a:ea typeface="Malgun Gothic"/>
                <a:cs typeface="Malgun Gothic"/>
              </a:rPr>
              <a:t>30 / 45 / 60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04120" y="2889503"/>
            <a:ext cx="1325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반복 구매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1112" y="3273551"/>
            <a:ext cx="2148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부품 조각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96528" y="3273551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C92A2A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3273551"/>
            <a:ext cx="1325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3개→부품1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1112" y="3657599"/>
            <a:ext cx="2148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주말 한정 스킨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96528" y="3657599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C92A2A"/>
                </a:solidFill>
                <a:latin typeface="Malgun Gothic"/>
                <a:ea typeface="Malgun Gothic"/>
                <a:cs typeface="Malgun Gothic"/>
              </a:rPr>
              <a:t>45 / 60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04120" y="3657599"/>
            <a:ext cx="1325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토·일만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11112" y="4297680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설계 의도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일회성 아이템만 있으면 며칠 만에 살 것이 없어진다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→ 반복 구매 가능한 스킨을 소비의 중심에 둠</a:t>
            </a:r>
          </a:p>
          <a:p>
            <a:pPr algn="l"/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모든 거래를 cell_tx 에 기록 → 흐름 추적 가능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" y="5806440"/>
            <a:ext cx="10771632" cy="548640"/>
          </a:xfrm>
          <a:prstGeom prst="rect">
            <a:avLst/>
          </a:prstGeom>
          <a:solidFill>
            <a:srgbClr val="E3EDFB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0120" y="58978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획득처를 ‘수업이 있는 날’에서 ‘매일’로 옮긴 것이 이 과제의 핵심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기존 자산과의 연결점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‘실현 가능성’에 대한 답 — 새로 만들지 않고 연결합니다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81328"/>
            <a:ext cx="107716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81328"/>
            <a:ext cx="50292" cy="658368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5506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셀 (재화)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66420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획득처 5개 · 소비처 2종 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664208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서버 지급 로직 + 상점 아이템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194560"/>
            <a:ext cx="107716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194560"/>
            <a:ext cx="50292" cy="658368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36829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상점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3774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아이템 12종 공급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3774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items 테이블에 행 추가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2907792"/>
            <a:ext cx="107716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2907792"/>
            <a:ext cx="50292" cy="658368"/>
          </a:xfrm>
          <a:prstGeom prst="rect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08152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마이룸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09067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로봇 상주 · 부품/장식을 3D 오브젝트로 배치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090672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Babylon.js 7 · 기존 공간 사용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621024"/>
            <a:ext cx="107716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621024"/>
            <a:ext cx="50292" cy="65836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공작소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80390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AI 콘텐츠 모듈로 탑재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80390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진입점 연결 — 확인 요청 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4334256"/>
            <a:ext cx="107716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334256"/>
            <a:ext cx="50292" cy="65836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50799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수업 (DLS)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51713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이번 주 주제를 받아 AI 과제 질문 생성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517136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weekly_topics + 관리자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5047488"/>
            <a:ext cx="107716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232" y="5047488"/>
            <a:ext cx="50292" cy="658368"/>
          </a:xfrm>
          <a:prstGeom prst="rect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22122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학생 계정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2303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모든 결과를 계정 단위로 기록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5230368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users / cell_tx / quest_logs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5806440"/>
            <a:ext cx="10771632" cy="566928"/>
          </a:xfrm>
          <a:prstGeom prst="rect">
            <a:avLst/>
          </a:prstGeom>
          <a:solidFill>
            <a:srgbClr val="FFF4E1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90702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D9480F"/>
                </a:solidFill>
                <a:latin typeface="Malgun Gothic"/>
                <a:ea typeface="Malgun Gothic"/>
                <a:cs typeface="Malgun Gothic"/>
              </a:rPr>
              <a:t>공작소 탑재 형태는 기업 담당자에게 확인 요청 중입니다 — ‘방향이 어긋난 채 끝내는 것보다 지금 확인받는 것이 낫다’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화면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4개 화면 — 만들기 / 마이룸 / 상점 / 리포트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554480"/>
            <a:ext cx="2615184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554480"/>
            <a:ext cx="2615184" cy="548640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64208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2240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캐릭터 4종 선택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12색 팔레트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부위별 색칠 (5부위)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이름 짓기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완성 시 +50셀 + 부품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7288" y="1554480"/>
            <a:ext cx="2615184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7288" y="1554480"/>
            <a:ext cx="2615184" cy="548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664208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 마이룸 (3D)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240280"/>
            <a:ext cx="2240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로봇 자동 산책 · 대화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성장 표시 (Lv·단계·스트릭)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오늘의 4단계 진행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7칸 연속 방문 달력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간식 · 칭찬 · 미니게임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554480"/>
            <a:ext cx="2615184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554480"/>
            <a:ext cx="2615184" cy="548640"/>
          </a:xfrm>
          <a:prstGeom prst="rect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1664208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 상점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240280"/>
            <a:ext cx="2240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부품 / 장식 / 스킨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부품 조각 교환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주말 한정 (잠금 표시)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3D 미리보기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내 부품함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554480"/>
            <a:ext cx="2615184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1554480"/>
            <a:ext cx="2615184" cy="54864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664208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 리포트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2240280"/>
            <a:ext cx="2240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재접속률 · 체류시간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레벨 · 경험치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셀 획득/사용 내역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최근 7일 추이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오늘의 랭킹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172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UI는 canvas 위에 HTML/CSS를 겹치는 구조 — DOROBUS와 동일한 방식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핵심 기능 — 아이가 눈으로 느끼는 변화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만들어 두기만 한 것이 아니라, 화면에 도달하게 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63040"/>
            <a:ext cx="107716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63040"/>
            <a:ext cx="50292" cy="1024128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609344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로봇이 실제로 자란다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18488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레벨에 따라 아기 → 청소년 → 성체로 크기·비례·안테나 길이가 변합니다. 라벨만 바뀌고 로봇은 그대로이던 문제를 고쳤습니다.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560320"/>
            <a:ext cx="107716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560320"/>
            <a:ext cx="50292" cy="102412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706624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내일 보상을 미리 보여준다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715768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7칸 달력에 ‘내일 +35셀, 7일 채우면 +100셀’이 표시됩니다. 스트릭이 작동하는 원리는 예고된 보상입니다.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657600"/>
            <a:ext cx="107716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3657600"/>
            <a:ext cx="50292" cy="1024128"/>
          </a:xfrm>
          <a:prstGeom prst="rect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803904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AI 과제가 수업과 이어진다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813048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이번 주 주제(도로랜드 챕터 또는 선생님 지정)를 프롬프트에 넣어, 배운 것과 연결된 질문이 나옵니다.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4754880"/>
            <a:ext cx="107716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4754880"/>
            <a:ext cx="50292" cy="1024128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901184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7048E8"/>
                </a:solidFill>
                <a:latin typeface="Malgun Gothic"/>
                <a:ea typeface="Malgun Gothic"/>
                <a:cs typeface="Malgun Gothic"/>
              </a:rPr>
              <a:t>만든 것을 자랑할 수 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910328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3D 화면을 그림으로 저장해 부모님·친구에게 보여줄 수 있습니다. 오늘의 랭킹도 함께 제공합니다.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기술 스택과 이식성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회사 스택과 동일 계열로 맞췄습니다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50876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508760"/>
            <a:ext cx="45720" cy="1965960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655063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프런트엔드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075688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순수 HTML / CSS / JavaScript (프레임워크 없음)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Babylon.js 7 (3D)</a:t>
            </a:r>
          </a:p>
          <a:p>
            <a:pPr algn="l"/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canvas 위에 HTML/CSS 오버레이 — DOROBUS와 동일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784" y="150876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2784" y="1508760"/>
            <a:ext cx="45720" cy="1965960"/>
          </a:xfrm>
          <a:prstGeom prst="rect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655063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백엔드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075688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Node.js 22 · Express 5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내장 SQLite (13개 테이블)</a:t>
            </a:r>
          </a:p>
          <a:p>
            <a:pPr algn="l"/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회사 스택(Express)과 동일 계열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61188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3611880"/>
            <a:ext cx="45720" cy="196596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75818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178808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Gemini 4단계 모델 체인 → DeepSeek 백업 → 예비 대사 18종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8초 예산 · 10분 서킷브레이커</a:t>
            </a:r>
          </a:p>
          <a:p>
            <a:pPr algn="l"/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모든 출력에 안전 필터 (금칙어·길이·링크)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2784" y="361188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2784" y="3611880"/>
            <a:ext cx="45720" cy="196596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75818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7048E8"/>
                </a:solidFill>
                <a:latin typeface="Malgun Gothic"/>
                <a:ea typeface="Malgun Gothic"/>
                <a:cs typeface="Malgun Gothic"/>
              </a:rPr>
              <a:t>3D 자산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178808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절차적 메시 생성 — 외부 모델 파일 없음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공식 로봇 선화 / GLB 수령 시 교체 예정</a:t>
            </a:r>
          </a:p>
          <a:p>
            <a:pPr algn="l"/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저사양 기기 자동 조정 (FPS 측정 → 화질 하향)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5806440"/>
            <a:ext cx="10771632" cy="548640"/>
          </a:xfrm>
          <a:prstGeom prst="rect">
            <a:avLst/>
          </a:prstGeom>
          <a:solidFill>
            <a:srgbClr val="E3EDFB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8978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→ 회사 개발팀이 그대로 받아 넣을 수 있는 형태를 목표로 했습니다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효과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기업이 지정한 4개 지표로 측정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63040"/>
            <a:ext cx="107716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재접속률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6276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활동일수 ÷ 경과일수 ×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62763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매일 접속하면 100%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39696"/>
            <a:ext cx="107716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29514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체류시간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30428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하루 40분 상한을 적용한 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3042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정책과 지표를 일치시킴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816352"/>
            <a:ext cx="107716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9718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셀 사용량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98094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상점 지출 합계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98094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획득 대비 사용률 확인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3493008"/>
            <a:ext cx="107716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64845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과제 제출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6576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1인당 완료 과제 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6576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매일 과제 참여도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251960"/>
            <a:ext cx="1077163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34840"/>
            <a:ext cx="10332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측정 방법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참가자  초등 고학년 ~ 중학생 5 ~ 10명 · 보호자 동의 후 진행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기간  사전 관찰 1주 → 콘텐츠 사용 2주 → 사후 인터뷰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수집  접속(마이룸 진입) · 체류시간 · 셀 거래 · 과제 완료 — 전부 자동 기록</a:t>
            </a:r>
          </a:p>
          <a:p>
            <a:pPr algn="l"/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개인정보  닉네임만 수집 · 계정 삭제 시 DB에서 실제 삭제 · 집계값은 개인정보 없이 공개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한계와 개선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솔직하게 정리했습니다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63040"/>
            <a:ext cx="52120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63040"/>
            <a:ext cx="5212080" cy="548640"/>
          </a:xfrm>
          <a:prstGeom prst="rect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94560"/>
            <a:ext cx="47548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표본이 작다 — 5~10명. 통계적 일반화는 불가하며 방향성 확인으로 한정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기간이 짧다 — 2주. 7일 순환 보상은 1회전만 관찰됨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체류시간의 성질 — 탭을 켜 둔 시간이 섞일 수 있어 40분 상한을 적용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관찰자 효과 — 아는 사람의 부탁으로 참여한 경우 평소보다 성실할 수 있음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공작소 탑재 형태 미확정 — 기업 확인 필요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784" y="1463040"/>
            <a:ext cx="52120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2784" y="1463040"/>
            <a:ext cx="5212080" cy="548640"/>
          </a:xfrm>
          <a:prstGeom prst="rect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7276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개선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194560"/>
            <a:ext cx="47548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사용자 테스트를 조기에 시작해 표본과 기간을 확대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주제를 학기 커리큘럼과 미리 연결 (weekly_topics 사전 등록)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회사 확인 후 공작소 탑재 형태 확정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타자 시즌(승인받은 사항) 순차 구현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공식 로봇 선화·GLB 수령 시 교체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우리가 한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331720"/>
            <a:ext cx="457200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04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B2A45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350008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셀을 얻는 경로를 5개 늘렸다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386584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3EDFB"/>
                </a:solidFill>
                <a:latin typeface="Malgun Gothic"/>
                <a:ea typeface="Malgun Gothic"/>
                <a:cs typeface="Malgun Gothic"/>
              </a:rPr>
              <a:t>수업이 없는 날에도 보상이 생긴다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990087"/>
            <a:ext cx="457200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63239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B2A45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008375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로봇이 눈에 보이게 자란다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044951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3EDFB"/>
                </a:solidFill>
                <a:latin typeface="Malgun Gothic"/>
                <a:ea typeface="Malgun Gothic"/>
                <a:cs typeface="Malgun Gothic"/>
              </a:rPr>
              <a:t>성장 경험을 라벨이 아니라 외형으로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648455"/>
            <a:ext cx="457200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21607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B2A45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666743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기존 자산을 새로 만들지 않았다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703319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3EDFB"/>
                </a:solidFill>
                <a:latin typeface="Malgun Gothic"/>
                <a:ea typeface="Malgun Gothic"/>
                <a:cs typeface="Malgun Gothic"/>
              </a:rPr>
              <a:t>셀 · 상점 · 마이룸을 그대로 사용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306823"/>
            <a:ext cx="457200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79975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B2A45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325111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운영자가 직접 바꿀 수 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361687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3EDFB"/>
                </a:solidFill>
                <a:latin typeface="Malgun Gothic"/>
                <a:ea typeface="Malgun Gothic"/>
                <a:cs typeface="Malgun Gothic"/>
              </a:rPr>
              <a:t>아이템 · 과제 · 주제 · 대사 4종이 DB 기반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166360"/>
            <a:ext cx="10332720" cy="50292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3EDFB"/>
                </a:solidFill>
                <a:latin typeface="Malgun Gothic"/>
                <a:ea typeface="Malgun Gothic"/>
                <a:cs typeface="Malgun Gothic"/>
              </a:rPr>
              <a:t>https://my-dorobot.app.workbuddy.host  ·  체험 계정으로 바로 시연 가능합니다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